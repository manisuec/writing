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f940ea65c8_2_2: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f940ea65c8_2_2: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[0:00–0:45]  OPEN — warm, unhurried. Let the title sit for a beat before speaking.</a:t>
            </a:r>
            <a:br>
              <a:rPr lang="en"/>
            </a:br>
            <a:br>
              <a:rPr lang="en"/>
            </a:br>
            <a:r>
              <a:rPr lang="en"/>
              <a:t>"Good morning. Congratulations — you made it into one of the hardest rooms in the country to get into. And I want to start by telling you something that took me ten years to learn: getting in was the LEAST interesting decision you'll make here.</a:t>
            </a:r>
            <a:br>
              <a:rPr lang="en"/>
            </a:br>
            <a:br>
              <a:rPr lang="en"/>
            </a:br>
            <a:r>
              <a:rPr lang="en"/>
              <a:t>I'm going to spend the next 35 minutes on the decisions that actually shaped my career — none of which I could have predicted from the seat you're sitting in right now.</a:t>
            </a:r>
            <a:br>
              <a:rPr lang="en"/>
            </a:br>
            <a:br>
              <a:rPr lang="en"/>
            </a:br>
            <a:r>
              <a:rPr lang="en"/>
              <a:t>Quick promise: no lecture. Stories, a few hard-won lessons, and a playbook you can start using this week. Ask questions whenever — this works best as a conversation."</a:t>
            </a:r>
            <a:br>
              <a:rPr lang="en"/>
            </a:br>
            <a:br>
              <a:rPr lang="en"/>
            </a:br>
            <a:r>
              <a:rPr lang="en"/>
              <a:t>Delivery: stand center, no notes in hand. Smile. This slide is your handshake.</a:t>
            </a:r>
            <a:endParaRPr/>
          </a:p>
        </p:txBody>
      </p:sp>
      <p:sp>
        <p:nvSpPr>
          <p:cNvPr id="55" name="Google Shape;55;g3f940ea65c8_2_2: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f940ea65c8_2_17: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g3f940ea65c8_2_17: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[0:45–1:40]  THE HOOK — this is your thesis in one line. Say it slowly.</a:t>
            </a:r>
            <a:br>
              <a:rPr lang="en"/>
            </a:br>
            <a:br>
              <a:rPr lang="en"/>
            </a:br>
            <a:r>
              <a:rPr lang="en"/>
              <a:t>"When I was where you are, I had no idea I'd end up building software for construction sites in India. I didn't have a five-year plan. I barely had a five-week plan.</a:t>
            </a:r>
            <a:br>
              <a:rPr lang="en"/>
            </a:br>
            <a:br>
              <a:rPr lang="en"/>
            </a:br>
            <a:r>
              <a:rPr lang="en"/>
              <a:t>For years I thought that was a weakness — everyone around me seemed to have it figured out. Turns out almost nobody does. The people who do well aren't the ones with the perfect map. They're the ones who take the next good step, and take it seriously.</a:t>
            </a:r>
            <a:br>
              <a:rPr lang="en"/>
            </a:br>
            <a:br>
              <a:rPr lang="en"/>
            </a:br>
            <a:r>
              <a:rPr lang="en"/>
              <a:t>That's the whole talk, honestly. Everything else is evidence."</a:t>
            </a:r>
            <a:br>
              <a:rPr lang="en"/>
            </a:br>
            <a:br>
              <a:rPr lang="en"/>
            </a:br>
            <a:r>
              <a:rPr lang="en"/>
              <a:t>Pause after 'the plan.' Let the accent word land.</a:t>
            </a:r>
            <a:endParaRPr/>
          </a:p>
        </p:txBody>
      </p:sp>
      <p:sp>
        <p:nvSpPr>
          <p:cNvPr id="70" name="Google Shape;70;g3f940ea65c8_2_17: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f940ea65c8_2_28: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g3f940ea65c8_2_28: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[1:40–2:05]  SECTION 1 divider.</a:t>
            </a:r>
            <a:br>
              <a:rPr lang="en"/>
            </a:br>
            <a:br>
              <a:rPr lang="en"/>
            </a:br>
            <a:r>
              <a:rPr lang="en"/>
              <a:t>"Let me walk you through the actual path — because the detours are the point."</a:t>
            </a:r>
            <a:br>
              <a:rPr lang="en"/>
            </a:br>
            <a:br>
              <a:rPr lang="en"/>
            </a:br>
            <a:r>
              <a:rPr lang="en"/>
              <a:t>Keep it short. Momentum into the timeline.</a:t>
            </a:r>
            <a:endParaRPr/>
          </a:p>
        </p:txBody>
      </p:sp>
      <p:sp>
        <p:nvSpPr>
          <p:cNvPr id="82" name="Google Shape;82;g3f940ea65c8_2_28: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f940ea65c8_2_38: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g3f940ea65c8_2_38: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[2:05–3:30]  THE TIMELINE — walk it left to right. One sentence per stop, don't over-explain.</a:t>
            </a:r>
            <a:br>
              <a:rPr lang="en"/>
            </a:br>
            <a:br>
              <a:rPr lang="en"/>
            </a:br>
            <a:r>
              <a:rPr lang="en"/>
              <a:t>"IIT — where I learned to code and made the friends I still build with.</a:t>
            </a:r>
            <a:br>
              <a:rPr lang="en"/>
            </a:br>
            <a:r>
              <a:rPr lang="en"/>
              <a:t>Cisco — a giant. I learned how serious, large-scale systems are actually built. Humbling.</a:t>
            </a:r>
            <a:br>
              <a:rPr lang="en"/>
            </a:br>
            <a:r>
              <a:rPr lang="en"/>
              <a:t>Mubble — my first startup. First time I felt what 'zero to one' means: terrifying and addictive.</a:t>
            </a:r>
            <a:br>
              <a:rPr lang="en"/>
            </a:br>
            <a:r>
              <a:rPr lang="en"/>
              <a:t>Pramati — back to scale, but now building products, not just features.</a:t>
            </a:r>
            <a:br>
              <a:rPr lang="en"/>
            </a:br>
            <a:r>
              <a:rPr lang="en"/>
              <a:t>Tornado — I became CTO. Suddenly responsible for the tech, the team, AND whether we survived.</a:t>
            </a:r>
            <a:br>
              <a:rPr lang="en"/>
            </a:br>
            <a:r>
              <a:rPr lang="en"/>
              <a:t>Powerplay — where I am now: putting India's construction sites onto software.</a:t>
            </a:r>
            <a:br>
              <a:rPr lang="en"/>
            </a:br>
            <a:br>
              <a:rPr lang="en"/>
            </a:br>
            <a:r>
              <a:rPr lang="en"/>
              <a:t>Here's what I want you to notice: in first year, I could not have drawn this line. Every arrow made sense only AFTER I'd taken it. Careers are read forward but understood backward."</a:t>
            </a:r>
            <a:br>
              <a:rPr lang="en"/>
            </a:br>
            <a:br>
              <a:rPr lang="en"/>
            </a:br>
            <a:r>
              <a:rPr lang="en"/>
              <a:t>Gesture along the timeline as you go. This is your credibility slide — earn the room.</a:t>
            </a:r>
            <a:endParaRPr/>
          </a:p>
        </p:txBody>
      </p:sp>
      <p:sp>
        <p:nvSpPr>
          <p:cNvPr id="93" name="Google Shape;93;g3f940ea65c8_2_38: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f940ea65c8_2_78: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g3f940ea65c8_2_78: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[3:30–3:55]  SECTION 2 divider.</a:t>
            </a:r>
            <a:br>
              <a:rPr lang="en"/>
            </a:br>
            <a:br>
              <a:rPr lang="en"/>
            </a:br>
            <a:r>
              <a:rPr lang="en"/>
              <a:t>"Before you add new skills, I want you to DELETE three beliefs. Most freshers carry at least one of these — and it costs them years."</a:t>
            </a:r>
            <a:endParaRPr/>
          </a:p>
        </p:txBody>
      </p:sp>
      <p:sp>
        <p:nvSpPr>
          <p:cNvPr id="134" name="Google Shape;134;g3f940ea65c8_2_78: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940ea65c8_2_88: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g3f940ea65c8_2_88: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[3:55–5:05]  MYTH 1 — branch determinism. This one is emotional for freshers; be warm.</a:t>
            </a:r>
            <a:br>
              <a:rPr lang="en"/>
            </a:br>
            <a:br>
              <a:rPr lang="en"/>
            </a:br>
            <a:r>
              <a:rPr lang="en"/>
              <a:t>"How many of you are already a little worried you're in the 'wrong' branch? Keep your hand down, but be honest with yourself.</a:t>
            </a:r>
            <a:br>
              <a:rPr lang="en"/>
            </a:br>
            <a:br>
              <a:rPr lang="en"/>
            </a:br>
            <a:r>
              <a:rPr lang="en"/>
              <a:t>Here's the truth: your branch is a door, not a destiny. I've watched mechanical engineers become brilliant software engineers. I've watched CS grads start hardware companies. At Powerplay we've hired people whose degree had nothing to do with their job.</a:t>
            </a:r>
            <a:br>
              <a:rPr lang="en"/>
            </a:br>
            <a:br>
              <a:rPr lang="en"/>
            </a:br>
            <a:r>
              <a:rPr lang="en"/>
              <a:t>The degree gets you into the building. What ROOM you end up in — that's decided by what you build, what you're curious about, what you can actually do. Nobody in industry asked me my branch after my first job."</a:t>
            </a:r>
            <a:br>
              <a:rPr lang="en"/>
            </a:br>
            <a:br>
              <a:rPr lang="en"/>
            </a:br>
            <a:r>
              <a:rPr lang="en"/>
              <a:t>Anecdote to have ready: a specific non-CS friend now leading a tech team.</a:t>
            </a:r>
            <a:endParaRPr/>
          </a:p>
        </p:txBody>
      </p:sp>
      <p:sp>
        <p:nvSpPr>
          <p:cNvPr id="145" name="Google Shape;145;g3f940ea65c8_2_88: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f940ea65c8_2_99: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g3f940ea65c8_2_99: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[5:05–6:05]  MYTH 2 — the perfect plan. Callback to your opening.</a:t>
            </a:r>
            <a:br>
              <a:rPr lang="en"/>
            </a:br>
            <a:br>
              <a:rPr lang="en"/>
            </a:br>
            <a:r>
              <a:rPr lang="en"/>
              <a:t>"Remember my confession — no plan. Let me make you feel better: the seniors you admire who SEEM to have a plan? Most of them are improvising with confidence.</a:t>
            </a:r>
            <a:br>
              <a:rPr lang="en"/>
            </a:br>
            <a:br>
              <a:rPr lang="en"/>
            </a:br>
            <a:r>
              <a:rPr lang="en"/>
              <a:t>Don't optimise for a perfect five-year plan you'll rewrite in six months anyway. Optimise for two things: how fast you're learning, and how interesting the problem is. Follow those two dials and the plan writes itself, in hindsight.</a:t>
            </a:r>
            <a:br>
              <a:rPr lang="en"/>
            </a:br>
            <a:br>
              <a:rPr lang="en"/>
            </a:br>
            <a:r>
              <a:rPr lang="en"/>
              <a:t>Plans aren't designed in advance. They're discovered by doing."</a:t>
            </a:r>
            <a:br>
              <a:rPr lang="en"/>
            </a:br>
            <a:br>
              <a:rPr lang="en"/>
            </a:br>
            <a:r>
              <a:rPr lang="en"/>
              <a:t>Keep energy light and reassuring here — you're removing anxiety.</a:t>
            </a:r>
            <a:endParaRPr/>
          </a:p>
        </p:txBody>
      </p:sp>
      <p:sp>
        <p:nvSpPr>
          <p:cNvPr id="157" name="Google Shape;157;g3f940ea65c8_2_99: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940ea65c8_2_110: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g3f940ea65c8_2_110: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[6:05–7:10]  MYTH 3 — grades. Be careful: don't tell them grades don't matter. Nuance.</a:t>
            </a:r>
            <a:br>
              <a:rPr lang="en"/>
            </a:br>
            <a:br>
              <a:rPr lang="en"/>
            </a:br>
            <a:r>
              <a:rPr lang="en"/>
              <a:t>"I'm not going to stand here and tell you grades don't matter — that's lazy advice. Good grades keep doors open, especially early.</a:t>
            </a:r>
            <a:br>
              <a:rPr lang="en"/>
            </a:br>
            <a:br>
              <a:rPr lang="en"/>
            </a:br>
            <a:r>
              <a:rPr lang="en"/>
              <a:t>But here's what I learned hiring: grades get you the interview. What you've BUILT gets you the job. When we hire at Powerplay, we look at what a candidate has shipped and whether they can explain it clearly. A working project you can walk me through beats a perfect GPA you can't.</a:t>
            </a:r>
            <a:br>
              <a:rPr lang="en"/>
            </a:br>
            <a:br>
              <a:rPr lang="en"/>
            </a:br>
            <a:r>
              <a:rPr lang="en"/>
              <a:t>So do both. Obsess over neither. Grades are the floor, not the ceiling."</a:t>
            </a:r>
            <a:br>
              <a:rPr lang="en"/>
            </a:br>
            <a:br>
              <a:rPr lang="en"/>
            </a:br>
            <a:r>
              <a:rPr lang="en"/>
              <a:t>Transition line: "Okay — myths deleted. Let's talk about what to actually build."</a:t>
            </a:r>
            <a:endParaRPr/>
          </a:p>
        </p:txBody>
      </p:sp>
      <p:sp>
        <p:nvSpPr>
          <p:cNvPr id="169" name="Google Shape;169;g3f940ea65c8_2_110: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940ea65c8_2_121: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3f940ea65c8_2_121: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[7:10–7:35]  SECTION 3 divider.</a:t>
            </a:r>
            <a:br>
              <a:rPr lang="en"/>
            </a:br>
            <a:br>
              <a:rPr lang="en"/>
            </a:br>
            <a:r>
              <a:rPr lang="en"/>
              <a:t>"This is the question I get asked most by students: big company or startup? Let me tell you what I actually saw, having done both — sometimes in the same year."</a:t>
            </a:r>
            <a:endParaRPr/>
          </a:p>
        </p:txBody>
      </p:sp>
      <p:sp>
        <p:nvSpPr>
          <p:cNvPr id="181" name="Google Shape;181;g3f940ea65c8_2_121: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f940ea65c8_2_131: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g3f940ea65c8_2_131: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[7:35–9:30]  THE COMPARISON — this is a big one, give it time. Go column by column.</a:t>
            </a:r>
            <a:br>
              <a:rPr lang="en"/>
            </a:br>
            <a:br>
              <a:rPr lang="en"/>
            </a:br>
            <a:r>
              <a:rPr lang="en"/>
              <a:t>"At Cisco, I learned rigour. Code review, testing, systems built to survive millions of users and a decade of change. I owned a small, well-defined slice of an enormous machine — and I learned how the machine works. World-class mentors sat two desks away.</a:t>
            </a:r>
            <a:br>
              <a:rPr lang="en"/>
            </a:br>
            <a:br>
              <a:rPr lang="en"/>
            </a:br>
            <a:r>
              <a:rPr lang="en"/>
              <a:t>At a startup — Mubble, Tornado, Powerplay — everything inverts. Your code meets real users THIS week. You don't own a slice; you own backend, product, hiring, support, all of it, because there's no one else. It's fast, it's ambiguous, and you learn by deciding, being wrong, and deciding again. There's a straight line from your work to whether the company lives.</a:t>
            </a:r>
            <a:br>
              <a:rPr lang="en"/>
            </a:br>
            <a:br>
              <a:rPr lang="en"/>
            </a:br>
            <a:r>
              <a:rPr lang="en"/>
              <a:t>Now here's the advice: don't ask which is BETTER. Ask which teacher you need right now. Scale teaches rigour. Startups teach ownership. The best engineers I know deliberately collected both — and the SEQUENCE matters less than the intention."</a:t>
            </a:r>
            <a:br>
              <a:rPr lang="en"/>
            </a:br>
            <a:br>
              <a:rPr lang="en"/>
            </a:br>
            <a:r>
              <a:rPr lang="en"/>
              <a:t>Have ready: contrast 'a day at Cisco' vs 'a day at Mubble' as a vivid micro-story.</a:t>
            </a:r>
            <a:endParaRPr/>
          </a:p>
        </p:txBody>
      </p:sp>
      <p:sp>
        <p:nvSpPr>
          <p:cNvPr id="192" name="Google Shape;192;g3f940ea65c8_2_131: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f940ea65c8_2_148: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3f940ea65c8_2_148: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[9:30–9:55]  SECTION 4 divider. Signal a gear-shift: this is the meat.</a:t>
            </a:r>
            <a:br>
              <a:rPr lang="en"/>
            </a:br>
            <a:br>
              <a:rPr lang="en"/>
            </a:br>
            <a:r>
              <a:rPr lang="en"/>
              <a:t>"Now the lesson that cost me the most to learn. If you take one thing from the technical part of this talk, take this one."</a:t>
            </a:r>
            <a:endParaRPr/>
          </a:p>
        </p:txBody>
      </p:sp>
      <p:sp>
        <p:nvSpPr>
          <p:cNvPr id="210" name="Google Shape;210;g3f940ea65c8_2_148: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f940ea65c8_2_158: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3f940ea65c8_2_158: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[9:55–11:00]  THE 30% — this genuinely surprises students. Let it.</a:t>
            </a:r>
            <a:br>
              <a:rPr lang="en"/>
            </a:br>
            <a:br>
              <a:rPr lang="en"/>
            </a:br>
            <a:r>
              <a:rPr lang="en"/>
              <a:t>"When I was a student, I thought engineering was writing code. Better coder, better engineer. Simple.</a:t>
            </a:r>
            <a:br>
              <a:rPr lang="en"/>
            </a:br>
            <a:br>
              <a:rPr lang="en"/>
            </a:br>
            <a:r>
              <a:rPr lang="en"/>
              <a:t>Then I started building products, and I watched brilliant coders build things nobody used. And I realised: writing the code is maybe 30% of the job. The other 70% is understanding the people you're building for, making trade-offs when you can't have everything, and communicating so clearly that a team can move together.</a:t>
            </a:r>
            <a:br>
              <a:rPr lang="en"/>
            </a:br>
            <a:br>
              <a:rPr lang="en"/>
            </a:br>
            <a:r>
              <a:rPr lang="en"/>
              <a:t>That 70% is invisible in college. There's no exam for it. Which is exactly why it's the differentiator."</a:t>
            </a:r>
            <a:br>
              <a:rPr lang="en"/>
            </a:br>
            <a:br>
              <a:rPr lang="en"/>
            </a:br>
            <a:r>
              <a:rPr lang="en"/>
              <a:t>Pause on '30%.' It's a pattern-interrupt — use it.</a:t>
            </a:r>
            <a:endParaRPr/>
          </a:p>
        </p:txBody>
      </p:sp>
      <p:sp>
        <p:nvSpPr>
          <p:cNvPr id="221" name="Google Shape;221;g3f940ea65c8_2_158: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f940ea65c8_2_169: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g3f940ea65c8_2_169: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[11:00–13:00]  THE LOOP — walk each step, one crisp line, then a story.</a:t>
            </a:r>
            <a:br>
              <a:rPr lang="en"/>
            </a:br>
            <a:br>
              <a:rPr lang="en"/>
            </a:br>
            <a:r>
              <a:rPr lang="en"/>
              <a:t>"Here's the loop, and it never stops turning.</a:t>
            </a:r>
            <a:br>
              <a:rPr lang="en"/>
            </a:br>
            <a:r>
              <a:rPr lang="en"/>
              <a:t>Talk to users — real ones. At Powerplay that literally means standing on a construction site, in the dust, not sitting in a conference room guessing.</a:t>
            </a:r>
            <a:br>
              <a:rPr lang="en"/>
            </a:br>
            <a:r>
              <a:rPr lang="en"/>
              <a:t>Build small — just enough to test the riskiest assumption. Weeks, not quarters.</a:t>
            </a:r>
            <a:br>
              <a:rPr lang="en"/>
            </a:br>
            <a:r>
              <a:rPr lang="en"/>
              <a:t>Ship fast — because feedback doesn't start until it's in someone's hands. Perfect is the enemy of shipped.</a:t>
            </a:r>
            <a:br>
              <a:rPr lang="en"/>
            </a:br>
            <a:r>
              <a:rPr lang="en"/>
              <a:t>Measure honestly — do people actually use it, come back, pay? Your opinion doesn't count here. The data does.</a:t>
            </a:r>
            <a:br>
              <a:rPr lang="en"/>
            </a:br>
            <a:r>
              <a:rPr lang="en"/>
              <a:t>Then iterate — or kill it. Some of my favourite features, I've deleted. That's not failure. That's the job.</a:t>
            </a:r>
            <a:br>
              <a:rPr lang="en"/>
            </a:br>
            <a:br>
              <a:rPr lang="en"/>
            </a:br>
            <a:r>
              <a:rPr lang="en"/>
              <a:t>Story: tell them about a feature you built after a site visit vs one you built from a conference room — and how differently they performed."</a:t>
            </a:r>
            <a:br>
              <a:rPr lang="en"/>
            </a:br>
            <a:br>
              <a:rPr lang="en"/>
            </a:br>
            <a:r>
              <a:rPr lang="en"/>
              <a:t>This is a great place to take a question if hands are up.</a:t>
            </a:r>
            <a:endParaRPr/>
          </a:p>
        </p:txBody>
      </p:sp>
      <p:sp>
        <p:nvSpPr>
          <p:cNvPr id="233" name="Google Shape;233;g3f940ea65c8_2_169: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f940ea65c8_2_199: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g3f940ea65c8_2_199: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[13:00–13:25]  SECTION 5 divider.</a:t>
            </a:r>
            <a:br>
              <a:rPr lang="en"/>
            </a:br>
            <a:br>
              <a:rPr lang="en"/>
            </a:br>
            <a:r>
              <a:rPr lang="en"/>
              <a:t>"Let me make this concrete with the company I'm at now — and the counter-intuitive idea behind it."</a:t>
            </a:r>
            <a:endParaRPr/>
          </a:p>
        </p:txBody>
      </p:sp>
      <p:sp>
        <p:nvSpPr>
          <p:cNvPr id="264" name="Google Shape;264;g3f940ea65c8_2_199: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f940ea65c8_2_209: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g3f940ea65c8_2_209: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[13:25–15:00]  THE PROBLEM — big numbers, bigger point.</a:t>
            </a:r>
            <a:br>
              <a:rPr lang="en"/>
            </a:br>
            <a:br>
              <a:rPr lang="en"/>
            </a:br>
            <a:r>
              <a:rPr lang="en"/>
              <a:t>"Look at these numbers. Seventy million people. Nine percent of GDP. And close to the LOWEST digitisation of any major industry in the country. Most construction in India still runs on phone calls, paper registers, and scattered WhatsApp groups.</a:t>
            </a:r>
            <a:br>
              <a:rPr lang="en"/>
            </a:br>
            <a:br>
              <a:rPr lang="en"/>
            </a:br>
            <a:r>
              <a:rPr lang="en"/>
              <a:t>The result is delays, material leakage, endless rework — and it's not because the people are careless. It's because good software simply never showed up for them.</a:t>
            </a:r>
            <a:br>
              <a:rPr lang="en"/>
            </a:br>
            <a:br>
              <a:rPr lang="en"/>
            </a:br>
            <a:r>
              <a:rPr lang="en"/>
              <a:t>Now — a lot of you, if I described this at a hackathon, would find it boring. No AI glamour, no shiny demo. Hold that thought."</a:t>
            </a:r>
            <a:br>
              <a:rPr lang="en"/>
            </a:br>
            <a:br>
              <a:rPr lang="en"/>
            </a:br>
            <a:r>
              <a:rPr lang="en"/>
              <a:t>Numbers are indicative — update if you have fresher figures. Emphasise the SCALE with your hands.</a:t>
            </a:r>
            <a:endParaRPr/>
          </a:p>
        </p:txBody>
      </p:sp>
      <p:sp>
        <p:nvSpPr>
          <p:cNvPr id="275" name="Google Shape;275;g3f940ea65c8_2_209: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f940ea65c8_2_229: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g3f940ea65c8_2_229: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[15:00–16:00]  THE PRODUCT — humanise it. These are real users unlike any in this room.</a:t>
            </a:r>
            <a:br>
              <a:rPr lang="en"/>
            </a:br>
            <a:br>
              <a:rPr lang="en"/>
            </a:br>
            <a:r>
              <a:rPr lang="en"/>
              <a:t>"So what did we build? Not a beautiful dashboard for a manager in a glass office. A mobile-first app for the person actually ON the site — tracking progress, materials, labour, and money. In their own language. On a cheap phone. On a network that drops every few minutes.</a:t>
            </a:r>
            <a:br>
              <a:rPr lang="en"/>
            </a:br>
            <a:br>
              <a:rPr lang="en"/>
            </a:br>
            <a:r>
              <a:rPr lang="en"/>
              <a:t>Every constraint you'd want to wish away is the actual design problem. And solving for THAT user — not the imaginary user who looks like us — is what makes it work.</a:t>
            </a:r>
            <a:br>
              <a:rPr lang="en"/>
            </a:br>
            <a:br>
              <a:rPr lang="en"/>
            </a:br>
            <a:r>
              <a:rPr lang="en"/>
              <a:t>That's product empathy. You can't fake it from a conference room."</a:t>
            </a:r>
            <a:endParaRPr/>
          </a:p>
        </p:txBody>
      </p:sp>
      <p:sp>
        <p:nvSpPr>
          <p:cNvPr id="296" name="Google Shape;296;g3f940ea65c8_2_229: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f940ea65c8_2_240: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g3f940ea65c8_2_240: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[16:00–17:05]  THE LESSON — this is the takeaway of Act 5. Slow down.</a:t>
            </a:r>
            <a:br>
              <a:rPr lang="en"/>
            </a:br>
            <a:br>
              <a:rPr lang="en"/>
            </a:br>
            <a:r>
              <a:rPr lang="en"/>
              <a:t>"Here's the lesson, and it's worth more than anything technical I'll say today. Everyone — every hackathon, every pitch — chases the same fashionable ideas. Another chat app, another AI wrapper.</a:t>
            </a:r>
            <a:br>
              <a:rPr lang="en"/>
            </a:br>
            <a:br>
              <a:rPr lang="en"/>
            </a:br>
            <a:r>
              <a:rPr lang="en"/>
              <a:t>Meanwhile the biggest opportunities are sitting in plain sight, in enormous, 'boring', offline industries that technology just skipped. Construction. Agriculture. Logistics. Small clinics. India is FULL of them.</a:t>
            </a:r>
            <a:br>
              <a:rPr lang="en"/>
            </a:br>
            <a:br>
              <a:rPr lang="en"/>
            </a:br>
            <a:r>
              <a:rPr lang="en"/>
              <a:t>Prestige-blind problem selection. Ask yourself: what huge industry around your home town still runs on paper? That's a company waiting to be built."</a:t>
            </a:r>
            <a:br>
              <a:rPr lang="en"/>
            </a:br>
            <a:br>
              <a:rPr lang="en"/>
            </a:br>
            <a:r>
              <a:rPr lang="en"/>
              <a:t>Interactive: actually ask the room — "name three industries near YOUR hometown still on paper." Take 2–3 answers.</a:t>
            </a:r>
            <a:endParaRPr/>
          </a:p>
        </p:txBody>
      </p:sp>
      <p:sp>
        <p:nvSpPr>
          <p:cNvPr id="308" name="Google Shape;308;g3f940ea65c8_2_240: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f940ea65c8_2_251: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g3f940ea65c8_2_251: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[17:05–17:30]  SECTION 6 divider. Shift from 'building things' to 'leading people.'</a:t>
            </a:r>
            <a:br>
              <a:rPr lang="en"/>
            </a:br>
            <a:br>
              <a:rPr lang="en"/>
            </a:br>
            <a:r>
              <a:rPr lang="en"/>
              <a:t>"When I became CTO, I discovered that most of what I thought the job was… wasn't the job. Four lessons — each of these took a mistake to learn."</a:t>
            </a:r>
            <a:endParaRPr/>
          </a:p>
        </p:txBody>
      </p:sp>
      <p:sp>
        <p:nvSpPr>
          <p:cNvPr id="320" name="Google Shape;320;g3f940ea65c8_2_251: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f940ea65c8_2_261: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g3f940ea65c8_2_261: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[17:30–20:00]  FOUR LESSONS — one short story per card. This is a rich slide; budget ~2.5 min.</a:t>
            </a:r>
            <a:br>
              <a:rPr lang="en"/>
            </a:br>
            <a:br>
              <a:rPr lang="en"/>
            </a:br>
            <a:r>
              <a:rPr lang="en"/>
              <a:t>"One: people are the real system. My output as CTO stopped being the code I wrote — it became what my team could ship. Hiring well, giving context, removing blockers. Heroic solo coding actually became the WRONG thing to do.</a:t>
            </a:r>
            <a:br>
              <a:rPr lang="en"/>
            </a:br>
            <a:br>
              <a:rPr lang="en"/>
            </a:br>
            <a:r>
              <a:rPr lang="en"/>
              <a:t>Two: simple beats clever. Clever architecture impresses other engineers. Simple architecture survives the 2 a.m. outage, the new hire who's never seen the code, and the pivot you didn't plan. Optimise to be understood.</a:t>
            </a:r>
            <a:br>
              <a:rPr lang="en"/>
            </a:br>
            <a:br>
              <a:rPr lang="en"/>
            </a:br>
            <a:r>
              <a:rPr lang="en"/>
              <a:t>Three: speed is a feature. In a startup the biggest risk isn't building it imperfectly — it's building the WRONG thing slowly. Short loops beat long-term perfection.</a:t>
            </a:r>
            <a:br>
              <a:rPr lang="en"/>
            </a:br>
            <a:br>
              <a:rPr lang="en"/>
            </a:br>
            <a:r>
              <a:rPr lang="en"/>
              <a:t>Four: stay close to users. The day leaders stop talking to customers, the product starts drifting. I've watched it happen. Your title will change; that habit shouldn't.</a:t>
            </a:r>
            <a:br>
              <a:rPr lang="en"/>
            </a:br>
            <a:br>
              <a:rPr lang="en"/>
            </a:br>
            <a:r>
              <a:rPr lang="en"/>
              <a:t>And here's the kicker — you don't need a title to practise ANY of these. You can start in your first-year project team, this semester."</a:t>
            </a:r>
            <a:br>
              <a:rPr lang="en"/>
            </a:br>
            <a:br>
              <a:rPr lang="en"/>
            </a:br>
            <a:r>
              <a:rPr lang="en"/>
              <a:t>Have one crisp story ready per point: a hiring mistake; an over-engineered system you rewrote in a week; a fast decision made because you knew the user personally.</a:t>
            </a:r>
            <a:endParaRPr/>
          </a:p>
        </p:txBody>
      </p:sp>
      <p:sp>
        <p:nvSpPr>
          <p:cNvPr id="331" name="Google Shape;331;g3f940ea65c8_2_261: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f940ea65c8_2_290: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g3f940ea65c8_2_290: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[20:00–20:25]  SECTION 7 divider. Lift the energy — this is the inspiring turn.</a:t>
            </a:r>
            <a:br>
              <a:rPr lang="en"/>
            </a:br>
            <a:br>
              <a:rPr lang="en"/>
            </a:br>
            <a:r>
              <a:rPr lang="en"/>
              <a:t>"Let me zoom out from my story to YOURS. Because the ground you're standing on is different from the ground I graduated onto — and better."</a:t>
            </a:r>
            <a:endParaRPr/>
          </a:p>
        </p:txBody>
      </p:sp>
      <p:sp>
        <p:nvSpPr>
          <p:cNvPr id="361" name="Google Shape;361;g3f940ea65c8_2_290: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f940ea65c8_2_300: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g3f940ea65c8_2_300: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[20:25–21:40]  THE SCALE — big, confident delivery.</a:t>
            </a:r>
            <a:br>
              <a:rPr lang="en"/>
            </a:br>
            <a:br>
              <a:rPr lang="en"/>
            </a:br>
            <a:r>
              <a:rPr lang="en"/>
              <a:t>"Third-largest startup ecosystem on earth. Over a hundred unicorns, most built in just the last decade. More than a hundred and fifty thousand recognised startups — and not just in the metros, across seven hundred and fifty-plus districts.</a:t>
            </a:r>
            <a:br>
              <a:rPr lang="en"/>
            </a:br>
            <a:br>
              <a:rPr lang="en"/>
            </a:br>
            <a:r>
              <a:rPr lang="en"/>
              <a:t>When I graduated, almost none of this existed. The capital wasn't here. The market wasn't ready. The infrastructure wasn't built. You are inheriting all three, on day one.</a:t>
            </a:r>
            <a:br>
              <a:rPr lang="en"/>
            </a:br>
            <a:br>
              <a:rPr lang="en"/>
            </a:br>
            <a:r>
              <a:rPr lang="en"/>
              <a:t>The bottleneck used to be the ecosystem. Now the bottleneck is builders. That's you."</a:t>
            </a:r>
            <a:br>
              <a:rPr lang="en"/>
            </a:br>
            <a:br>
              <a:rPr lang="en"/>
            </a:br>
            <a:r>
              <a:rPr lang="en"/>
              <a:t>Refresh these figures before presenting. Own the numbers — don't read them apologetically.</a:t>
            </a:r>
            <a:endParaRPr/>
          </a:p>
        </p:txBody>
      </p:sp>
      <p:sp>
        <p:nvSpPr>
          <p:cNvPr id="372" name="Google Shape;372;g3f940ea65c8_2_300: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f940ea65c8_2_320: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g3f940ea65c8_2_320: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[21:40–23:00]  THREE TAILWINDS.</a:t>
            </a:r>
            <a:br>
              <a:rPr lang="en"/>
            </a:br>
            <a:br>
              <a:rPr lang="en"/>
            </a:br>
            <a:r>
              <a:rPr lang="en"/>
              <a:t>"Three forces are at your back, and you didn't have to earn any of them.</a:t>
            </a:r>
            <a:br>
              <a:rPr lang="en"/>
            </a:br>
            <a:br>
              <a:rPr lang="en"/>
            </a:br>
            <a:r>
              <a:rPr lang="en"/>
              <a:t>Digital public rails — UPI, Aadhaar, ONDC. Payments and identity and distribution that took other countries DECADES. Here, you build on top of them for free, from your first prototype.</a:t>
            </a:r>
            <a:br>
              <a:rPr lang="en"/>
            </a:br>
            <a:br>
              <a:rPr lang="en"/>
            </a:br>
            <a:r>
              <a:rPr lang="en"/>
              <a:t>A billion-user market — real, unsolved problems in every sector and every language, at a scale that barely exists anywhere else on the planet.</a:t>
            </a:r>
            <a:br>
              <a:rPr lang="en"/>
            </a:br>
            <a:br>
              <a:rPr lang="en"/>
            </a:br>
            <a:r>
              <a:rPr lang="en"/>
              <a:t>And AI — a genuine force multiplier. A small team today ships what needed fifty engineers five years ago.</a:t>
            </a:r>
            <a:br>
              <a:rPr lang="en"/>
            </a:br>
            <a:br>
              <a:rPr lang="en"/>
            </a:br>
            <a:r>
              <a:rPr lang="en"/>
              <a:t>Rails, market, leverage. Stack those three, and you are starting at the best moment in this country's history to build something."</a:t>
            </a:r>
            <a:endParaRPr/>
          </a:p>
        </p:txBody>
      </p:sp>
      <p:sp>
        <p:nvSpPr>
          <p:cNvPr id="393" name="Google Shape;393;g3f940ea65c8_2_320: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f940ea65c8_2_344: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g3f940ea65c8_2_344: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[23:00–23:20]  Mini-divider into the proof points. Tone: 'I'm not selling you hype.'</a:t>
            </a:r>
            <a:br>
              <a:rPr lang="en"/>
            </a:br>
            <a:br>
              <a:rPr lang="en"/>
            </a:br>
            <a:r>
              <a:rPr lang="en"/>
              <a:t>"And this isn't me being a motivational speaker. Let me show you the receipts — most of these are from THIS year."</a:t>
            </a:r>
            <a:endParaRPr/>
          </a:p>
        </p:txBody>
      </p:sp>
      <p:sp>
        <p:nvSpPr>
          <p:cNvPr id="418" name="Google Shape;418;g3f940ea65c8_2_344: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f940ea65c8_2_354: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g3f940ea65c8_2_354: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[23:20–25:20]  THE RECEIPTS — this is the emotional peak of Act 7. Build momentum, sector by sector.</a:t>
            </a:r>
            <a:br>
              <a:rPr lang="en"/>
            </a:br>
            <a:br>
              <a:rPr lang="en"/>
            </a:br>
            <a:r>
              <a:rPr lang="en"/>
              <a:t>"Nuclear: this year, India's own Prototype Fast Breeder Reactor at Kalpakkam went critical for the first time — designed and built here. That's energy independence, engineered.</a:t>
            </a:r>
            <a:br>
              <a:rPr lang="en"/>
            </a:br>
            <a:br>
              <a:rPr lang="en"/>
            </a:br>
            <a:r>
              <a:rPr lang="en"/>
              <a:t>Space: a STARTUP — Skyroot, out of Hyderabad — launched India's first privately built orbital rocket. Private Indian companies are now reaching orbit.</a:t>
            </a:r>
            <a:br>
              <a:rPr lang="en"/>
            </a:br>
            <a:br>
              <a:rPr lang="en"/>
            </a:br>
            <a:r>
              <a:rPr lang="en"/>
              <a:t>Power: BHEL type-tested the country's first fully indigenous 1200 kV transformer. The backbone of the grid, made here.</a:t>
            </a:r>
            <a:br>
              <a:rPr lang="en"/>
            </a:br>
            <a:br>
              <a:rPr lang="en"/>
            </a:br>
            <a:r>
              <a:rPr lang="en"/>
              <a:t>Infrastructure: the Chenab bridge — the highest railway arch bridge on Earth — now connects the Kashmir valley by rail.</a:t>
            </a:r>
            <a:br>
              <a:rPr lang="en"/>
            </a:br>
            <a:br>
              <a:rPr lang="en"/>
            </a:br>
            <a:r>
              <a:rPr lang="en"/>
              <a:t>And fintech: UPI is doing twelve BILLION transactions a month, and we're now exporting it — to France, the UAE, Singapore. India's rails are becoming the world's rails.</a:t>
            </a:r>
            <a:br>
              <a:rPr lang="en"/>
            </a:br>
            <a:br>
              <a:rPr lang="en"/>
            </a:br>
            <a:r>
              <a:rPr lang="en"/>
              <a:t>Public labs. PSUs. Private startups. All at the frontier, at the same time. THIS is the ecosystem you're walking into."</a:t>
            </a:r>
            <a:br>
              <a:rPr lang="en"/>
            </a:br>
            <a:br>
              <a:rPr lang="en"/>
            </a:br>
            <a:r>
              <a:rPr lang="en"/>
              <a:t>Pace it like a drumbeat — each sector a little faster, land hard on UPI. This is where the room should sit up.</a:t>
            </a:r>
            <a:endParaRPr/>
          </a:p>
        </p:txBody>
      </p:sp>
      <p:sp>
        <p:nvSpPr>
          <p:cNvPr id="429" name="Google Shape;429;g3f940ea65c8_2_354: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f940ea65c8_2_388: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g3f940ea65c8_2_388: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[25:20–25:45]  SECTION 8 divider. Practical turn — they'll want to write this down.</a:t>
            </a:r>
            <a:br>
              <a:rPr lang="en"/>
            </a:br>
            <a:br>
              <a:rPr lang="en"/>
            </a:br>
            <a:r>
              <a:rPr lang="en"/>
              <a:t>"So if the moment is this good, what should YOU actually invest in? Here's where I'd put your four years — and it's not what most people optimise for."</a:t>
            </a:r>
            <a:endParaRPr/>
          </a:p>
        </p:txBody>
      </p:sp>
      <p:sp>
        <p:nvSpPr>
          <p:cNvPr id="464" name="Google Shape;464;g3f940ea65c8_2_388: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f940ea65c8_2_398: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 name="Google Shape;474;g3f940ea65c8_2_398: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[25:45–28:00]  FOUR INVESTMENTS — anchor each with a personal example. ~2 min.</a:t>
            </a:r>
            <a:br>
              <a:rPr lang="en"/>
            </a:br>
            <a:br>
              <a:rPr lang="en"/>
            </a:br>
            <a:r>
              <a:rPr lang="en"/>
              <a:t>"One: deep fundamentals. Data structures, systems, the math, first-principles thinking. Frameworks come and go every three years — fundamentals only appreciate. And in an AI world, they're your only durable edge, because the tools handle the surface and you have to handle the depth. My Cisco interview? Pure fundamentals.</a:t>
            </a:r>
            <a:br>
              <a:rPr lang="en"/>
            </a:br>
            <a:br>
              <a:rPr lang="en"/>
            </a:br>
            <a:r>
              <a:rPr lang="en"/>
              <a:t>Two: writing and speaking clearly. This is the most underrated skill in engineering. Your career happens in design docs, emails, and demos. And here's the secret — if you can explain something simply, it means you actually understand it. A design doc I wrote once changed my whole trajectory.</a:t>
            </a:r>
            <a:br>
              <a:rPr lang="en"/>
            </a:br>
            <a:br>
              <a:rPr lang="en"/>
            </a:br>
            <a:r>
              <a:rPr lang="en"/>
              <a:t>Three: learning how to learn. Every single job I've held required skills that didn't exist when I was a student. I switched entire tech stacks at Tornado. The meta-skill — picking up new domains fast — beats any one thing you graduate knowing.</a:t>
            </a:r>
            <a:br>
              <a:rPr lang="en"/>
            </a:br>
            <a:br>
              <a:rPr lang="en"/>
            </a:br>
            <a:r>
              <a:rPr lang="en"/>
              <a:t>Four: shipping end-to-end. Finishing is itself a skill, and it's rare. One small, ugly, WORKING thing you shipped teaches you more, and signals more to employers, than ten brilliant half-projects. A classmate got hired off one finished side project."</a:t>
            </a:r>
            <a:br>
              <a:rPr lang="en"/>
            </a:br>
            <a:br>
              <a:rPr lang="en"/>
            </a:br>
            <a:r>
              <a:rPr lang="en"/>
              <a:t>Slow, deliberate. This is the most 'save this slide' moment — let them photograph it.</a:t>
            </a:r>
            <a:endParaRPr/>
          </a:p>
        </p:txBody>
      </p:sp>
      <p:sp>
        <p:nvSpPr>
          <p:cNvPr id="475" name="Google Shape;475;g3f940ea65c8_2_398: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f940ea65c8_2_427: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4" name="Google Shape;504;g3f940ea65c8_2_427: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[28:00–28:25]  SECTION 9 divider. Name the anxiety directly.</a:t>
            </a:r>
            <a:br>
              <a:rPr lang="en"/>
            </a:br>
            <a:br>
              <a:rPr lang="en"/>
            </a:br>
            <a:r>
              <a:rPr lang="en"/>
              <a:t>"I know what a lot of you are quietly worried about. You've watched AI write code and thought — did I pick the wrong decade? Let's deal with that head-on."</a:t>
            </a:r>
            <a:endParaRPr/>
          </a:p>
        </p:txBody>
      </p:sp>
      <p:sp>
        <p:nvSpPr>
          <p:cNvPr id="505" name="Google Shape;505;g3f940ea65c8_2_427: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f940ea65c8_2_437: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 name="Google Shape;515;g3f940ea65c8_2_437: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[28:25–29:30]  THE REFRAME — the single most important idea in the AI section.</a:t>
            </a:r>
            <a:br>
              <a:rPr lang="en"/>
            </a:br>
            <a:br>
              <a:rPr lang="en"/>
            </a:br>
            <a:r>
              <a:rPr lang="en"/>
              <a:t>"Here's the reframe I want to give you. AI raises the FLOOR, not the ceiling. It makes the basics — the boilerplate, the routine code — nearly free.</a:t>
            </a:r>
            <a:br>
              <a:rPr lang="en"/>
            </a:br>
            <a:br>
              <a:rPr lang="en"/>
            </a:br>
            <a:r>
              <a:rPr lang="en"/>
              <a:t>But when the basics are free, something else becomes scarce and precious: judgment. Knowing WHAT to build. Knowing whether the thing that got built is actually right. That doesn't come from the model. That comes from you.</a:t>
            </a:r>
            <a:br>
              <a:rPr lang="en"/>
            </a:br>
            <a:br>
              <a:rPr lang="en"/>
            </a:br>
            <a:r>
              <a:rPr lang="en"/>
              <a:t>The floor rising doesn't threaten you. It frees you to work at the ceiling."</a:t>
            </a:r>
            <a:endParaRPr/>
          </a:p>
        </p:txBody>
      </p:sp>
      <p:sp>
        <p:nvSpPr>
          <p:cNvPr id="516" name="Google Shape;516;g3f940ea65c8_2_437: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f940ea65c8_2_448: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 name="Google Shape;527;g3f940ea65c8_2_448: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[29:30–31:30]  FOUR MOVES — pointed, energetic. End on the footnote line, hard.</a:t>
            </a:r>
            <a:br>
              <a:rPr lang="en"/>
            </a:br>
            <a:br>
              <a:rPr lang="en"/>
            </a:br>
            <a:r>
              <a:rPr lang="en"/>
              <a:t>"So how do you win? Four moves.</a:t>
            </a:r>
            <a:br>
              <a:rPr lang="en"/>
            </a:br>
            <a:br>
              <a:rPr lang="en"/>
            </a:br>
            <a:r>
              <a:rPr lang="en"/>
              <a:t>Taste. When everyone can generate ten options in a second, the entire game becomes picking the RIGHT one. And taste isn't magic — it comes from studying great products and, honestly, from shipping some bad ones yourself.</a:t>
            </a:r>
            <a:br>
              <a:rPr lang="en"/>
            </a:br>
            <a:br>
              <a:rPr lang="en"/>
            </a:br>
            <a:r>
              <a:rPr lang="en"/>
              <a:t>Use AI like a senior colleague, not a vending machine. Learn with it, review its work, argue with it. Don't copy-paste blindly. The students who truly master AI-assisted building are going to out-ship whole teams from my batch — I'm not exaggerating.</a:t>
            </a:r>
            <a:br>
              <a:rPr lang="en"/>
            </a:br>
            <a:br>
              <a:rPr lang="en"/>
            </a:br>
            <a:r>
              <a:rPr lang="en"/>
              <a:t>Own problems, not tasks. Tasks get automated. Problems — messy, human, accountable problems — do not. Be the person responsible for the OUTCOME.</a:t>
            </a:r>
            <a:br>
              <a:rPr lang="en"/>
            </a:br>
            <a:br>
              <a:rPr lang="en"/>
            </a:br>
            <a:r>
              <a:rPr lang="en"/>
              <a:t>And underneath all of it: judgment over syntax. Syntax is cheap now. Judgment is the career-proof skill.</a:t>
            </a:r>
            <a:br>
              <a:rPr lang="en"/>
            </a:br>
            <a:br>
              <a:rPr lang="en"/>
            </a:br>
            <a:r>
              <a:rPr lang="en"/>
              <a:t>Let me say the line that matters: AI will not take your job. But a person who builds WITH AI — and understands what it can't do — very well might. Be that person."</a:t>
            </a:r>
            <a:br>
              <a:rPr lang="en"/>
            </a:br>
            <a:br>
              <a:rPr lang="en"/>
            </a:br>
            <a:r>
              <a:rPr lang="en"/>
              <a:t>This is your second peak. Land 'be that person' looking at them.</a:t>
            </a:r>
            <a:endParaRPr/>
          </a:p>
        </p:txBody>
      </p:sp>
      <p:sp>
        <p:nvSpPr>
          <p:cNvPr id="528" name="Google Shape;528;g3f940ea65c8_2_448: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f940ea65c8_2_477: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7" name="Google Shape;557;g3f940ea65c8_2_477: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[31:30–31:55]  SECTION 10 divider. Now you get tactical and generous.</a:t>
            </a:r>
            <a:br>
              <a:rPr lang="en"/>
            </a:br>
            <a:br>
              <a:rPr lang="en"/>
            </a:br>
            <a:r>
              <a:rPr lang="en"/>
              <a:t>"Alright — let me get very concrete and give you an actual four-year map. Treat it as a direction, not a checklist to stress over. There's exactly one rule underneath it."</a:t>
            </a:r>
            <a:endParaRPr/>
          </a:p>
        </p:txBody>
      </p:sp>
      <p:sp>
        <p:nvSpPr>
          <p:cNvPr id="558" name="Google Shape;558;g3f940ea65c8_2_477: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f940ea65c8_2_487: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g3f940ea65c8_2_487: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[31:55–34:00]  THE PLAYBOOK — walk year by year, warm and encouraging. ~2 min.</a:t>
            </a:r>
            <a:br>
              <a:rPr lang="en"/>
            </a:br>
            <a:br>
              <a:rPr lang="en"/>
            </a:br>
            <a:r>
              <a:rPr lang="en"/>
              <a:t>"Year one: explore and absorb. Nail your fundamentals — attend, ask, argue in class. Try EVERYTHING: clubs, sports, hackathons. Learn to code well no matter your branch. And find the seniors doing interesting things — attach yourself to them.</a:t>
            </a:r>
            <a:br>
              <a:rPr lang="en"/>
            </a:br>
            <a:br>
              <a:rPr lang="en"/>
            </a:br>
            <a:r>
              <a:rPr lang="en"/>
              <a:t>Year two: build and belong. Ship two or three real projects, however small. Join a tech team and actually contribute. Start writing about what you're learning — it compounds. Do your first competitions.</a:t>
            </a:r>
            <a:br>
              <a:rPr lang="en"/>
            </a:br>
            <a:br>
              <a:rPr lang="en"/>
            </a:br>
            <a:r>
              <a:rPr lang="en"/>
              <a:t>Year three: go deep and go real. Intern at a startup or a research lab. Pick ONE domain and get seriously, unusually good at it. Contribute to open source. And build one thing that actual strangers use — that changes everything.</a:t>
            </a:r>
            <a:br>
              <a:rPr lang="en"/>
            </a:br>
            <a:br>
              <a:rPr lang="en"/>
            </a:br>
            <a:r>
              <a:rPr lang="en"/>
              <a:t>Year four: choose ownership. Turn all of it into a role you genuinely want. Optimise for the team and the problem, not just the salary. And keep one ambitious side project breathing.</a:t>
            </a:r>
            <a:br>
              <a:rPr lang="en"/>
            </a:br>
            <a:br>
              <a:rPr lang="en"/>
            </a:br>
            <a:r>
              <a:rPr lang="en"/>
              <a:t>But please hear me: this is a direction, not a syllabus to feel guilty about. The single thread through all four years — always be building something, and always be around people who build."</a:t>
            </a:r>
            <a:br>
              <a:rPr lang="en"/>
            </a:br>
            <a:br>
              <a:rPr lang="en"/>
            </a:br>
            <a:r>
              <a:rPr lang="en"/>
              <a:t>Reassure the anxious ones: 'if you're behind on this, you're not behind. Start today.'</a:t>
            </a:r>
            <a:endParaRPr/>
          </a:p>
        </p:txBody>
      </p:sp>
      <p:sp>
        <p:nvSpPr>
          <p:cNvPr id="569" name="Google Shape;569;g3f940ea65c8_2_487: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f940ea65c8_2_517: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9" name="Google Shape;599;g3f940ea65c8_2_517: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[34:00–34:20]  SECTION 11 divider — the emotional close begins. Slow WAY down here.</a:t>
            </a:r>
            <a:br>
              <a:rPr lang="en"/>
            </a:br>
            <a:br>
              <a:rPr lang="en"/>
            </a:br>
            <a:r>
              <a:rPr lang="en"/>
              <a:t>"We're near the end. If you forget everything else I said — and you will forget most of it — keep three things. I'm going to say each one slowly and mean it."</a:t>
            </a:r>
            <a:endParaRPr/>
          </a:p>
        </p:txBody>
      </p:sp>
      <p:sp>
        <p:nvSpPr>
          <p:cNvPr id="600" name="Google Shape;600;g3f940ea65c8_2_517: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f940ea65c8_2_527: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g3f940ea65c8_2_527: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[34:20–35:05]  PRINCIPLE 1. One sentence of personal conviction. Don't rush.</a:t>
            </a:r>
            <a:br>
              <a:rPr lang="en"/>
            </a:br>
            <a:br>
              <a:rPr lang="en"/>
            </a:br>
            <a:r>
              <a:rPr lang="en"/>
              <a:t>"One — a bias for building. Ideas are cheap. Online courses are infinite. Talk is completely free. The rarest, most valuable habit in the world is actually FINISHING — shipping a real thing into the real world. Be the person who ships. That alone will set you apart more than any credential."</a:t>
            </a:r>
            <a:endParaRPr/>
          </a:p>
        </p:txBody>
      </p:sp>
      <p:sp>
        <p:nvSpPr>
          <p:cNvPr id="611" name="Google Shape;611;g3f940ea65c8_2_527: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f940ea65c8_2_538: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g3f940ea65c8_2_538: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[35:05–35:50]  PRINCIPLE 2.</a:t>
            </a:r>
            <a:br>
              <a:rPr lang="en"/>
            </a:br>
            <a:br>
              <a:rPr lang="en"/>
            </a:br>
            <a:r>
              <a:rPr lang="en"/>
              <a:t>"Two — compound your people and your skills. Both grow like interest — quietly at first, then all at once. The friends who build alongside you, the mentors who actually care, the fundamentals that never expire — invest in those EARLY, and let a decade do the math. My co-builders today are the people I met in a room like this one."</a:t>
            </a:r>
            <a:endParaRPr/>
          </a:p>
        </p:txBody>
      </p:sp>
      <p:sp>
        <p:nvSpPr>
          <p:cNvPr id="623" name="Google Shape;623;g3f940ea65c8_2_538: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f940ea65c8_2_549: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g3f940ea65c8_2_549: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[35:50–36:40]  PRINCIPLE 3 — the heart of the talk. Full sincerity.</a:t>
            </a:r>
            <a:br>
              <a:rPr lang="en"/>
            </a:br>
            <a:br>
              <a:rPr lang="en"/>
            </a:br>
            <a:r>
              <a:rPr lang="en"/>
              <a:t>"Three — choose problems over prestige. Chase the problems that actually matter to real people. Construction sites. Farms. Clinics. Classrooms. The unglamorous ones.</a:t>
            </a:r>
            <a:br>
              <a:rPr lang="en"/>
            </a:br>
            <a:br>
              <a:rPr lang="en"/>
            </a:br>
            <a:r>
              <a:rPr lang="en"/>
              <a:t>Here's what nobody tells you: prestige FOLLOWS impact. It almost never works the other way around. Solve something real, for real people, and the recognition finds you. Chase recognition first, and you'll spend years on things that don't matter."</a:t>
            </a:r>
            <a:endParaRPr/>
          </a:p>
        </p:txBody>
      </p:sp>
      <p:sp>
        <p:nvSpPr>
          <p:cNvPr id="635" name="Google Shape;635;g3f940ea65c8_2_549: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f940ea65c8_2_560: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6" name="Google Shape;646;g3f940ea65c8_2_560: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[36:40–37:20]  THE CLOSING LINE. Let silence do the work. Deliver, then STOP — don't add anything.</a:t>
            </a:r>
            <a:br>
              <a:rPr lang="en"/>
            </a:br>
            <a:br>
              <a:rPr lang="en"/>
            </a:br>
            <a:r>
              <a:rPr lang="en"/>
              <a:t>"The future belongs to the people who build it. And you — you have four whole years, right now, just to practise.</a:t>
            </a:r>
            <a:br>
              <a:rPr lang="en"/>
            </a:br>
            <a:br>
              <a:rPr lang="en"/>
            </a:br>
            <a:r>
              <a:rPr lang="en"/>
              <a:t>I would give a great deal to be back in your seat, on day one, with everything that exists today.</a:t>
            </a:r>
            <a:br>
              <a:rPr lang="en"/>
            </a:br>
            <a:br>
              <a:rPr lang="en"/>
            </a:br>
            <a:r>
              <a:rPr lang="en"/>
              <a:t>Don't waste the best starting line anyone's ever had."</a:t>
            </a:r>
            <a:br>
              <a:rPr lang="en"/>
            </a:br>
            <a:br>
              <a:rPr lang="en"/>
            </a:br>
            <a:r>
              <a:rPr lang="en"/>
              <a:t>Two-second pause. Then move to Q&amp;A. Do not step on this line with logistics.</a:t>
            </a:r>
            <a:endParaRPr/>
          </a:p>
        </p:txBody>
      </p:sp>
      <p:sp>
        <p:nvSpPr>
          <p:cNvPr id="647" name="Google Shape;647;g3f940ea65c8_2_560: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f940ea65c8_2_568: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5" name="Google Shape;655;g3f940ea65c8_2_568: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[37:20–end]  Q&amp;A OPEN.</a:t>
            </a:r>
            <a:br>
              <a:rPr lang="en"/>
            </a:br>
            <a:br>
              <a:rPr lang="en"/>
            </a:br>
            <a:r>
              <a:rPr lang="en"/>
              <a:t>"That's the talk — thank you for the attention, it means a lot.</a:t>
            </a:r>
            <a:br>
              <a:rPr lang="en"/>
            </a:br>
            <a:br>
              <a:rPr lang="en"/>
            </a:br>
            <a:r>
              <a:rPr lang="en"/>
              <a:t>Now the part I actually enjoy most: your questions. Anything is fair game — startups, careers, the tech, my failures (there are many), IIT life, or what I'd do differently if I were in your seat today.</a:t>
            </a:r>
            <a:br>
              <a:rPr lang="en"/>
            </a:br>
            <a:br>
              <a:rPr lang="en"/>
            </a:br>
            <a:r>
              <a:rPr lang="en"/>
              <a:t>Who's first?"</a:t>
            </a:r>
            <a:br>
              <a:rPr lang="en"/>
            </a:br>
            <a:br>
              <a:rPr lang="en"/>
            </a:br>
            <a:r>
              <a:rPr lang="en"/>
              <a:t>Logistics: offer to stay back afterward; share LinkedIn on-screen or via the coordinators. If the room is shy, seed it: 'A question I get a lot is…' and answer that to break the ice.</a:t>
            </a:r>
            <a:endParaRPr/>
          </a:p>
        </p:txBody>
      </p:sp>
      <p:sp>
        <p:nvSpPr>
          <p:cNvPr id="656" name="Google Shape;656;g3f940ea65c8_2_568: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117"/>
        </a:solidFill>
      </p:bgPr>
    </p:bg>
    <p:spTree>
      <p:nvGrpSpPr>
        <p:cNvPr id="56" name="Shape 56"/>
        <p:cNvGrpSpPr/>
        <p:nvPr/>
      </p:nvGrpSpPr>
      <p:grpSpPr>
        <a:xfrm>
          <a:off x="0" y="0"/>
          <a:ext cx="0" cy="0"/>
          <a:chOff x="0" y="0"/>
          <a:chExt cx="0" cy="0"/>
        </a:xfrm>
      </p:grpSpPr>
      <p:sp>
        <p:nvSpPr>
          <p:cNvPr id="57" name="Google Shape;57;p15"/>
          <p:cNvSpPr/>
          <p:nvPr/>
        </p:nvSpPr>
        <p:spPr>
          <a:xfrm>
            <a:off x="6812233" y="-1165860"/>
            <a:ext cx="4389237" cy="438912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 name="Google Shape;58;p15"/>
          <p:cNvSpPr/>
          <p:nvPr/>
        </p:nvSpPr>
        <p:spPr>
          <a:xfrm>
            <a:off x="7426726" y="-551384"/>
            <a:ext cx="3160250" cy="3160166"/>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 name="Google Shape;59;p15"/>
          <p:cNvSpPr/>
          <p:nvPr/>
        </p:nvSpPr>
        <p:spPr>
          <a:xfrm>
            <a:off x="7669506" y="788670"/>
            <a:ext cx="788691" cy="788670"/>
          </a:xfrm>
          <a:prstGeom prst="ellipse">
            <a:avLst/>
          </a:prstGeom>
          <a:solidFill>
            <a:srgbClr val="F59E0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 name="Google Shape;60;p15"/>
          <p:cNvSpPr/>
          <p:nvPr/>
        </p:nvSpPr>
        <p:spPr>
          <a:xfrm>
            <a:off x="7669506" y="788670"/>
            <a:ext cx="788691" cy="78867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E1117"/>
              </a:buClr>
              <a:buSzPts val="3000"/>
              <a:buFont typeface="Arial"/>
              <a:buNone/>
            </a:pPr>
            <a:r>
              <a:rPr b="1" i="0" lang="en" sz="3000" u="none" cap="none" strike="noStrike">
                <a:solidFill>
                  <a:srgbClr val="0E1117"/>
                </a:solidFill>
                <a:latin typeface="Arial"/>
                <a:ea typeface="Arial"/>
                <a:cs typeface="Arial"/>
                <a:sym typeface="Arial"/>
              </a:rPr>
              <a:t>↗</a:t>
            </a:r>
            <a:endParaRPr b="0" i="0" sz="3000" u="none" cap="none" strike="noStrike">
              <a:solidFill>
                <a:schemeClr val="dk1"/>
              </a:solidFill>
              <a:latin typeface="Calibri"/>
              <a:ea typeface="Calibri"/>
              <a:cs typeface="Calibri"/>
              <a:sym typeface="Calibri"/>
            </a:endParaRPr>
          </a:p>
        </p:txBody>
      </p:sp>
      <p:sp>
        <p:nvSpPr>
          <p:cNvPr id="61" name="Google Shape;61;p15"/>
          <p:cNvSpPr/>
          <p:nvPr/>
        </p:nvSpPr>
        <p:spPr>
          <a:xfrm>
            <a:off x="630953" y="1110996"/>
            <a:ext cx="6172365"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100"/>
              <a:buFont typeface="Arial"/>
              <a:buNone/>
            </a:pPr>
            <a:r>
              <a:rPr b="1" i="0" lang="en" sz="1100" u="none" cap="none" strike="noStrike">
                <a:solidFill>
                  <a:srgbClr val="F59E0B"/>
                </a:solidFill>
                <a:latin typeface="Arial"/>
                <a:ea typeface="Arial"/>
                <a:cs typeface="Arial"/>
                <a:sym typeface="Arial"/>
              </a:rPr>
              <a:t>GUEST SESSION · FRESHERS' ORIENTATION</a:t>
            </a:r>
            <a:endParaRPr b="0" i="0" sz="1100" u="none" cap="none" strike="noStrike">
              <a:solidFill>
                <a:schemeClr val="dk1"/>
              </a:solidFill>
              <a:latin typeface="Calibri"/>
              <a:ea typeface="Calibri"/>
              <a:cs typeface="Calibri"/>
              <a:sym typeface="Calibri"/>
            </a:endParaRPr>
          </a:p>
        </p:txBody>
      </p:sp>
      <p:sp>
        <p:nvSpPr>
          <p:cNvPr id="62" name="Google Shape;62;p15"/>
          <p:cNvSpPr/>
          <p:nvPr/>
        </p:nvSpPr>
        <p:spPr>
          <a:xfrm>
            <a:off x="630953" y="1440180"/>
            <a:ext cx="6103783" cy="1508760"/>
          </a:xfrm>
          <a:prstGeom prst="rect">
            <a:avLst/>
          </a:prstGeom>
          <a:noFill/>
          <a:ln>
            <a:noFill/>
          </a:ln>
        </p:spPr>
        <p:txBody>
          <a:bodyPr anchorCtr="0" anchor="ctr" bIns="34275" lIns="68575" spcFirstLastPara="1" rIns="68575" wrap="square" tIns="34275">
            <a:noAutofit/>
          </a:bodyPr>
          <a:lstStyle/>
          <a:p>
            <a:pPr indent="0" lvl="0" marL="0" marR="0" rtl="0" algn="l">
              <a:lnSpc>
                <a:spcPct val="96774"/>
              </a:lnSpc>
              <a:spcBef>
                <a:spcPts val="0"/>
              </a:spcBef>
              <a:spcAft>
                <a:spcPts val="0"/>
              </a:spcAft>
              <a:buClr>
                <a:srgbClr val="F4F6FA"/>
              </a:buClr>
              <a:buSzPts val="4700"/>
              <a:buFont typeface="Arial"/>
              <a:buNone/>
            </a:pPr>
            <a:r>
              <a:rPr b="1" i="0" lang="en" sz="4700" u="none" cap="none" strike="noStrike">
                <a:solidFill>
                  <a:srgbClr val="F4F6FA"/>
                </a:solidFill>
                <a:latin typeface="Arial"/>
                <a:ea typeface="Arial"/>
                <a:cs typeface="Arial"/>
                <a:sym typeface="Arial"/>
              </a:rPr>
              <a:t>From Campus</a:t>
            </a:r>
            <a:endParaRPr b="0" i="0" sz="4700" u="none" cap="none" strike="noStrike">
              <a:solidFill>
                <a:schemeClr val="dk1"/>
              </a:solidFill>
              <a:latin typeface="Calibri"/>
              <a:ea typeface="Calibri"/>
              <a:cs typeface="Calibri"/>
              <a:sym typeface="Calibri"/>
            </a:endParaRPr>
          </a:p>
          <a:p>
            <a:pPr indent="0" lvl="0" marL="0" marR="0" rtl="0" algn="l">
              <a:lnSpc>
                <a:spcPct val="96774"/>
              </a:lnSpc>
              <a:spcBef>
                <a:spcPts val="0"/>
              </a:spcBef>
              <a:spcAft>
                <a:spcPts val="0"/>
              </a:spcAft>
              <a:buClr>
                <a:srgbClr val="F4F6FA"/>
              </a:buClr>
              <a:buSzPts val="4700"/>
              <a:buFont typeface="Arial"/>
              <a:buNone/>
            </a:pPr>
            <a:r>
              <a:rPr b="1" i="0" lang="en" sz="4700" u="none" cap="none" strike="noStrike">
                <a:solidFill>
                  <a:srgbClr val="F4F6FA"/>
                </a:solidFill>
                <a:latin typeface="Arial"/>
                <a:ea typeface="Arial"/>
                <a:cs typeface="Arial"/>
                <a:sym typeface="Arial"/>
              </a:rPr>
              <a:t>to Startup</a:t>
            </a:r>
            <a:endParaRPr b="0" i="0" sz="4700" u="none" cap="none" strike="noStrike">
              <a:solidFill>
                <a:schemeClr val="dk1"/>
              </a:solidFill>
              <a:latin typeface="Calibri"/>
              <a:ea typeface="Calibri"/>
              <a:cs typeface="Calibri"/>
              <a:sym typeface="Calibri"/>
            </a:endParaRPr>
          </a:p>
        </p:txBody>
      </p:sp>
      <p:sp>
        <p:nvSpPr>
          <p:cNvPr id="63" name="Google Shape;63;p15"/>
          <p:cNvSpPr/>
          <p:nvPr/>
        </p:nvSpPr>
        <p:spPr>
          <a:xfrm>
            <a:off x="630953" y="3086100"/>
            <a:ext cx="5829455"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AEB6C4"/>
              </a:buClr>
              <a:buSzPts val="1500"/>
              <a:buFont typeface="Arial"/>
              <a:buNone/>
            </a:pPr>
            <a:r>
              <a:rPr b="0" i="0" lang="en" sz="1500" u="none" cap="none" strike="noStrike">
                <a:solidFill>
                  <a:srgbClr val="AEB6C4"/>
                </a:solidFill>
                <a:latin typeface="Arial"/>
                <a:ea typeface="Arial"/>
                <a:cs typeface="Arial"/>
                <a:sym typeface="Arial"/>
              </a:rPr>
              <a:t>Building products and careers for the future</a:t>
            </a:r>
            <a:endParaRPr b="0" i="0" sz="1500" u="none" cap="none" strike="noStrike">
              <a:solidFill>
                <a:schemeClr val="dk1"/>
              </a:solidFill>
              <a:latin typeface="Calibri"/>
              <a:ea typeface="Calibri"/>
              <a:cs typeface="Calibri"/>
              <a:sym typeface="Calibri"/>
            </a:endParaRPr>
          </a:p>
        </p:txBody>
      </p:sp>
      <p:cxnSp>
        <p:nvCxnSpPr>
          <p:cNvPr id="64" name="Google Shape;64;p15"/>
          <p:cNvCxnSpPr/>
          <p:nvPr/>
        </p:nvCxnSpPr>
        <p:spPr>
          <a:xfrm>
            <a:off x="630953" y="3669029"/>
            <a:ext cx="2194619" cy="0"/>
          </a:xfrm>
          <a:prstGeom prst="straightConnector1">
            <a:avLst/>
          </a:prstGeom>
          <a:noFill/>
          <a:ln cap="flat" cmpd="sng" w="12700">
            <a:solidFill>
              <a:srgbClr val="2C3340"/>
            </a:solidFill>
            <a:prstDash val="solid"/>
            <a:round/>
            <a:headEnd len="sm" w="sm" type="none"/>
            <a:tailEnd len="sm" w="sm" type="none"/>
          </a:ln>
        </p:spPr>
      </p:cxnSp>
      <p:sp>
        <p:nvSpPr>
          <p:cNvPr id="65" name="Google Shape;65;p15"/>
          <p:cNvSpPr/>
          <p:nvPr/>
        </p:nvSpPr>
        <p:spPr>
          <a:xfrm>
            <a:off x="630953" y="3806190"/>
            <a:ext cx="7201092"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37500"/>
              </a:lnSpc>
              <a:spcBef>
                <a:spcPts val="0"/>
              </a:spcBef>
              <a:spcAft>
                <a:spcPts val="0"/>
              </a:spcAft>
              <a:buClr>
                <a:schemeClr val="lt1"/>
              </a:buClr>
              <a:buSzPts val="1200"/>
              <a:buFont typeface="Arial"/>
              <a:buNone/>
            </a:pPr>
            <a:r>
              <a:rPr b="0" i="0" lang="en" sz="1200" u="none" cap="none" strike="noStrike">
                <a:solidFill>
                  <a:schemeClr val="lt1"/>
                </a:solidFill>
                <a:latin typeface="Arial"/>
                <a:ea typeface="Arial"/>
                <a:cs typeface="Arial"/>
                <a:sym typeface="Arial"/>
              </a:rPr>
              <a:t>Founding Engineer, Powerplay   ·   Ex-CTO, Tornado   ·   IIT Roorkee</a:t>
            </a:r>
            <a:endParaRPr b="0" i="0" sz="1200" u="none" cap="none" strike="noStrike">
              <a:solidFill>
                <a:schemeClr val="lt1"/>
              </a:solidFill>
              <a:latin typeface="Calibri"/>
              <a:ea typeface="Calibri"/>
              <a:cs typeface="Calibri"/>
              <a:sym typeface="Calibri"/>
            </a:endParaRPr>
          </a:p>
          <a:p>
            <a:pPr indent="0" lvl="0" marL="0" marR="0" rtl="0" algn="l">
              <a:lnSpc>
                <a:spcPct val="137500"/>
              </a:lnSpc>
              <a:spcBef>
                <a:spcPts val="0"/>
              </a:spcBef>
              <a:spcAft>
                <a:spcPts val="0"/>
              </a:spcAft>
              <a:buClr>
                <a:schemeClr val="lt1"/>
              </a:buClr>
              <a:buSzPts val="1200"/>
              <a:buFont typeface="Arial"/>
              <a:buNone/>
            </a:pPr>
            <a:r>
              <a:rPr b="0" i="0" lang="en" sz="1200" u="none" cap="none" strike="noStrike">
                <a:solidFill>
                  <a:schemeClr val="lt1"/>
                </a:solidFill>
                <a:latin typeface="Arial"/>
                <a:ea typeface="Arial"/>
                <a:cs typeface="Arial"/>
                <a:sym typeface="Arial"/>
              </a:rPr>
              <a:t>Cisco → Mubble → Pramati → Tornado → Powerplay</a:t>
            </a:r>
            <a:endParaRPr b="0" i="0" sz="1100" u="none" cap="none" strike="noStrike">
              <a:solidFill>
                <a:schemeClr val="dk1"/>
              </a:solidFill>
              <a:latin typeface="Calibri"/>
              <a:ea typeface="Calibri"/>
              <a:cs typeface="Calibri"/>
              <a:sym typeface="Calibri"/>
            </a:endParaRPr>
          </a:p>
        </p:txBody>
      </p:sp>
      <p:pic>
        <p:nvPicPr>
          <p:cNvPr id="66" name="Google Shape;66;p15"/>
          <p:cNvPicPr preferRelativeResize="0"/>
          <p:nvPr/>
        </p:nvPicPr>
        <p:blipFill rotWithShape="1">
          <a:blip r:embed="rId3">
            <a:alphaModFix/>
          </a:blip>
          <a:srcRect b="10000" l="5000" r="5000" t="0"/>
          <a:stretch/>
        </p:blipFill>
        <p:spPr>
          <a:xfrm>
            <a:off x="6812232" y="3018064"/>
            <a:ext cx="1714500" cy="1714500"/>
          </a:xfrm>
          <a:prstGeom prst="ellipse">
            <a:avLst/>
          </a:prstGeom>
          <a:noFill/>
          <a:ln cap="flat" cmpd="sng" w="38100">
            <a:solidFill>
              <a:srgbClr val="F59E0B"/>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0"/>
                                        </p:tgtEl>
                                        <p:attrNameLst>
                                          <p:attrName>style.visibility</p:attrName>
                                        </p:attrNameLst>
                                      </p:cBhvr>
                                      <p:to>
                                        <p:strVal val="visible"/>
                                      </p:to>
                                    </p:set>
                                    <p:animEffect filter="fade" transition="in">
                                      <p:cBhvr>
                                        <p:cTn dur="500"/>
                                        <p:tgtEl>
                                          <p:spTgt spid="6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1"/>
                                        </p:tgtEl>
                                        <p:attrNameLst>
                                          <p:attrName>style.visibility</p:attrName>
                                        </p:attrNameLst>
                                      </p:cBhvr>
                                      <p:to>
                                        <p:strVal val="visible"/>
                                      </p:to>
                                    </p:set>
                                    <p:animEffect filter="fade" transition="in">
                                      <p:cBhvr>
                                        <p:cTn dur="500"/>
                                        <p:tgtEl>
                                          <p:spTgt spid="6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2"/>
                                        </p:tgtEl>
                                        <p:attrNameLst>
                                          <p:attrName>style.visibility</p:attrName>
                                        </p:attrNameLst>
                                      </p:cBhvr>
                                      <p:to>
                                        <p:strVal val="visible"/>
                                      </p:to>
                                    </p:set>
                                    <p:animEffect filter="fade" transition="in">
                                      <p:cBhvr>
                                        <p:cTn dur="500"/>
                                        <p:tgtEl>
                                          <p:spTgt spid="6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500"/>
                                        <p:tgtEl>
                                          <p:spTgt spid="6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4"/>
                                        </p:tgtEl>
                                        <p:attrNameLst>
                                          <p:attrName>style.visibility</p:attrName>
                                        </p:attrNameLst>
                                      </p:cBhvr>
                                      <p:to>
                                        <p:strVal val="visible"/>
                                      </p:to>
                                    </p:set>
                                    <p:animEffect filter="fade" transition="in">
                                      <p:cBhvr>
                                        <p:cTn dur="500"/>
                                        <p:tgtEl>
                                          <p:spTgt spid="64"/>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65"/>
                                        </p:tgtEl>
                                        <p:attrNameLst>
                                          <p:attrName>style.visibility</p:attrName>
                                        </p:attrNameLst>
                                      </p:cBhvr>
                                      <p:to>
                                        <p:strVal val="visible"/>
                                      </p:to>
                                    </p:set>
                                    <p:animEffect filter="fade" transition="in">
                                      <p:cBhvr>
                                        <p:cTn dur="500"/>
                                        <p:tgtEl>
                                          <p:spTgt spid="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117"/>
        </a:solidFill>
      </p:bgPr>
    </p:bg>
    <p:spTree>
      <p:nvGrpSpPr>
        <p:cNvPr id="71" name="Shape 71"/>
        <p:cNvGrpSpPr/>
        <p:nvPr/>
      </p:nvGrpSpPr>
      <p:grpSpPr>
        <a:xfrm>
          <a:off x="0" y="0"/>
          <a:ext cx="0" cy="0"/>
          <a:chOff x="0" y="0"/>
          <a:chExt cx="0" cy="0"/>
        </a:xfrm>
      </p:grpSpPr>
      <p:sp>
        <p:nvSpPr>
          <p:cNvPr id="72" name="Google Shape;72;p16"/>
          <p:cNvSpPr/>
          <p:nvPr/>
        </p:nvSpPr>
        <p:spPr>
          <a:xfrm>
            <a:off x="7086559" y="-1234440"/>
            <a:ext cx="3703419" cy="370332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 name="Google Shape;73;p16"/>
          <p:cNvSpPr/>
          <p:nvPr/>
        </p:nvSpPr>
        <p:spPr>
          <a:xfrm>
            <a:off x="7605039" y="-715975"/>
            <a:ext cx="2666461" cy="2666390"/>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4" name="Google Shape;74;p16"/>
          <p:cNvSpPr/>
          <p:nvPr/>
        </p:nvSpPr>
        <p:spPr>
          <a:xfrm>
            <a:off x="630953" y="617220"/>
            <a:ext cx="7882109" cy="23317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BEFORE WE START</a:t>
            </a:r>
            <a:endParaRPr b="0" i="0" sz="1000" u="none" cap="none" strike="noStrike">
              <a:solidFill>
                <a:schemeClr val="dk1"/>
              </a:solidFill>
              <a:latin typeface="Calibri"/>
              <a:ea typeface="Calibri"/>
              <a:cs typeface="Calibri"/>
              <a:sym typeface="Calibri"/>
            </a:endParaRPr>
          </a:p>
        </p:txBody>
      </p:sp>
      <p:sp>
        <p:nvSpPr>
          <p:cNvPr id="75" name="Google Shape;75;p16"/>
          <p:cNvSpPr/>
          <p:nvPr/>
        </p:nvSpPr>
        <p:spPr>
          <a:xfrm>
            <a:off x="630953" y="1371600"/>
            <a:ext cx="7607782" cy="2297430"/>
          </a:xfrm>
          <a:prstGeom prst="rect">
            <a:avLst/>
          </a:prstGeom>
          <a:noFill/>
          <a:ln>
            <a:noFill/>
          </a:ln>
        </p:spPr>
        <p:txBody>
          <a:bodyPr anchorCtr="0" anchor="t" bIns="34275" lIns="68575" spcFirstLastPara="1" rIns="68575" wrap="square" tIns="34275">
            <a:noAutofit/>
          </a:bodyPr>
          <a:lstStyle/>
          <a:p>
            <a:pPr indent="0" lvl="0" marL="0" marR="0" rtl="0" algn="l">
              <a:lnSpc>
                <a:spcPct val="108000"/>
              </a:lnSpc>
              <a:spcBef>
                <a:spcPts val="0"/>
              </a:spcBef>
              <a:spcAft>
                <a:spcPts val="0"/>
              </a:spcAft>
              <a:buClr>
                <a:srgbClr val="F4F6FA"/>
              </a:buClr>
              <a:buSzPts val="3800"/>
              <a:buFont typeface="Arial"/>
              <a:buNone/>
            </a:pPr>
            <a:r>
              <a:rPr b="1" i="0" lang="en" sz="3800" u="none" cap="none" strike="noStrike">
                <a:solidFill>
                  <a:srgbClr val="F4F6FA"/>
                </a:solidFill>
                <a:latin typeface="Arial"/>
                <a:ea typeface="Arial"/>
                <a:cs typeface="Arial"/>
                <a:sym typeface="Arial"/>
              </a:rPr>
              <a:t>I had no plan.</a:t>
            </a:r>
            <a:br>
              <a:rPr b="1" i="0" lang="en" sz="3800" u="none" cap="none" strike="noStrike">
                <a:solidFill>
                  <a:srgbClr val="F4F6FA"/>
                </a:solidFill>
                <a:latin typeface="Arial"/>
                <a:ea typeface="Arial"/>
                <a:cs typeface="Arial"/>
                <a:sym typeface="Arial"/>
              </a:rPr>
            </a:br>
            <a:r>
              <a:rPr b="1" i="0" lang="en" sz="3800" u="none" cap="none" strike="noStrike">
                <a:solidFill>
                  <a:srgbClr val="F4F6FA"/>
                </a:solidFill>
                <a:latin typeface="Arial"/>
                <a:ea typeface="Arial"/>
                <a:cs typeface="Arial"/>
                <a:sym typeface="Arial"/>
              </a:rPr>
              <a:t>That turned out to be</a:t>
            </a:r>
            <a:br>
              <a:rPr b="1" i="0" lang="en" sz="3800" u="none" cap="none" strike="noStrike">
                <a:solidFill>
                  <a:srgbClr val="F4F6FA"/>
                </a:solidFill>
                <a:latin typeface="Arial"/>
                <a:ea typeface="Arial"/>
                <a:cs typeface="Arial"/>
                <a:sym typeface="Arial"/>
              </a:rPr>
            </a:br>
            <a:r>
              <a:rPr b="1" i="0" lang="en" sz="3800" u="none" cap="none" strike="noStrike">
                <a:solidFill>
                  <a:srgbClr val="F59E0B"/>
                </a:solidFill>
                <a:latin typeface="Arial"/>
                <a:ea typeface="Arial"/>
                <a:cs typeface="Arial"/>
                <a:sym typeface="Arial"/>
              </a:rPr>
              <a:t>the plan.</a:t>
            </a:r>
            <a:endParaRPr b="0" i="0" sz="3800" u="none" cap="none" strike="noStrike">
              <a:solidFill>
                <a:schemeClr val="dk1"/>
              </a:solidFill>
              <a:latin typeface="Calibri"/>
              <a:ea typeface="Calibri"/>
              <a:cs typeface="Calibri"/>
              <a:sym typeface="Calibri"/>
            </a:endParaRPr>
          </a:p>
        </p:txBody>
      </p:sp>
      <p:sp>
        <p:nvSpPr>
          <p:cNvPr id="76" name="Google Shape;76;p16"/>
          <p:cNvSpPr/>
          <p:nvPr/>
        </p:nvSpPr>
        <p:spPr>
          <a:xfrm>
            <a:off x="630953" y="3575140"/>
            <a:ext cx="6721019" cy="754380"/>
          </a:xfrm>
          <a:prstGeom prst="rect">
            <a:avLst/>
          </a:prstGeom>
          <a:noFill/>
          <a:ln>
            <a:noFill/>
          </a:ln>
        </p:spPr>
        <p:txBody>
          <a:bodyPr anchorCtr="0" anchor="ctr" bIns="34275" lIns="68575" spcFirstLastPara="1" rIns="68575" wrap="square" tIns="34275">
            <a:noAutofit/>
          </a:bodyPr>
          <a:lstStyle/>
          <a:p>
            <a:pPr indent="0" lvl="0" marL="0" marR="0" rtl="0" algn="l">
              <a:lnSpc>
                <a:spcPct val="142105"/>
              </a:lnSpc>
              <a:spcBef>
                <a:spcPts val="0"/>
              </a:spcBef>
              <a:spcAft>
                <a:spcPts val="0"/>
              </a:spcAft>
              <a:buClr>
                <a:schemeClr val="lt1"/>
              </a:buClr>
              <a:buSzPts val="1400"/>
              <a:buFont typeface="Arial"/>
              <a:buNone/>
            </a:pPr>
            <a:r>
              <a:rPr b="0" i="0" lang="en" sz="1400" u="none" cap="none" strike="noStrike">
                <a:solidFill>
                  <a:schemeClr val="lt1"/>
                </a:solidFill>
                <a:latin typeface="Arial"/>
                <a:ea typeface="Arial"/>
                <a:cs typeface="Arial"/>
                <a:sym typeface="Arial"/>
              </a:rPr>
              <a:t>Everything I'm about to show you was built by taking the next interesting step well; not by predicting the whole path.</a:t>
            </a:r>
            <a:endParaRPr b="0" i="0" sz="1400" u="none" cap="none" strike="noStrike">
              <a:solidFill>
                <a:schemeClr val="lt1"/>
              </a:solidFill>
              <a:latin typeface="Calibri"/>
              <a:ea typeface="Calibri"/>
              <a:cs typeface="Calibri"/>
              <a:sym typeface="Calibri"/>
            </a:endParaRPr>
          </a:p>
        </p:txBody>
      </p:sp>
      <p:sp>
        <p:nvSpPr>
          <p:cNvPr id="77" name="Google Shape;77;p16"/>
          <p:cNvSpPr/>
          <p:nvPr/>
        </p:nvSpPr>
        <p:spPr>
          <a:xfrm>
            <a:off x="630953" y="4800600"/>
            <a:ext cx="411491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FROM CAMPUS TO STARTUP</a:t>
            </a:r>
            <a:endParaRPr b="0" i="0" sz="700" u="none" cap="none" strike="noStrike">
              <a:solidFill>
                <a:schemeClr val="dk1"/>
              </a:solidFill>
              <a:latin typeface="Calibri"/>
              <a:ea typeface="Calibri"/>
              <a:cs typeface="Calibri"/>
              <a:sym typeface="Calibri"/>
            </a:endParaRPr>
          </a:p>
        </p:txBody>
      </p:sp>
      <p:sp>
        <p:nvSpPr>
          <p:cNvPr id="78" name="Google Shape;78;p16"/>
          <p:cNvSpPr/>
          <p:nvPr/>
        </p:nvSpPr>
        <p:spPr>
          <a:xfrm>
            <a:off x="7964407" y="4800600"/>
            <a:ext cx="548655"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01</a:t>
            </a:r>
            <a:endParaRPr b="0" i="0" sz="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4"/>
                                        </p:tgtEl>
                                        <p:attrNameLst>
                                          <p:attrName>style.visibility</p:attrName>
                                        </p:attrNameLst>
                                      </p:cBhvr>
                                      <p:to>
                                        <p:strVal val="visible"/>
                                      </p:to>
                                    </p:set>
                                    <p:animEffect filter="fade" transition="in">
                                      <p:cBhvr>
                                        <p:cTn dur="500"/>
                                        <p:tgtEl>
                                          <p:spTgt spid="7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5"/>
                                        </p:tgtEl>
                                        <p:attrNameLst>
                                          <p:attrName>style.visibility</p:attrName>
                                        </p:attrNameLst>
                                      </p:cBhvr>
                                      <p:to>
                                        <p:strVal val="visible"/>
                                      </p:to>
                                    </p:set>
                                    <p:animEffect filter="fade" transition="in">
                                      <p:cBhvr>
                                        <p:cTn dur="500"/>
                                        <p:tgtEl>
                                          <p:spTgt spid="7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6"/>
                                        </p:tgtEl>
                                        <p:attrNameLst>
                                          <p:attrName>style.visibility</p:attrName>
                                        </p:attrNameLst>
                                      </p:cBhvr>
                                      <p:to>
                                        <p:strVal val="visible"/>
                                      </p:to>
                                    </p:set>
                                    <p:animEffect filter="fade" transition="in">
                                      <p:cBhvr>
                                        <p:cTn dur="500"/>
                                        <p:tgtEl>
                                          <p:spTgt spid="7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77"/>
                                        </p:tgtEl>
                                        <p:attrNameLst>
                                          <p:attrName>style.visibility</p:attrName>
                                        </p:attrNameLst>
                                      </p:cBhvr>
                                      <p:to>
                                        <p:strVal val="visible"/>
                                      </p:to>
                                    </p:set>
                                    <p:animEffect filter="fade" transition="in">
                                      <p:cBhvr>
                                        <p:cTn dur="500"/>
                                        <p:tgtEl>
                                          <p:spTgt spid="7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78"/>
                                        </p:tgtEl>
                                        <p:attrNameLst>
                                          <p:attrName>style.visibility</p:attrName>
                                        </p:attrNameLst>
                                      </p:cBhvr>
                                      <p:to>
                                        <p:strVal val="visible"/>
                                      </p:to>
                                    </p:set>
                                    <p:animEffect filter="fade" transition="in">
                                      <p:cBhvr>
                                        <p:cTn dur="500"/>
                                        <p:tgtEl>
                                          <p:spTgt spid="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B10"/>
        </a:solidFill>
      </p:bgPr>
    </p:bg>
    <p:spTree>
      <p:nvGrpSpPr>
        <p:cNvPr id="83" name="Shape 83"/>
        <p:cNvGrpSpPr/>
        <p:nvPr/>
      </p:nvGrpSpPr>
      <p:grpSpPr>
        <a:xfrm>
          <a:off x="0" y="0"/>
          <a:ext cx="0" cy="0"/>
          <a:chOff x="0" y="0"/>
          <a:chExt cx="0" cy="0"/>
        </a:xfrm>
      </p:grpSpPr>
      <p:sp>
        <p:nvSpPr>
          <p:cNvPr id="84" name="Google Shape;84;p17"/>
          <p:cNvSpPr/>
          <p:nvPr/>
        </p:nvSpPr>
        <p:spPr>
          <a:xfrm>
            <a:off x="-1783128" y="2263139"/>
            <a:ext cx="4800728" cy="480060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5" name="Google Shape;85;p17"/>
          <p:cNvSpPr/>
          <p:nvPr/>
        </p:nvSpPr>
        <p:spPr>
          <a:xfrm>
            <a:off x="-1111026" y="2935224"/>
            <a:ext cx="3456524" cy="3456432"/>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6" name="Google Shape;86;p17"/>
          <p:cNvSpPr/>
          <p:nvPr/>
        </p:nvSpPr>
        <p:spPr>
          <a:xfrm>
            <a:off x="630953" y="788670"/>
            <a:ext cx="2057455" cy="16459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430"/>
              </a:buClr>
              <a:buSzPts val="11300"/>
              <a:buFont typeface="Arial"/>
              <a:buNone/>
            </a:pPr>
            <a:r>
              <a:rPr b="1" i="0" lang="en" sz="11300" u="none" cap="none" strike="noStrike">
                <a:solidFill>
                  <a:srgbClr val="1F2430"/>
                </a:solidFill>
                <a:latin typeface="Arial"/>
                <a:ea typeface="Arial"/>
                <a:cs typeface="Arial"/>
                <a:sym typeface="Arial"/>
              </a:rPr>
              <a:t>01</a:t>
            </a:r>
            <a:endParaRPr b="0" i="0" sz="11300" u="none" cap="none" strike="noStrike">
              <a:solidFill>
                <a:schemeClr val="dk1"/>
              </a:solidFill>
              <a:latin typeface="Calibri"/>
              <a:ea typeface="Calibri"/>
              <a:cs typeface="Calibri"/>
              <a:sym typeface="Calibri"/>
            </a:endParaRPr>
          </a:p>
        </p:txBody>
      </p:sp>
      <p:sp>
        <p:nvSpPr>
          <p:cNvPr id="87" name="Google Shape;87;p17"/>
          <p:cNvSpPr/>
          <p:nvPr/>
        </p:nvSpPr>
        <p:spPr>
          <a:xfrm>
            <a:off x="658386" y="2482595"/>
            <a:ext cx="6858183"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THE ROAD SO FAR</a:t>
            </a:r>
            <a:endParaRPr b="0" i="0" sz="1000" u="none" cap="none" strike="noStrike">
              <a:solidFill>
                <a:schemeClr val="dk1"/>
              </a:solidFill>
              <a:latin typeface="Calibri"/>
              <a:ea typeface="Calibri"/>
              <a:cs typeface="Calibri"/>
              <a:sym typeface="Calibri"/>
            </a:endParaRPr>
          </a:p>
        </p:txBody>
      </p:sp>
      <p:sp>
        <p:nvSpPr>
          <p:cNvPr id="88" name="Google Shape;88;p17"/>
          <p:cNvSpPr/>
          <p:nvPr/>
        </p:nvSpPr>
        <p:spPr>
          <a:xfrm>
            <a:off x="630953" y="2729484"/>
            <a:ext cx="7269674" cy="1068324"/>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4F6FA"/>
              </a:buClr>
              <a:buSzPts val="3500"/>
              <a:buFont typeface="Arial"/>
              <a:buNone/>
            </a:pPr>
            <a:r>
              <a:rPr b="1" i="0" lang="en" sz="3500" u="none" cap="none" strike="noStrike">
                <a:solidFill>
                  <a:srgbClr val="F4F6FA"/>
                </a:solidFill>
                <a:latin typeface="Arial"/>
                <a:ea typeface="Arial"/>
                <a:cs typeface="Arial"/>
                <a:sym typeface="Arial"/>
              </a:rPr>
              <a:t>One journey,</a:t>
            </a:r>
            <a:endParaRPr b="0" i="0" sz="3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4F6FA"/>
              </a:buClr>
              <a:buSzPts val="3500"/>
              <a:buFont typeface="Arial"/>
              <a:buNone/>
            </a:pPr>
            <a:r>
              <a:rPr b="1" i="0" lang="en" sz="3500" u="none" cap="none" strike="noStrike">
                <a:solidFill>
                  <a:srgbClr val="F4F6FA"/>
                </a:solidFill>
                <a:latin typeface="Arial"/>
                <a:ea typeface="Arial"/>
                <a:cs typeface="Arial"/>
                <a:sym typeface="Arial"/>
              </a:rPr>
              <a:t>many detours</a:t>
            </a:r>
            <a:endParaRPr b="0" i="0" sz="3500" u="none" cap="none" strike="noStrike">
              <a:solidFill>
                <a:schemeClr val="dk1"/>
              </a:solidFill>
              <a:latin typeface="Calibri"/>
              <a:ea typeface="Calibri"/>
              <a:cs typeface="Calibri"/>
              <a:sym typeface="Calibri"/>
            </a:endParaRPr>
          </a:p>
        </p:txBody>
      </p:sp>
      <p:sp>
        <p:nvSpPr>
          <p:cNvPr id="89" name="Google Shape;89;p17"/>
          <p:cNvSpPr/>
          <p:nvPr/>
        </p:nvSpPr>
        <p:spPr>
          <a:xfrm>
            <a:off x="630953" y="3880104"/>
            <a:ext cx="6721019"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44444"/>
              </a:lnSpc>
              <a:spcBef>
                <a:spcPts val="0"/>
              </a:spcBef>
              <a:spcAft>
                <a:spcPts val="0"/>
              </a:spcAft>
              <a:buClr>
                <a:srgbClr val="AEB6C4"/>
              </a:buClr>
              <a:buSzPts val="1400"/>
              <a:buFont typeface="Arial"/>
              <a:buNone/>
            </a:pPr>
            <a:r>
              <a:rPr b="0" i="0" lang="en" sz="1400" u="none" cap="none" strike="noStrike">
                <a:solidFill>
                  <a:srgbClr val="AEB6C4"/>
                </a:solidFill>
                <a:latin typeface="Arial"/>
                <a:ea typeface="Arial"/>
                <a:cs typeface="Arial"/>
                <a:sym typeface="Arial"/>
              </a:rPr>
              <a:t>Six stops. Not one of them was on a plan I made in first year.</a:t>
            </a:r>
            <a:endParaRPr b="0" i="0" sz="14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6"/>
                                        </p:tgtEl>
                                        <p:attrNameLst>
                                          <p:attrName>style.visibility</p:attrName>
                                        </p:attrNameLst>
                                      </p:cBhvr>
                                      <p:to>
                                        <p:strVal val="visible"/>
                                      </p:to>
                                    </p:set>
                                    <p:animEffect filter="fade" transition="in">
                                      <p:cBhvr>
                                        <p:cTn dur="500"/>
                                        <p:tgtEl>
                                          <p:spTgt spid="8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7"/>
                                        </p:tgtEl>
                                        <p:attrNameLst>
                                          <p:attrName>style.visibility</p:attrName>
                                        </p:attrNameLst>
                                      </p:cBhvr>
                                      <p:to>
                                        <p:strVal val="visible"/>
                                      </p:to>
                                    </p:set>
                                    <p:animEffect filter="fade" transition="in">
                                      <p:cBhvr>
                                        <p:cTn dur="500"/>
                                        <p:tgtEl>
                                          <p:spTgt spid="8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8"/>
                                        </p:tgtEl>
                                        <p:attrNameLst>
                                          <p:attrName>style.visibility</p:attrName>
                                        </p:attrNameLst>
                                      </p:cBhvr>
                                      <p:to>
                                        <p:strVal val="visible"/>
                                      </p:to>
                                    </p:set>
                                    <p:animEffect filter="fade" transition="in">
                                      <p:cBhvr>
                                        <p:cTn dur="500"/>
                                        <p:tgtEl>
                                          <p:spTgt spid="8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500"/>
                                        <p:tgtEl>
                                          <p:spTgt spid="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117"/>
        </a:solidFill>
      </p:bgPr>
    </p:bg>
    <p:spTree>
      <p:nvGrpSpPr>
        <p:cNvPr id="94" name="Shape 94"/>
        <p:cNvGrpSpPr/>
        <p:nvPr/>
      </p:nvGrpSpPr>
      <p:grpSpPr>
        <a:xfrm>
          <a:off x="0" y="0"/>
          <a:ext cx="0" cy="0"/>
          <a:chOff x="0" y="0"/>
          <a:chExt cx="0" cy="0"/>
        </a:xfrm>
      </p:grpSpPr>
      <p:sp>
        <p:nvSpPr>
          <p:cNvPr id="95" name="Google Shape;95;p18"/>
          <p:cNvSpPr/>
          <p:nvPr/>
        </p:nvSpPr>
        <p:spPr>
          <a:xfrm>
            <a:off x="630953" y="425196"/>
            <a:ext cx="7882109" cy="23317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THE ROAD SO FAR</a:t>
            </a:r>
            <a:endParaRPr b="0" i="0" sz="1000" u="none" cap="none" strike="noStrike">
              <a:solidFill>
                <a:schemeClr val="dk1"/>
              </a:solidFill>
              <a:latin typeface="Calibri"/>
              <a:ea typeface="Calibri"/>
              <a:cs typeface="Calibri"/>
              <a:sym typeface="Calibri"/>
            </a:endParaRPr>
          </a:p>
        </p:txBody>
      </p:sp>
      <p:sp>
        <p:nvSpPr>
          <p:cNvPr id="96" name="Google Shape;96;p18"/>
          <p:cNvSpPr/>
          <p:nvPr/>
        </p:nvSpPr>
        <p:spPr>
          <a:xfrm>
            <a:off x="630953" y="685800"/>
            <a:ext cx="7882109" cy="5829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2300"/>
              <a:buFont typeface="Arial"/>
              <a:buNone/>
            </a:pPr>
            <a:r>
              <a:rPr b="1" i="0" lang="en" sz="2300" u="none" cap="none" strike="noStrike">
                <a:solidFill>
                  <a:srgbClr val="F4F6FA"/>
                </a:solidFill>
                <a:latin typeface="Arial"/>
                <a:ea typeface="Arial"/>
                <a:cs typeface="Arial"/>
                <a:sym typeface="Arial"/>
              </a:rPr>
              <a:t>Cisco → Mubble → Pramati → Tornado → Powerplay</a:t>
            </a:r>
            <a:endParaRPr b="0" i="0" sz="2300" u="none" cap="none" strike="noStrike">
              <a:solidFill>
                <a:schemeClr val="dk1"/>
              </a:solidFill>
              <a:latin typeface="Calibri"/>
              <a:ea typeface="Calibri"/>
              <a:cs typeface="Calibri"/>
              <a:sym typeface="Calibri"/>
            </a:endParaRPr>
          </a:p>
        </p:txBody>
      </p:sp>
      <p:cxnSp>
        <p:nvCxnSpPr>
          <p:cNvPr id="97" name="Google Shape;97;p18"/>
          <p:cNvCxnSpPr/>
          <p:nvPr/>
        </p:nvCxnSpPr>
        <p:spPr>
          <a:xfrm>
            <a:off x="1287796" y="2304288"/>
            <a:ext cx="6568425" cy="0"/>
          </a:xfrm>
          <a:prstGeom prst="straightConnector1">
            <a:avLst/>
          </a:prstGeom>
          <a:noFill/>
          <a:ln cap="flat" cmpd="sng" w="19050">
            <a:solidFill>
              <a:srgbClr val="2C3340"/>
            </a:solidFill>
            <a:prstDash val="solid"/>
            <a:round/>
            <a:headEnd len="sm" w="sm" type="none"/>
            <a:tailEnd len="sm" w="sm" type="none"/>
          </a:ln>
        </p:spPr>
      </p:cxnSp>
      <p:sp>
        <p:nvSpPr>
          <p:cNvPr id="98" name="Google Shape;98;p18"/>
          <p:cNvSpPr/>
          <p:nvPr/>
        </p:nvSpPr>
        <p:spPr>
          <a:xfrm>
            <a:off x="1075192" y="2091690"/>
            <a:ext cx="425207" cy="425196"/>
          </a:xfrm>
          <a:prstGeom prst="ellipse">
            <a:avLst/>
          </a:prstGeom>
          <a:solidFill>
            <a:srgbClr val="F59E0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9" name="Google Shape;99;p18"/>
          <p:cNvSpPr/>
          <p:nvPr/>
        </p:nvSpPr>
        <p:spPr>
          <a:xfrm>
            <a:off x="1075192" y="2091690"/>
            <a:ext cx="425207" cy="42519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E1117"/>
              </a:buClr>
              <a:buSzPts val="1400"/>
              <a:buFont typeface="Arial"/>
              <a:buNone/>
            </a:pPr>
            <a:r>
              <a:rPr b="1" i="0" lang="en" sz="1400" u="none" cap="none" strike="noStrike">
                <a:solidFill>
                  <a:srgbClr val="0E1117"/>
                </a:solidFill>
                <a:latin typeface="Arial"/>
                <a:ea typeface="Arial"/>
                <a:cs typeface="Arial"/>
                <a:sym typeface="Arial"/>
              </a:rPr>
              <a:t>1</a:t>
            </a:r>
            <a:endParaRPr b="0" i="0" sz="1400" u="none" cap="none" strike="noStrike">
              <a:solidFill>
                <a:schemeClr val="dk1"/>
              </a:solidFill>
              <a:latin typeface="Calibri"/>
              <a:ea typeface="Calibri"/>
              <a:cs typeface="Calibri"/>
              <a:sym typeface="Calibri"/>
            </a:endParaRPr>
          </a:p>
        </p:txBody>
      </p:sp>
      <p:sp>
        <p:nvSpPr>
          <p:cNvPr id="100" name="Google Shape;100;p18"/>
          <p:cNvSpPr/>
          <p:nvPr/>
        </p:nvSpPr>
        <p:spPr>
          <a:xfrm>
            <a:off x="699535" y="2640330"/>
            <a:ext cx="1176521"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4F6FA"/>
              </a:buClr>
              <a:buSzPts val="1100"/>
              <a:buFont typeface="Arial"/>
              <a:buNone/>
            </a:pPr>
            <a:r>
              <a:rPr b="1" i="0" lang="en" sz="1100" u="none" cap="none" strike="noStrike">
                <a:solidFill>
                  <a:srgbClr val="F4F6FA"/>
                </a:solidFill>
                <a:latin typeface="Arial"/>
                <a:ea typeface="Arial"/>
                <a:cs typeface="Arial"/>
                <a:sym typeface="Arial"/>
              </a:rPr>
              <a:t>IIT Roorkee</a:t>
            </a:r>
            <a:endParaRPr b="0" i="0" sz="1100" u="none" cap="none" strike="noStrike">
              <a:solidFill>
                <a:schemeClr val="dk1"/>
              </a:solidFill>
              <a:latin typeface="Calibri"/>
              <a:ea typeface="Calibri"/>
              <a:cs typeface="Calibri"/>
              <a:sym typeface="Calibri"/>
            </a:endParaRPr>
          </a:p>
        </p:txBody>
      </p:sp>
      <p:sp>
        <p:nvSpPr>
          <p:cNvPr id="101" name="Google Shape;101;p18"/>
          <p:cNvSpPr/>
          <p:nvPr/>
        </p:nvSpPr>
        <p:spPr>
          <a:xfrm>
            <a:off x="699535" y="2969514"/>
            <a:ext cx="1176521" cy="2400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900"/>
              <a:buFont typeface="Arial"/>
              <a:buNone/>
            </a:pPr>
            <a:r>
              <a:rPr b="1" i="0" lang="en" sz="900" u="none" cap="none" strike="noStrike">
                <a:solidFill>
                  <a:srgbClr val="F59E0B"/>
                </a:solidFill>
                <a:latin typeface="Arial"/>
                <a:ea typeface="Arial"/>
                <a:cs typeface="Arial"/>
                <a:sym typeface="Arial"/>
              </a:rPr>
              <a:t>B.Tech</a:t>
            </a:r>
            <a:endParaRPr b="0" i="0" sz="900" u="none" cap="none" strike="noStrike">
              <a:solidFill>
                <a:schemeClr val="dk1"/>
              </a:solidFill>
              <a:latin typeface="Calibri"/>
              <a:ea typeface="Calibri"/>
              <a:cs typeface="Calibri"/>
              <a:sym typeface="Calibri"/>
            </a:endParaRPr>
          </a:p>
        </p:txBody>
      </p:sp>
      <p:sp>
        <p:nvSpPr>
          <p:cNvPr id="102" name="Google Shape;102;p18"/>
          <p:cNvSpPr/>
          <p:nvPr/>
        </p:nvSpPr>
        <p:spPr>
          <a:xfrm>
            <a:off x="733826" y="3202686"/>
            <a:ext cx="1107939" cy="960120"/>
          </a:xfrm>
          <a:prstGeom prst="rect">
            <a:avLst/>
          </a:prstGeom>
          <a:noFill/>
          <a:ln>
            <a:noFill/>
          </a:ln>
        </p:spPr>
        <p:txBody>
          <a:bodyPr anchorCtr="0" anchor="ctr" bIns="34275" lIns="68575" spcFirstLastPara="1" rIns="68575" wrap="square" tIns="34275">
            <a:noAutofit/>
          </a:bodyPr>
          <a:lstStyle/>
          <a:p>
            <a:pPr indent="0" lvl="0" marL="0" marR="0" rtl="0" algn="ctr">
              <a:lnSpc>
                <a:spcPct val="130434"/>
              </a:lnSpc>
              <a:spcBef>
                <a:spcPts val="0"/>
              </a:spcBef>
              <a:spcAft>
                <a:spcPts val="0"/>
              </a:spcAft>
              <a:buClr>
                <a:srgbClr val="AEB6C4"/>
              </a:buClr>
              <a:buSzPts val="900"/>
              <a:buFont typeface="Arial"/>
              <a:buNone/>
            </a:pPr>
            <a:r>
              <a:rPr b="0" i="0" lang="en" sz="900" u="none" cap="none" strike="noStrike">
                <a:solidFill>
                  <a:srgbClr val="AEB6C4"/>
                </a:solidFill>
                <a:latin typeface="Arial"/>
                <a:ea typeface="Arial"/>
                <a:cs typeface="Arial"/>
                <a:sym typeface="Arial"/>
              </a:rPr>
              <a:t>Fundamentals, friends, first code</a:t>
            </a:r>
            <a:endParaRPr b="0" i="0" sz="900" u="none" cap="none" strike="noStrike">
              <a:solidFill>
                <a:schemeClr val="dk1"/>
              </a:solidFill>
              <a:latin typeface="Calibri"/>
              <a:ea typeface="Calibri"/>
              <a:cs typeface="Calibri"/>
              <a:sym typeface="Calibri"/>
            </a:endParaRPr>
          </a:p>
        </p:txBody>
      </p:sp>
      <p:sp>
        <p:nvSpPr>
          <p:cNvPr id="103" name="Google Shape;103;p18"/>
          <p:cNvSpPr/>
          <p:nvPr/>
        </p:nvSpPr>
        <p:spPr>
          <a:xfrm>
            <a:off x="2388877" y="2091690"/>
            <a:ext cx="425207" cy="425196"/>
          </a:xfrm>
          <a:prstGeom prst="ellipse">
            <a:avLst/>
          </a:prstGeom>
          <a:solidFill>
            <a:srgbClr val="F59E0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4" name="Google Shape;104;p18"/>
          <p:cNvSpPr/>
          <p:nvPr/>
        </p:nvSpPr>
        <p:spPr>
          <a:xfrm>
            <a:off x="2388877" y="2091690"/>
            <a:ext cx="425207" cy="42519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E1117"/>
              </a:buClr>
              <a:buSzPts val="1400"/>
              <a:buFont typeface="Arial"/>
              <a:buNone/>
            </a:pPr>
            <a:r>
              <a:rPr b="1" i="0" lang="en" sz="1400" u="none" cap="none" strike="noStrike">
                <a:solidFill>
                  <a:srgbClr val="0E1117"/>
                </a:solidFill>
                <a:latin typeface="Arial"/>
                <a:ea typeface="Arial"/>
                <a:cs typeface="Arial"/>
                <a:sym typeface="Arial"/>
              </a:rPr>
              <a:t>2</a:t>
            </a:r>
            <a:endParaRPr b="0" i="0" sz="1400" u="none" cap="none" strike="noStrike">
              <a:solidFill>
                <a:schemeClr val="dk1"/>
              </a:solidFill>
              <a:latin typeface="Calibri"/>
              <a:ea typeface="Calibri"/>
              <a:cs typeface="Calibri"/>
              <a:sym typeface="Calibri"/>
            </a:endParaRPr>
          </a:p>
        </p:txBody>
      </p:sp>
      <p:sp>
        <p:nvSpPr>
          <p:cNvPr id="105" name="Google Shape;105;p18"/>
          <p:cNvSpPr/>
          <p:nvPr/>
        </p:nvSpPr>
        <p:spPr>
          <a:xfrm>
            <a:off x="2013219" y="2640330"/>
            <a:ext cx="1176521"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4F6FA"/>
              </a:buClr>
              <a:buSzPts val="1100"/>
              <a:buFont typeface="Arial"/>
              <a:buNone/>
            </a:pPr>
            <a:r>
              <a:rPr b="1" i="0" lang="en" sz="1100" u="none" cap="none" strike="noStrike">
                <a:solidFill>
                  <a:srgbClr val="F4F6FA"/>
                </a:solidFill>
                <a:latin typeface="Arial"/>
                <a:ea typeface="Arial"/>
                <a:cs typeface="Arial"/>
                <a:sym typeface="Arial"/>
              </a:rPr>
              <a:t>Cisco</a:t>
            </a:r>
            <a:endParaRPr b="0" i="0" sz="1100" u="none" cap="none" strike="noStrike">
              <a:solidFill>
                <a:schemeClr val="dk1"/>
              </a:solidFill>
              <a:latin typeface="Calibri"/>
              <a:ea typeface="Calibri"/>
              <a:cs typeface="Calibri"/>
              <a:sym typeface="Calibri"/>
            </a:endParaRPr>
          </a:p>
        </p:txBody>
      </p:sp>
      <p:sp>
        <p:nvSpPr>
          <p:cNvPr id="106" name="Google Shape;106;p18"/>
          <p:cNvSpPr/>
          <p:nvPr/>
        </p:nvSpPr>
        <p:spPr>
          <a:xfrm>
            <a:off x="2013219" y="2969514"/>
            <a:ext cx="1176521" cy="2400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900"/>
              <a:buFont typeface="Arial"/>
              <a:buNone/>
            </a:pPr>
            <a:r>
              <a:rPr b="1" i="0" lang="en" sz="900" u="none" cap="none" strike="noStrike">
                <a:solidFill>
                  <a:srgbClr val="F59E0B"/>
                </a:solidFill>
                <a:latin typeface="Arial"/>
                <a:ea typeface="Arial"/>
                <a:cs typeface="Arial"/>
                <a:sym typeface="Arial"/>
              </a:rPr>
              <a:t>Engineer</a:t>
            </a:r>
            <a:endParaRPr b="0" i="0" sz="900" u="none" cap="none" strike="noStrike">
              <a:solidFill>
                <a:schemeClr val="dk1"/>
              </a:solidFill>
              <a:latin typeface="Calibri"/>
              <a:ea typeface="Calibri"/>
              <a:cs typeface="Calibri"/>
              <a:sym typeface="Calibri"/>
            </a:endParaRPr>
          </a:p>
        </p:txBody>
      </p:sp>
      <p:sp>
        <p:nvSpPr>
          <p:cNvPr id="107" name="Google Shape;107;p18"/>
          <p:cNvSpPr/>
          <p:nvPr/>
        </p:nvSpPr>
        <p:spPr>
          <a:xfrm>
            <a:off x="2047510" y="3202686"/>
            <a:ext cx="1107939" cy="960120"/>
          </a:xfrm>
          <a:prstGeom prst="rect">
            <a:avLst/>
          </a:prstGeom>
          <a:noFill/>
          <a:ln>
            <a:noFill/>
          </a:ln>
        </p:spPr>
        <p:txBody>
          <a:bodyPr anchorCtr="0" anchor="ctr" bIns="34275" lIns="68575" spcFirstLastPara="1" rIns="68575" wrap="square" tIns="34275">
            <a:noAutofit/>
          </a:bodyPr>
          <a:lstStyle/>
          <a:p>
            <a:pPr indent="0" lvl="0" marL="0" marR="0" rtl="0" algn="ctr">
              <a:lnSpc>
                <a:spcPct val="130434"/>
              </a:lnSpc>
              <a:spcBef>
                <a:spcPts val="0"/>
              </a:spcBef>
              <a:spcAft>
                <a:spcPts val="0"/>
              </a:spcAft>
              <a:buClr>
                <a:srgbClr val="AEB6C4"/>
              </a:buClr>
              <a:buSzPts val="900"/>
              <a:buFont typeface="Arial"/>
              <a:buNone/>
            </a:pPr>
            <a:r>
              <a:rPr b="0" i="0" lang="en" sz="900" u="none" cap="none" strike="noStrike">
                <a:solidFill>
                  <a:srgbClr val="AEB6C4"/>
                </a:solidFill>
                <a:latin typeface="Arial"/>
                <a:ea typeface="Arial"/>
                <a:cs typeface="Arial"/>
                <a:sym typeface="Arial"/>
              </a:rPr>
              <a:t>How big systems are really built</a:t>
            </a:r>
            <a:endParaRPr b="0" i="0" sz="900" u="none" cap="none" strike="noStrike">
              <a:solidFill>
                <a:schemeClr val="dk1"/>
              </a:solidFill>
              <a:latin typeface="Calibri"/>
              <a:ea typeface="Calibri"/>
              <a:cs typeface="Calibri"/>
              <a:sym typeface="Calibri"/>
            </a:endParaRPr>
          </a:p>
        </p:txBody>
      </p:sp>
      <p:sp>
        <p:nvSpPr>
          <p:cNvPr id="108" name="Google Shape;108;p18"/>
          <p:cNvSpPr/>
          <p:nvPr/>
        </p:nvSpPr>
        <p:spPr>
          <a:xfrm>
            <a:off x="3702561" y="2091690"/>
            <a:ext cx="425207" cy="425196"/>
          </a:xfrm>
          <a:prstGeom prst="ellipse">
            <a:avLst/>
          </a:prstGeom>
          <a:solidFill>
            <a:srgbClr val="F59E0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9" name="Google Shape;109;p18"/>
          <p:cNvSpPr/>
          <p:nvPr/>
        </p:nvSpPr>
        <p:spPr>
          <a:xfrm>
            <a:off x="3702561" y="2091690"/>
            <a:ext cx="425207" cy="42519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E1117"/>
              </a:buClr>
              <a:buSzPts val="1400"/>
              <a:buFont typeface="Arial"/>
              <a:buNone/>
            </a:pPr>
            <a:r>
              <a:rPr b="1" i="0" lang="en" sz="1400" u="none" cap="none" strike="noStrike">
                <a:solidFill>
                  <a:srgbClr val="0E1117"/>
                </a:solidFill>
                <a:latin typeface="Arial"/>
                <a:ea typeface="Arial"/>
                <a:cs typeface="Arial"/>
                <a:sym typeface="Arial"/>
              </a:rPr>
              <a:t>3</a:t>
            </a:r>
            <a:endParaRPr b="0" i="0" sz="1400" u="none" cap="none" strike="noStrike">
              <a:solidFill>
                <a:schemeClr val="dk1"/>
              </a:solidFill>
              <a:latin typeface="Calibri"/>
              <a:ea typeface="Calibri"/>
              <a:cs typeface="Calibri"/>
              <a:sym typeface="Calibri"/>
            </a:endParaRPr>
          </a:p>
        </p:txBody>
      </p:sp>
      <p:sp>
        <p:nvSpPr>
          <p:cNvPr id="110" name="Google Shape;110;p18"/>
          <p:cNvSpPr/>
          <p:nvPr/>
        </p:nvSpPr>
        <p:spPr>
          <a:xfrm>
            <a:off x="3326904" y="2640330"/>
            <a:ext cx="1176521"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4F6FA"/>
              </a:buClr>
              <a:buSzPts val="1100"/>
              <a:buFont typeface="Arial"/>
              <a:buNone/>
            </a:pPr>
            <a:r>
              <a:rPr b="1" i="0" lang="en" sz="1100" u="none" cap="none" strike="noStrike">
                <a:solidFill>
                  <a:srgbClr val="F4F6FA"/>
                </a:solidFill>
                <a:latin typeface="Arial"/>
                <a:ea typeface="Arial"/>
                <a:cs typeface="Arial"/>
                <a:sym typeface="Arial"/>
              </a:rPr>
              <a:t>Mubble</a:t>
            </a:r>
            <a:endParaRPr b="0" i="0" sz="1100" u="none" cap="none" strike="noStrike">
              <a:solidFill>
                <a:schemeClr val="dk1"/>
              </a:solidFill>
              <a:latin typeface="Calibri"/>
              <a:ea typeface="Calibri"/>
              <a:cs typeface="Calibri"/>
              <a:sym typeface="Calibri"/>
            </a:endParaRPr>
          </a:p>
        </p:txBody>
      </p:sp>
      <p:sp>
        <p:nvSpPr>
          <p:cNvPr id="111" name="Google Shape;111;p18"/>
          <p:cNvSpPr/>
          <p:nvPr/>
        </p:nvSpPr>
        <p:spPr>
          <a:xfrm>
            <a:off x="3326904" y="2969514"/>
            <a:ext cx="1176521" cy="2400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900"/>
              <a:buFont typeface="Arial"/>
              <a:buNone/>
            </a:pPr>
            <a:r>
              <a:rPr b="1" i="0" lang="en" sz="900" u="none" cap="none" strike="noStrike">
                <a:solidFill>
                  <a:srgbClr val="F59E0B"/>
                </a:solidFill>
                <a:latin typeface="Arial"/>
                <a:ea typeface="Arial"/>
                <a:cs typeface="Arial"/>
                <a:sym typeface="Arial"/>
              </a:rPr>
              <a:t>Early startup</a:t>
            </a:r>
            <a:endParaRPr b="0" i="0" sz="900" u="none" cap="none" strike="noStrike">
              <a:solidFill>
                <a:schemeClr val="dk1"/>
              </a:solidFill>
              <a:latin typeface="Calibri"/>
              <a:ea typeface="Calibri"/>
              <a:cs typeface="Calibri"/>
              <a:sym typeface="Calibri"/>
            </a:endParaRPr>
          </a:p>
        </p:txBody>
      </p:sp>
      <p:sp>
        <p:nvSpPr>
          <p:cNvPr id="112" name="Google Shape;112;p18"/>
          <p:cNvSpPr/>
          <p:nvPr/>
        </p:nvSpPr>
        <p:spPr>
          <a:xfrm>
            <a:off x="3361195" y="3202686"/>
            <a:ext cx="1107939" cy="960120"/>
          </a:xfrm>
          <a:prstGeom prst="rect">
            <a:avLst/>
          </a:prstGeom>
          <a:noFill/>
          <a:ln>
            <a:noFill/>
          </a:ln>
        </p:spPr>
        <p:txBody>
          <a:bodyPr anchorCtr="0" anchor="ctr" bIns="34275" lIns="68575" spcFirstLastPara="1" rIns="68575" wrap="square" tIns="34275">
            <a:noAutofit/>
          </a:bodyPr>
          <a:lstStyle/>
          <a:p>
            <a:pPr indent="0" lvl="0" marL="0" marR="0" rtl="0" algn="ctr">
              <a:lnSpc>
                <a:spcPct val="130434"/>
              </a:lnSpc>
              <a:spcBef>
                <a:spcPts val="0"/>
              </a:spcBef>
              <a:spcAft>
                <a:spcPts val="0"/>
              </a:spcAft>
              <a:buClr>
                <a:srgbClr val="AEB6C4"/>
              </a:buClr>
              <a:buSzPts val="900"/>
              <a:buFont typeface="Arial"/>
              <a:buNone/>
            </a:pPr>
            <a:r>
              <a:rPr b="0" i="0" lang="en" sz="900" u="none" cap="none" strike="noStrike">
                <a:solidFill>
                  <a:srgbClr val="AEB6C4"/>
                </a:solidFill>
                <a:latin typeface="Arial"/>
                <a:ea typeface="Arial"/>
                <a:cs typeface="Arial"/>
                <a:sym typeface="Arial"/>
              </a:rPr>
              <a:t>First taste of 0 → 1</a:t>
            </a:r>
            <a:endParaRPr b="0" i="0" sz="900" u="none" cap="none" strike="noStrike">
              <a:solidFill>
                <a:schemeClr val="dk1"/>
              </a:solidFill>
              <a:latin typeface="Calibri"/>
              <a:ea typeface="Calibri"/>
              <a:cs typeface="Calibri"/>
              <a:sym typeface="Calibri"/>
            </a:endParaRPr>
          </a:p>
        </p:txBody>
      </p:sp>
      <p:sp>
        <p:nvSpPr>
          <p:cNvPr id="113" name="Google Shape;113;p18"/>
          <p:cNvSpPr/>
          <p:nvPr/>
        </p:nvSpPr>
        <p:spPr>
          <a:xfrm>
            <a:off x="5016246" y="2091690"/>
            <a:ext cx="425207" cy="425196"/>
          </a:xfrm>
          <a:prstGeom prst="ellipse">
            <a:avLst/>
          </a:prstGeom>
          <a:solidFill>
            <a:srgbClr val="F59E0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4" name="Google Shape;114;p18"/>
          <p:cNvSpPr/>
          <p:nvPr/>
        </p:nvSpPr>
        <p:spPr>
          <a:xfrm>
            <a:off x="5016246" y="2091690"/>
            <a:ext cx="425207" cy="42519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E1117"/>
              </a:buClr>
              <a:buSzPts val="1400"/>
              <a:buFont typeface="Arial"/>
              <a:buNone/>
            </a:pPr>
            <a:r>
              <a:rPr b="1" i="0" lang="en" sz="1400" u="none" cap="none" strike="noStrike">
                <a:solidFill>
                  <a:srgbClr val="0E1117"/>
                </a:solidFill>
                <a:latin typeface="Arial"/>
                <a:ea typeface="Arial"/>
                <a:cs typeface="Arial"/>
                <a:sym typeface="Arial"/>
              </a:rPr>
              <a:t>4</a:t>
            </a:r>
            <a:endParaRPr b="0" i="0" sz="1400" u="none" cap="none" strike="noStrike">
              <a:solidFill>
                <a:schemeClr val="dk1"/>
              </a:solidFill>
              <a:latin typeface="Calibri"/>
              <a:ea typeface="Calibri"/>
              <a:cs typeface="Calibri"/>
              <a:sym typeface="Calibri"/>
            </a:endParaRPr>
          </a:p>
        </p:txBody>
      </p:sp>
      <p:sp>
        <p:nvSpPr>
          <p:cNvPr id="115" name="Google Shape;115;p18"/>
          <p:cNvSpPr/>
          <p:nvPr/>
        </p:nvSpPr>
        <p:spPr>
          <a:xfrm>
            <a:off x="4640590" y="2640330"/>
            <a:ext cx="1176521"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4F6FA"/>
              </a:buClr>
              <a:buSzPts val="1100"/>
              <a:buFont typeface="Arial"/>
              <a:buNone/>
            </a:pPr>
            <a:r>
              <a:rPr b="1" i="0" lang="en" sz="1100" u="none" cap="none" strike="noStrike">
                <a:solidFill>
                  <a:srgbClr val="F4F6FA"/>
                </a:solidFill>
                <a:latin typeface="Arial"/>
                <a:ea typeface="Arial"/>
                <a:cs typeface="Arial"/>
                <a:sym typeface="Arial"/>
              </a:rPr>
              <a:t>Pramati</a:t>
            </a:r>
            <a:endParaRPr b="0" i="0" sz="1100" u="none" cap="none" strike="noStrike">
              <a:solidFill>
                <a:schemeClr val="dk1"/>
              </a:solidFill>
              <a:latin typeface="Calibri"/>
              <a:ea typeface="Calibri"/>
              <a:cs typeface="Calibri"/>
              <a:sym typeface="Calibri"/>
            </a:endParaRPr>
          </a:p>
        </p:txBody>
      </p:sp>
      <p:sp>
        <p:nvSpPr>
          <p:cNvPr id="116" name="Google Shape;116;p18"/>
          <p:cNvSpPr/>
          <p:nvPr/>
        </p:nvSpPr>
        <p:spPr>
          <a:xfrm>
            <a:off x="4640590" y="2969514"/>
            <a:ext cx="1176521" cy="2400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900"/>
              <a:buFont typeface="Arial"/>
              <a:buNone/>
            </a:pPr>
            <a:r>
              <a:rPr b="1" i="0" lang="en" sz="900" u="none" cap="none" strike="noStrike">
                <a:solidFill>
                  <a:srgbClr val="F59E0B"/>
                </a:solidFill>
                <a:latin typeface="Arial"/>
                <a:ea typeface="Arial"/>
                <a:cs typeface="Arial"/>
                <a:sym typeface="Arial"/>
              </a:rPr>
              <a:t>Product eng.</a:t>
            </a:r>
            <a:endParaRPr b="0" i="0" sz="900" u="none" cap="none" strike="noStrike">
              <a:solidFill>
                <a:schemeClr val="dk1"/>
              </a:solidFill>
              <a:latin typeface="Calibri"/>
              <a:ea typeface="Calibri"/>
              <a:cs typeface="Calibri"/>
              <a:sym typeface="Calibri"/>
            </a:endParaRPr>
          </a:p>
        </p:txBody>
      </p:sp>
      <p:sp>
        <p:nvSpPr>
          <p:cNvPr id="117" name="Google Shape;117;p18"/>
          <p:cNvSpPr/>
          <p:nvPr/>
        </p:nvSpPr>
        <p:spPr>
          <a:xfrm>
            <a:off x="4674881" y="3202686"/>
            <a:ext cx="1107939" cy="960120"/>
          </a:xfrm>
          <a:prstGeom prst="rect">
            <a:avLst/>
          </a:prstGeom>
          <a:noFill/>
          <a:ln>
            <a:noFill/>
          </a:ln>
        </p:spPr>
        <p:txBody>
          <a:bodyPr anchorCtr="0" anchor="ctr" bIns="34275" lIns="68575" spcFirstLastPara="1" rIns="68575" wrap="square" tIns="34275">
            <a:noAutofit/>
          </a:bodyPr>
          <a:lstStyle/>
          <a:p>
            <a:pPr indent="0" lvl="0" marL="0" marR="0" rtl="0" algn="ctr">
              <a:lnSpc>
                <a:spcPct val="130434"/>
              </a:lnSpc>
              <a:spcBef>
                <a:spcPts val="0"/>
              </a:spcBef>
              <a:spcAft>
                <a:spcPts val="0"/>
              </a:spcAft>
              <a:buClr>
                <a:srgbClr val="AEB6C4"/>
              </a:buClr>
              <a:buSzPts val="900"/>
              <a:buFont typeface="Arial"/>
              <a:buNone/>
            </a:pPr>
            <a:r>
              <a:rPr b="0" i="0" lang="en" sz="900" u="none" cap="none" strike="noStrike">
                <a:solidFill>
                  <a:srgbClr val="AEB6C4"/>
                </a:solidFill>
                <a:latin typeface="Arial"/>
                <a:ea typeface="Arial"/>
                <a:cs typeface="Arial"/>
                <a:sym typeface="Arial"/>
              </a:rPr>
              <a:t>Products at enterprise scale</a:t>
            </a:r>
            <a:endParaRPr b="0" i="0" sz="900" u="none" cap="none" strike="noStrike">
              <a:solidFill>
                <a:schemeClr val="dk1"/>
              </a:solidFill>
              <a:latin typeface="Calibri"/>
              <a:ea typeface="Calibri"/>
              <a:cs typeface="Calibri"/>
              <a:sym typeface="Calibri"/>
            </a:endParaRPr>
          </a:p>
        </p:txBody>
      </p:sp>
      <p:sp>
        <p:nvSpPr>
          <p:cNvPr id="118" name="Google Shape;118;p18"/>
          <p:cNvSpPr/>
          <p:nvPr/>
        </p:nvSpPr>
        <p:spPr>
          <a:xfrm>
            <a:off x="6329931" y="2091690"/>
            <a:ext cx="425207" cy="425196"/>
          </a:xfrm>
          <a:prstGeom prst="ellipse">
            <a:avLst/>
          </a:prstGeom>
          <a:solidFill>
            <a:srgbClr val="F59E0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9" name="Google Shape;119;p18"/>
          <p:cNvSpPr/>
          <p:nvPr/>
        </p:nvSpPr>
        <p:spPr>
          <a:xfrm>
            <a:off x="6329931" y="2091690"/>
            <a:ext cx="425207" cy="42519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E1117"/>
              </a:buClr>
              <a:buSzPts val="1400"/>
              <a:buFont typeface="Arial"/>
              <a:buNone/>
            </a:pPr>
            <a:r>
              <a:rPr b="1" i="0" lang="en" sz="1400" u="none" cap="none" strike="noStrike">
                <a:solidFill>
                  <a:srgbClr val="0E1117"/>
                </a:solidFill>
                <a:latin typeface="Arial"/>
                <a:ea typeface="Arial"/>
                <a:cs typeface="Arial"/>
                <a:sym typeface="Arial"/>
              </a:rPr>
              <a:t>5</a:t>
            </a:r>
            <a:endParaRPr b="0" i="0" sz="1400" u="none" cap="none" strike="noStrike">
              <a:solidFill>
                <a:schemeClr val="dk1"/>
              </a:solidFill>
              <a:latin typeface="Calibri"/>
              <a:ea typeface="Calibri"/>
              <a:cs typeface="Calibri"/>
              <a:sym typeface="Calibri"/>
            </a:endParaRPr>
          </a:p>
        </p:txBody>
      </p:sp>
      <p:sp>
        <p:nvSpPr>
          <p:cNvPr id="120" name="Google Shape;120;p18"/>
          <p:cNvSpPr/>
          <p:nvPr/>
        </p:nvSpPr>
        <p:spPr>
          <a:xfrm>
            <a:off x="5954274" y="2640330"/>
            <a:ext cx="1176521"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4F6FA"/>
              </a:buClr>
              <a:buSzPts val="1100"/>
              <a:buFont typeface="Arial"/>
              <a:buNone/>
            </a:pPr>
            <a:r>
              <a:rPr b="1" i="0" lang="en" sz="1100" u="none" cap="none" strike="noStrike">
                <a:solidFill>
                  <a:srgbClr val="F4F6FA"/>
                </a:solidFill>
                <a:latin typeface="Arial"/>
                <a:ea typeface="Arial"/>
                <a:cs typeface="Arial"/>
                <a:sym typeface="Arial"/>
              </a:rPr>
              <a:t>Tornado</a:t>
            </a:r>
            <a:endParaRPr b="0" i="0" sz="1100" u="none" cap="none" strike="noStrike">
              <a:solidFill>
                <a:schemeClr val="dk1"/>
              </a:solidFill>
              <a:latin typeface="Calibri"/>
              <a:ea typeface="Calibri"/>
              <a:cs typeface="Calibri"/>
              <a:sym typeface="Calibri"/>
            </a:endParaRPr>
          </a:p>
        </p:txBody>
      </p:sp>
      <p:sp>
        <p:nvSpPr>
          <p:cNvPr id="121" name="Google Shape;121;p18"/>
          <p:cNvSpPr/>
          <p:nvPr/>
        </p:nvSpPr>
        <p:spPr>
          <a:xfrm>
            <a:off x="5954274" y="2969514"/>
            <a:ext cx="1176521" cy="2400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900"/>
              <a:buFont typeface="Arial"/>
              <a:buNone/>
            </a:pPr>
            <a:r>
              <a:rPr b="1" i="0" lang="en" sz="900" u="none" cap="none" strike="noStrike">
                <a:solidFill>
                  <a:srgbClr val="F59E0B"/>
                </a:solidFill>
                <a:latin typeface="Arial"/>
                <a:ea typeface="Arial"/>
                <a:cs typeface="Arial"/>
                <a:sym typeface="Arial"/>
              </a:rPr>
              <a:t>CTO</a:t>
            </a:r>
            <a:endParaRPr b="0" i="0" sz="900" u="none" cap="none" strike="noStrike">
              <a:solidFill>
                <a:schemeClr val="dk1"/>
              </a:solidFill>
              <a:latin typeface="Calibri"/>
              <a:ea typeface="Calibri"/>
              <a:cs typeface="Calibri"/>
              <a:sym typeface="Calibri"/>
            </a:endParaRPr>
          </a:p>
        </p:txBody>
      </p:sp>
      <p:sp>
        <p:nvSpPr>
          <p:cNvPr id="122" name="Google Shape;122;p18"/>
          <p:cNvSpPr/>
          <p:nvPr/>
        </p:nvSpPr>
        <p:spPr>
          <a:xfrm>
            <a:off x="5988565" y="3202686"/>
            <a:ext cx="1107939" cy="960120"/>
          </a:xfrm>
          <a:prstGeom prst="rect">
            <a:avLst/>
          </a:prstGeom>
          <a:noFill/>
          <a:ln>
            <a:noFill/>
          </a:ln>
        </p:spPr>
        <p:txBody>
          <a:bodyPr anchorCtr="0" anchor="ctr" bIns="34275" lIns="68575" spcFirstLastPara="1" rIns="68575" wrap="square" tIns="34275">
            <a:noAutofit/>
          </a:bodyPr>
          <a:lstStyle/>
          <a:p>
            <a:pPr indent="0" lvl="0" marL="0" marR="0" rtl="0" algn="ctr">
              <a:lnSpc>
                <a:spcPct val="130434"/>
              </a:lnSpc>
              <a:spcBef>
                <a:spcPts val="0"/>
              </a:spcBef>
              <a:spcAft>
                <a:spcPts val="0"/>
              </a:spcAft>
              <a:buClr>
                <a:srgbClr val="AEB6C4"/>
              </a:buClr>
              <a:buSzPts val="900"/>
              <a:buFont typeface="Arial"/>
              <a:buNone/>
            </a:pPr>
            <a:r>
              <a:rPr b="0" i="0" lang="en" sz="900" u="none" cap="none" strike="noStrike">
                <a:solidFill>
                  <a:srgbClr val="AEB6C4"/>
                </a:solidFill>
                <a:latin typeface="Arial"/>
                <a:ea typeface="Arial"/>
                <a:cs typeface="Arial"/>
                <a:sym typeface="Arial"/>
              </a:rPr>
              <a:t>Owning tech, team &amp; outcomes</a:t>
            </a:r>
            <a:endParaRPr b="0" i="0" sz="900" u="none" cap="none" strike="noStrike">
              <a:solidFill>
                <a:schemeClr val="dk1"/>
              </a:solidFill>
              <a:latin typeface="Calibri"/>
              <a:ea typeface="Calibri"/>
              <a:cs typeface="Calibri"/>
              <a:sym typeface="Calibri"/>
            </a:endParaRPr>
          </a:p>
        </p:txBody>
      </p:sp>
      <p:sp>
        <p:nvSpPr>
          <p:cNvPr id="123" name="Google Shape;123;p18"/>
          <p:cNvSpPr/>
          <p:nvPr/>
        </p:nvSpPr>
        <p:spPr>
          <a:xfrm>
            <a:off x="7643617" y="2091690"/>
            <a:ext cx="425207" cy="425196"/>
          </a:xfrm>
          <a:prstGeom prst="ellipse">
            <a:avLst/>
          </a:prstGeom>
          <a:solidFill>
            <a:srgbClr val="F59E0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4" name="Google Shape;124;p18"/>
          <p:cNvSpPr/>
          <p:nvPr/>
        </p:nvSpPr>
        <p:spPr>
          <a:xfrm>
            <a:off x="7643617" y="2091690"/>
            <a:ext cx="425207" cy="42519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E1117"/>
              </a:buClr>
              <a:buSzPts val="1400"/>
              <a:buFont typeface="Arial"/>
              <a:buNone/>
            </a:pPr>
            <a:r>
              <a:rPr b="1" i="0" lang="en" sz="1400" u="none" cap="none" strike="noStrike">
                <a:solidFill>
                  <a:srgbClr val="0E1117"/>
                </a:solidFill>
                <a:latin typeface="Arial"/>
                <a:ea typeface="Arial"/>
                <a:cs typeface="Arial"/>
                <a:sym typeface="Arial"/>
              </a:rPr>
              <a:t>6</a:t>
            </a:r>
            <a:endParaRPr b="0" i="0" sz="1400" u="none" cap="none" strike="noStrike">
              <a:solidFill>
                <a:schemeClr val="dk1"/>
              </a:solidFill>
              <a:latin typeface="Calibri"/>
              <a:ea typeface="Calibri"/>
              <a:cs typeface="Calibri"/>
              <a:sym typeface="Calibri"/>
            </a:endParaRPr>
          </a:p>
        </p:txBody>
      </p:sp>
      <p:sp>
        <p:nvSpPr>
          <p:cNvPr id="125" name="Google Shape;125;p18"/>
          <p:cNvSpPr/>
          <p:nvPr/>
        </p:nvSpPr>
        <p:spPr>
          <a:xfrm>
            <a:off x="7267959" y="2640330"/>
            <a:ext cx="1176521"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4F6FA"/>
              </a:buClr>
              <a:buSzPts val="1100"/>
              <a:buFont typeface="Arial"/>
              <a:buNone/>
            </a:pPr>
            <a:r>
              <a:rPr b="1" i="0" lang="en" sz="1100" u="none" cap="none" strike="noStrike">
                <a:solidFill>
                  <a:srgbClr val="F4F6FA"/>
                </a:solidFill>
                <a:latin typeface="Arial"/>
                <a:ea typeface="Arial"/>
                <a:cs typeface="Arial"/>
                <a:sym typeface="Arial"/>
              </a:rPr>
              <a:t>Powerplay</a:t>
            </a:r>
            <a:endParaRPr b="0" i="0" sz="1100" u="none" cap="none" strike="noStrike">
              <a:solidFill>
                <a:schemeClr val="dk1"/>
              </a:solidFill>
              <a:latin typeface="Calibri"/>
              <a:ea typeface="Calibri"/>
              <a:cs typeface="Calibri"/>
              <a:sym typeface="Calibri"/>
            </a:endParaRPr>
          </a:p>
        </p:txBody>
      </p:sp>
      <p:sp>
        <p:nvSpPr>
          <p:cNvPr id="126" name="Google Shape;126;p18"/>
          <p:cNvSpPr/>
          <p:nvPr/>
        </p:nvSpPr>
        <p:spPr>
          <a:xfrm>
            <a:off x="7267959" y="2969514"/>
            <a:ext cx="1176521" cy="2400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900"/>
              <a:buFont typeface="Arial"/>
              <a:buNone/>
            </a:pPr>
            <a:r>
              <a:rPr b="1" i="0" lang="en" sz="900" u="none" cap="none" strike="noStrike">
                <a:solidFill>
                  <a:srgbClr val="F59E0B"/>
                </a:solidFill>
                <a:latin typeface="Arial"/>
                <a:ea typeface="Arial"/>
                <a:cs typeface="Arial"/>
                <a:sym typeface="Arial"/>
              </a:rPr>
              <a:t>Founding Eng.</a:t>
            </a:r>
            <a:endParaRPr b="0" i="0" sz="900" u="none" cap="none" strike="noStrike">
              <a:solidFill>
                <a:schemeClr val="dk1"/>
              </a:solidFill>
              <a:latin typeface="Calibri"/>
              <a:ea typeface="Calibri"/>
              <a:cs typeface="Calibri"/>
              <a:sym typeface="Calibri"/>
            </a:endParaRPr>
          </a:p>
        </p:txBody>
      </p:sp>
      <p:sp>
        <p:nvSpPr>
          <p:cNvPr id="127" name="Google Shape;127;p18"/>
          <p:cNvSpPr/>
          <p:nvPr/>
        </p:nvSpPr>
        <p:spPr>
          <a:xfrm>
            <a:off x="7302250" y="3202686"/>
            <a:ext cx="1107939" cy="960120"/>
          </a:xfrm>
          <a:prstGeom prst="rect">
            <a:avLst/>
          </a:prstGeom>
          <a:noFill/>
          <a:ln>
            <a:noFill/>
          </a:ln>
        </p:spPr>
        <p:txBody>
          <a:bodyPr anchorCtr="0" anchor="ctr" bIns="34275" lIns="68575" spcFirstLastPara="1" rIns="68575" wrap="square" tIns="34275">
            <a:noAutofit/>
          </a:bodyPr>
          <a:lstStyle/>
          <a:p>
            <a:pPr indent="0" lvl="0" marL="0" marR="0" rtl="0" algn="ctr">
              <a:lnSpc>
                <a:spcPct val="130434"/>
              </a:lnSpc>
              <a:spcBef>
                <a:spcPts val="0"/>
              </a:spcBef>
              <a:spcAft>
                <a:spcPts val="0"/>
              </a:spcAft>
              <a:buClr>
                <a:srgbClr val="AEB6C4"/>
              </a:buClr>
              <a:buSzPts val="900"/>
              <a:buFont typeface="Arial"/>
              <a:buNone/>
            </a:pPr>
            <a:r>
              <a:rPr b="0" i="0" lang="en" sz="900" u="none" cap="none" strike="noStrike">
                <a:solidFill>
                  <a:srgbClr val="AEB6C4"/>
                </a:solidFill>
                <a:latin typeface="Arial"/>
                <a:ea typeface="Arial"/>
                <a:cs typeface="Arial"/>
                <a:sym typeface="Arial"/>
              </a:rPr>
              <a:t>Digitising construction</a:t>
            </a:r>
            <a:endParaRPr b="0" i="0" sz="900" u="none" cap="none" strike="noStrike">
              <a:solidFill>
                <a:schemeClr val="dk1"/>
              </a:solidFill>
              <a:latin typeface="Calibri"/>
              <a:ea typeface="Calibri"/>
              <a:cs typeface="Calibri"/>
              <a:sym typeface="Calibri"/>
            </a:endParaRPr>
          </a:p>
        </p:txBody>
      </p:sp>
      <p:sp>
        <p:nvSpPr>
          <p:cNvPr id="128" name="Google Shape;128;p18"/>
          <p:cNvSpPr/>
          <p:nvPr/>
        </p:nvSpPr>
        <p:spPr>
          <a:xfrm>
            <a:off x="630953" y="4149090"/>
            <a:ext cx="7882109" cy="48006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6B7382"/>
              </a:buClr>
              <a:buSzPts val="1200"/>
              <a:buFont typeface="Arial"/>
              <a:buNone/>
            </a:pPr>
            <a:r>
              <a:rPr b="0" i="1" lang="en" sz="1200" u="none" cap="none" strike="noStrike">
                <a:solidFill>
                  <a:srgbClr val="6B7382"/>
                </a:solidFill>
                <a:latin typeface="Arial"/>
                <a:ea typeface="Arial"/>
                <a:cs typeface="Arial"/>
                <a:sym typeface="Arial"/>
              </a:rPr>
              <a:t>Each step just opened the next door. I only see the line looking backward.</a:t>
            </a:r>
            <a:endParaRPr b="0" i="0" sz="1200" u="none" cap="none" strike="noStrike">
              <a:solidFill>
                <a:schemeClr val="dk1"/>
              </a:solidFill>
              <a:latin typeface="Calibri"/>
              <a:ea typeface="Calibri"/>
              <a:cs typeface="Calibri"/>
              <a:sym typeface="Calibri"/>
            </a:endParaRPr>
          </a:p>
        </p:txBody>
      </p:sp>
      <p:sp>
        <p:nvSpPr>
          <p:cNvPr id="129" name="Google Shape;129;p18"/>
          <p:cNvSpPr/>
          <p:nvPr/>
        </p:nvSpPr>
        <p:spPr>
          <a:xfrm>
            <a:off x="630953" y="4800600"/>
            <a:ext cx="411491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FROM CAMPUS TO STARTUP</a:t>
            </a:r>
            <a:endParaRPr b="0" i="0" sz="700" u="none" cap="none" strike="noStrike">
              <a:solidFill>
                <a:schemeClr val="dk1"/>
              </a:solidFill>
              <a:latin typeface="Calibri"/>
              <a:ea typeface="Calibri"/>
              <a:cs typeface="Calibri"/>
              <a:sym typeface="Calibri"/>
            </a:endParaRPr>
          </a:p>
        </p:txBody>
      </p:sp>
      <p:sp>
        <p:nvSpPr>
          <p:cNvPr id="130" name="Google Shape;130;p18"/>
          <p:cNvSpPr/>
          <p:nvPr/>
        </p:nvSpPr>
        <p:spPr>
          <a:xfrm>
            <a:off x="7964407" y="4800600"/>
            <a:ext cx="548655"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02</a:t>
            </a:r>
            <a:endParaRPr b="0" i="0" sz="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500"/>
                                        <p:tgtEl>
                                          <p:spTgt spid="9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500"/>
                                        <p:tgtEl>
                                          <p:spTgt spid="9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7"/>
                                        </p:tgtEl>
                                        <p:attrNameLst>
                                          <p:attrName>style.visibility</p:attrName>
                                        </p:attrNameLst>
                                      </p:cBhvr>
                                      <p:to>
                                        <p:strVal val="visible"/>
                                      </p:to>
                                    </p:set>
                                    <p:animEffect filter="fade" transition="in">
                                      <p:cBhvr>
                                        <p:cTn dur="500"/>
                                        <p:tgtEl>
                                          <p:spTgt spid="9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500"/>
                                        <p:tgtEl>
                                          <p:spTgt spid="9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500"/>
                                        <p:tgtEl>
                                          <p:spTgt spid="100"/>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500"/>
                                        <p:tgtEl>
                                          <p:spTgt spid="101"/>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500"/>
                                        <p:tgtEl>
                                          <p:spTgt spid="102"/>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500"/>
                                        <p:tgtEl>
                                          <p:spTgt spid="104"/>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500"/>
                                        <p:tgtEl>
                                          <p:spTgt spid="105"/>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500"/>
                                        <p:tgtEl>
                                          <p:spTgt spid="106"/>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07"/>
                                        </p:tgtEl>
                                        <p:attrNameLst>
                                          <p:attrName>style.visibility</p:attrName>
                                        </p:attrNameLst>
                                      </p:cBhvr>
                                      <p:to>
                                        <p:strVal val="visible"/>
                                      </p:to>
                                    </p:set>
                                    <p:animEffect filter="fade" transition="in">
                                      <p:cBhvr>
                                        <p:cTn dur="500"/>
                                        <p:tgtEl>
                                          <p:spTgt spid="107"/>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500"/>
                                        <p:tgtEl>
                                          <p:spTgt spid="109"/>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500"/>
                                        <p:tgtEl>
                                          <p:spTgt spid="110"/>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500"/>
                                        <p:tgtEl>
                                          <p:spTgt spid="111"/>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500"/>
                                        <p:tgtEl>
                                          <p:spTgt spid="112"/>
                                        </p:tgtEl>
                                      </p:cBhvr>
                                    </p:animEffect>
                                  </p:childTnLst>
                                </p:cTn>
                              </p:par>
                            </p:childTnLst>
                          </p:cTn>
                        </p:par>
                        <p:par>
                          <p:cTn fill="hold">
                            <p:stCondLst>
                              <p:cond delay="7500"/>
                            </p:stCondLst>
                            <p:childTnLst>
                              <p:par>
                                <p:cTn fill="hold" nodeType="after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500"/>
                                        <p:tgtEl>
                                          <p:spTgt spid="114"/>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500"/>
                                        <p:tgtEl>
                                          <p:spTgt spid="115"/>
                                        </p:tgtEl>
                                      </p:cBhvr>
                                    </p:animEffect>
                                  </p:childTnLst>
                                </p:cTn>
                              </p:par>
                            </p:childTnLst>
                          </p:cTn>
                        </p:par>
                        <p:par>
                          <p:cTn fill="hold">
                            <p:stCondLst>
                              <p:cond delay="8500"/>
                            </p:stCondLst>
                            <p:childTnLst>
                              <p:par>
                                <p:cTn fill="hold" nodeType="after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500"/>
                                        <p:tgtEl>
                                          <p:spTgt spid="116"/>
                                        </p:tgtEl>
                                      </p:cBhvr>
                                    </p:animEffect>
                                  </p:childTnLst>
                                </p:cTn>
                              </p:par>
                            </p:childTnLst>
                          </p:cTn>
                        </p:par>
                        <p:par>
                          <p:cTn fill="hold">
                            <p:stCondLst>
                              <p:cond delay="9000"/>
                            </p:stCondLst>
                            <p:childTnLst>
                              <p:par>
                                <p:cTn fill="hold" nodeType="after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500"/>
                                        <p:tgtEl>
                                          <p:spTgt spid="117"/>
                                        </p:tgtEl>
                                      </p:cBhvr>
                                    </p:animEffect>
                                  </p:childTnLst>
                                </p:cTn>
                              </p:par>
                            </p:childTnLst>
                          </p:cTn>
                        </p:par>
                        <p:par>
                          <p:cTn fill="hold">
                            <p:stCondLst>
                              <p:cond delay="9500"/>
                            </p:stCondLst>
                            <p:childTnLst>
                              <p:par>
                                <p:cTn fill="hold" nodeType="after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500"/>
                                        <p:tgtEl>
                                          <p:spTgt spid="119"/>
                                        </p:tgtEl>
                                      </p:cBhvr>
                                    </p:animEffect>
                                  </p:childTnLst>
                                </p:cTn>
                              </p:par>
                            </p:childTnLst>
                          </p:cTn>
                        </p:par>
                        <p:par>
                          <p:cTn fill="hold">
                            <p:stCondLst>
                              <p:cond delay="10000"/>
                            </p:stCondLst>
                            <p:childTnLst>
                              <p:par>
                                <p:cTn fill="hold" nodeType="after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500"/>
                                        <p:tgtEl>
                                          <p:spTgt spid="120"/>
                                        </p:tgtEl>
                                      </p:cBhvr>
                                    </p:animEffect>
                                  </p:childTnLst>
                                </p:cTn>
                              </p:par>
                            </p:childTnLst>
                          </p:cTn>
                        </p:par>
                        <p:par>
                          <p:cTn fill="hold">
                            <p:stCondLst>
                              <p:cond delay="10500"/>
                            </p:stCondLst>
                            <p:childTnLst>
                              <p:par>
                                <p:cTn fill="hold" nodeType="after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500"/>
                                        <p:tgtEl>
                                          <p:spTgt spid="121"/>
                                        </p:tgtEl>
                                      </p:cBhvr>
                                    </p:animEffect>
                                  </p:childTnLst>
                                </p:cTn>
                              </p:par>
                            </p:childTnLst>
                          </p:cTn>
                        </p:par>
                        <p:par>
                          <p:cTn fill="hold">
                            <p:stCondLst>
                              <p:cond delay="11000"/>
                            </p:stCondLst>
                            <p:childTnLst>
                              <p:par>
                                <p:cTn fill="hold" nodeType="afterEffect" presetClass="entr" presetID="10" presetSubtype="0">
                                  <p:stCondLst>
                                    <p:cond delay="0"/>
                                  </p:stCondLst>
                                  <p:childTnLst>
                                    <p:set>
                                      <p:cBhvr>
                                        <p:cTn dur="1" fill="hold">
                                          <p:stCondLst>
                                            <p:cond delay="0"/>
                                          </p:stCondLst>
                                        </p:cTn>
                                        <p:tgtEl>
                                          <p:spTgt spid="122"/>
                                        </p:tgtEl>
                                        <p:attrNameLst>
                                          <p:attrName>style.visibility</p:attrName>
                                        </p:attrNameLst>
                                      </p:cBhvr>
                                      <p:to>
                                        <p:strVal val="visible"/>
                                      </p:to>
                                    </p:set>
                                    <p:animEffect filter="fade" transition="in">
                                      <p:cBhvr>
                                        <p:cTn dur="500"/>
                                        <p:tgtEl>
                                          <p:spTgt spid="122"/>
                                        </p:tgtEl>
                                      </p:cBhvr>
                                    </p:animEffect>
                                  </p:childTnLst>
                                </p:cTn>
                              </p:par>
                            </p:childTnLst>
                          </p:cTn>
                        </p:par>
                        <p:par>
                          <p:cTn fill="hold">
                            <p:stCondLst>
                              <p:cond delay="11500"/>
                            </p:stCondLst>
                            <p:childTnLst>
                              <p:par>
                                <p:cTn fill="hold" nodeType="after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500"/>
                                        <p:tgtEl>
                                          <p:spTgt spid="124"/>
                                        </p:tgtEl>
                                      </p:cBhvr>
                                    </p:animEffect>
                                  </p:childTnLst>
                                </p:cTn>
                              </p:par>
                            </p:childTnLst>
                          </p:cTn>
                        </p:par>
                        <p:par>
                          <p:cTn fill="hold">
                            <p:stCondLst>
                              <p:cond delay="12000"/>
                            </p:stCondLst>
                            <p:childTnLst>
                              <p:par>
                                <p:cTn fill="hold" nodeType="after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500"/>
                                        <p:tgtEl>
                                          <p:spTgt spid="125"/>
                                        </p:tgtEl>
                                      </p:cBhvr>
                                    </p:animEffect>
                                  </p:childTnLst>
                                </p:cTn>
                              </p:par>
                            </p:childTnLst>
                          </p:cTn>
                        </p:par>
                        <p:par>
                          <p:cTn fill="hold">
                            <p:stCondLst>
                              <p:cond delay="12500"/>
                            </p:stCondLst>
                            <p:childTnLst>
                              <p:par>
                                <p:cTn fill="hold" nodeType="after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500"/>
                                        <p:tgtEl>
                                          <p:spTgt spid="126"/>
                                        </p:tgtEl>
                                      </p:cBhvr>
                                    </p:animEffect>
                                  </p:childTnLst>
                                </p:cTn>
                              </p:par>
                            </p:childTnLst>
                          </p:cTn>
                        </p:par>
                        <p:par>
                          <p:cTn fill="hold">
                            <p:stCondLst>
                              <p:cond delay="13000"/>
                            </p:stCondLst>
                            <p:childTnLst>
                              <p:par>
                                <p:cTn fill="hold" nodeType="after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500"/>
                                        <p:tgtEl>
                                          <p:spTgt spid="127"/>
                                        </p:tgtEl>
                                      </p:cBhvr>
                                    </p:animEffect>
                                  </p:childTnLst>
                                </p:cTn>
                              </p:par>
                            </p:childTnLst>
                          </p:cTn>
                        </p:par>
                        <p:par>
                          <p:cTn fill="hold">
                            <p:stCondLst>
                              <p:cond delay="13500"/>
                            </p:stCondLst>
                            <p:childTnLst>
                              <p:par>
                                <p:cTn fill="hold" nodeType="after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500"/>
                                        <p:tgtEl>
                                          <p:spTgt spid="128"/>
                                        </p:tgtEl>
                                      </p:cBhvr>
                                    </p:animEffect>
                                  </p:childTnLst>
                                </p:cTn>
                              </p:par>
                            </p:childTnLst>
                          </p:cTn>
                        </p:par>
                        <p:par>
                          <p:cTn fill="hold">
                            <p:stCondLst>
                              <p:cond delay="14000"/>
                            </p:stCondLst>
                            <p:childTnLst>
                              <p:par>
                                <p:cTn fill="hold" nodeType="after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childTnLst>
                          </p:cTn>
                        </p:par>
                        <p:par>
                          <p:cTn fill="hold">
                            <p:stCondLst>
                              <p:cond delay="14500"/>
                            </p:stCondLst>
                            <p:childTnLst>
                              <p:par>
                                <p:cTn fill="hold" nodeType="after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500"/>
                                        <p:tgtEl>
                                          <p:spTgt spid="1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B10"/>
        </a:solidFill>
      </p:bgPr>
    </p:bg>
    <p:spTree>
      <p:nvGrpSpPr>
        <p:cNvPr id="135" name="Shape 135"/>
        <p:cNvGrpSpPr/>
        <p:nvPr/>
      </p:nvGrpSpPr>
      <p:grpSpPr>
        <a:xfrm>
          <a:off x="0" y="0"/>
          <a:ext cx="0" cy="0"/>
          <a:chOff x="0" y="0"/>
          <a:chExt cx="0" cy="0"/>
        </a:xfrm>
      </p:grpSpPr>
      <p:sp>
        <p:nvSpPr>
          <p:cNvPr id="136" name="Google Shape;136;p19"/>
          <p:cNvSpPr/>
          <p:nvPr/>
        </p:nvSpPr>
        <p:spPr>
          <a:xfrm>
            <a:off x="-1783128" y="2263139"/>
            <a:ext cx="4800728" cy="480060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7" name="Google Shape;137;p19"/>
          <p:cNvSpPr/>
          <p:nvPr/>
        </p:nvSpPr>
        <p:spPr>
          <a:xfrm>
            <a:off x="-1111026" y="2935224"/>
            <a:ext cx="3456524" cy="3456432"/>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8" name="Google Shape;138;p19"/>
          <p:cNvSpPr/>
          <p:nvPr/>
        </p:nvSpPr>
        <p:spPr>
          <a:xfrm>
            <a:off x="630953" y="788670"/>
            <a:ext cx="2057455" cy="16459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430"/>
              </a:buClr>
              <a:buSzPts val="11300"/>
              <a:buFont typeface="Arial"/>
              <a:buNone/>
            </a:pPr>
            <a:r>
              <a:rPr b="1" i="0" lang="en" sz="11300" u="none" cap="none" strike="noStrike">
                <a:solidFill>
                  <a:srgbClr val="1F2430"/>
                </a:solidFill>
                <a:latin typeface="Arial"/>
                <a:ea typeface="Arial"/>
                <a:cs typeface="Arial"/>
                <a:sym typeface="Arial"/>
              </a:rPr>
              <a:t>02</a:t>
            </a:r>
            <a:endParaRPr b="0" i="0" sz="11300" u="none" cap="none" strike="noStrike">
              <a:solidFill>
                <a:schemeClr val="dk1"/>
              </a:solidFill>
              <a:latin typeface="Calibri"/>
              <a:ea typeface="Calibri"/>
              <a:cs typeface="Calibri"/>
              <a:sym typeface="Calibri"/>
            </a:endParaRPr>
          </a:p>
        </p:txBody>
      </p:sp>
      <p:sp>
        <p:nvSpPr>
          <p:cNvPr id="139" name="Google Shape;139;p19"/>
          <p:cNvSpPr/>
          <p:nvPr/>
        </p:nvSpPr>
        <p:spPr>
          <a:xfrm>
            <a:off x="658386" y="2482595"/>
            <a:ext cx="6858183"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UNLEARNING FIRST</a:t>
            </a:r>
            <a:endParaRPr b="0" i="0" sz="1000" u="none" cap="none" strike="noStrike">
              <a:solidFill>
                <a:schemeClr val="dk1"/>
              </a:solidFill>
              <a:latin typeface="Calibri"/>
              <a:ea typeface="Calibri"/>
              <a:cs typeface="Calibri"/>
              <a:sym typeface="Calibri"/>
            </a:endParaRPr>
          </a:p>
        </p:txBody>
      </p:sp>
      <p:sp>
        <p:nvSpPr>
          <p:cNvPr id="140" name="Google Shape;140;p19"/>
          <p:cNvSpPr/>
          <p:nvPr/>
        </p:nvSpPr>
        <p:spPr>
          <a:xfrm>
            <a:off x="630953" y="2729484"/>
            <a:ext cx="7269674" cy="1068324"/>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4F6FA"/>
              </a:buClr>
              <a:buSzPts val="3500"/>
              <a:buFont typeface="Arial"/>
              <a:buNone/>
            </a:pPr>
            <a:r>
              <a:rPr b="1" i="0" lang="en" sz="3500" u="none" cap="none" strike="noStrike">
                <a:solidFill>
                  <a:srgbClr val="F4F6FA"/>
                </a:solidFill>
                <a:latin typeface="Arial"/>
                <a:ea typeface="Arial"/>
                <a:cs typeface="Arial"/>
                <a:sym typeface="Arial"/>
              </a:rPr>
              <a:t>Three myths to drop</a:t>
            </a:r>
            <a:endParaRPr b="0" i="0" sz="3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4F6FA"/>
              </a:buClr>
              <a:buSzPts val="3500"/>
              <a:buFont typeface="Arial"/>
              <a:buNone/>
            </a:pPr>
            <a:r>
              <a:rPr b="1" i="0" lang="en" sz="3500" u="none" cap="none" strike="noStrike">
                <a:solidFill>
                  <a:srgbClr val="F4F6FA"/>
                </a:solidFill>
                <a:latin typeface="Arial"/>
                <a:ea typeface="Arial"/>
                <a:cs typeface="Arial"/>
                <a:sym typeface="Arial"/>
              </a:rPr>
              <a:t>in your first month</a:t>
            </a:r>
            <a:endParaRPr b="0" i="0" sz="3500" u="none" cap="none" strike="noStrike">
              <a:solidFill>
                <a:schemeClr val="dk1"/>
              </a:solidFill>
              <a:latin typeface="Calibri"/>
              <a:ea typeface="Calibri"/>
              <a:cs typeface="Calibri"/>
              <a:sym typeface="Calibri"/>
            </a:endParaRPr>
          </a:p>
        </p:txBody>
      </p:sp>
      <p:sp>
        <p:nvSpPr>
          <p:cNvPr id="141" name="Google Shape;141;p19"/>
          <p:cNvSpPr/>
          <p:nvPr/>
        </p:nvSpPr>
        <p:spPr>
          <a:xfrm>
            <a:off x="630953" y="3880104"/>
            <a:ext cx="6721019"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44444"/>
              </a:lnSpc>
              <a:spcBef>
                <a:spcPts val="0"/>
              </a:spcBef>
              <a:spcAft>
                <a:spcPts val="0"/>
              </a:spcAft>
              <a:buClr>
                <a:srgbClr val="AEB6C4"/>
              </a:buClr>
              <a:buSzPts val="1400"/>
              <a:buFont typeface="Arial"/>
              <a:buNone/>
            </a:pPr>
            <a:r>
              <a:rPr b="0" i="0" lang="en" sz="1400" u="none" cap="none" strike="noStrike">
                <a:solidFill>
                  <a:srgbClr val="AEB6C4"/>
                </a:solidFill>
                <a:latin typeface="Arial"/>
                <a:ea typeface="Arial"/>
                <a:cs typeface="Arial"/>
                <a:sym typeface="Arial"/>
              </a:rPr>
              <a:t>Before you learn anything new, unlearn these. They quietly steer people wrong for years.</a:t>
            </a:r>
            <a:endParaRPr b="0" i="0" sz="14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500"/>
                                        <p:tgtEl>
                                          <p:spTgt spid="13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500"/>
                                        <p:tgtEl>
                                          <p:spTgt spid="13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500"/>
                                        <p:tgtEl>
                                          <p:spTgt spid="140"/>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500"/>
                                        <p:tgtEl>
                                          <p:spTgt spid="1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117"/>
        </a:solidFill>
      </p:bgPr>
    </p:bg>
    <p:spTree>
      <p:nvGrpSpPr>
        <p:cNvPr id="146" name="Shape 146"/>
        <p:cNvGrpSpPr/>
        <p:nvPr/>
      </p:nvGrpSpPr>
      <p:grpSpPr>
        <a:xfrm>
          <a:off x="0" y="0"/>
          <a:ext cx="0" cy="0"/>
          <a:chOff x="0" y="0"/>
          <a:chExt cx="0" cy="0"/>
        </a:xfrm>
      </p:grpSpPr>
      <p:sp>
        <p:nvSpPr>
          <p:cNvPr id="147" name="Google Shape;147;p20"/>
          <p:cNvSpPr/>
          <p:nvPr/>
        </p:nvSpPr>
        <p:spPr>
          <a:xfrm>
            <a:off x="7086559" y="-1234440"/>
            <a:ext cx="3703419" cy="370332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8" name="Google Shape;148;p20"/>
          <p:cNvSpPr/>
          <p:nvPr/>
        </p:nvSpPr>
        <p:spPr>
          <a:xfrm>
            <a:off x="7605039" y="-715975"/>
            <a:ext cx="2666461" cy="2666390"/>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9" name="Google Shape;149;p20"/>
          <p:cNvSpPr/>
          <p:nvPr/>
        </p:nvSpPr>
        <p:spPr>
          <a:xfrm>
            <a:off x="630953" y="617220"/>
            <a:ext cx="7882109" cy="23317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MYTH 1 OF 3</a:t>
            </a:r>
            <a:endParaRPr b="0" i="0" sz="1000" u="none" cap="none" strike="noStrike">
              <a:solidFill>
                <a:schemeClr val="dk1"/>
              </a:solidFill>
              <a:latin typeface="Calibri"/>
              <a:ea typeface="Calibri"/>
              <a:cs typeface="Calibri"/>
              <a:sym typeface="Calibri"/>
            </a:endParaRPr>
          </a:p>
        </p:txBody>
      </p:sp>
      <p:sp>
        <p:nvSpPr>
          <p:cNvPr id="150" name="Google Shape;150;p20"/>
          <p:cNvSpPr/>
          <p:nvPr/>
        </p:nvSpPr>
        <p:spPr>
          <a:xfrm>
            <a:off x="630953" y="1371600"/>
            <a:ext cx="7607782" cy="2297430"/>
          </a:xfrm>
          <a:prstGeom prst="rect">
            <a:avLst/>
          </a:prstGeom>
          <a:noFill/>
          <a:ln>
            <a:noFill/>
          </a:ln>
        </p:spPr>
        <p:txBody>
          <a:bodyPr anchorCtr="0" anchor="t" bIns="34275" lIns="68575" spcFirstLastPara="1" rIns="68575" wrap="square" tIns="34275">
            <a:noAutofit/>
          </a:bodyPr>
          <a:lstStyle/>
          <a:p>
            <a:pPr indent="0" lvl="0" marL="0" marR="0" rtl="0" algn="l">
              <a:lnSpc>
                <a:spcPct val="108000"/>
              </a:lnSpc>
              <a:spcBef>
                <a:spcPts val="0"/>
              </a:spcBef>
              <a:spcAft>
                <a:spcPts val="0"/>
              </a:spcAft>
              <a:buClr>
                <a:srgbClr val="F4F6FA"/>
              </a:buClr>
              <a:buSzPts val="3800"/>
              <a:buFont typeface="Arial"/>
              <a:buNone/>
            </a:pPr>
            <a:r>
              <a:rPr b="1" i="0" lang="en" sz="3800" u="none" cap="none" strike="noStrike">
                <a:solidFill>
                  <a:srgbClr val="F4F6FA"/>
                </a:solidFill>
                <a:latin typeface="Arial"/>
                <a:ea typeface="Arial"/>
                <a:cs typeface="Arial"/>
                <a:sym typeface="Arial"/>
              </a:rPr>
              <a:t>“My branch decides</a:t>
            </a:r>
            <a:br>
              <a:rPr b="1" i="0" lang="en" sz="3800" u="none" cap="none" strike="noStrike">
                <a:solidFill>
                  <a:srgbClr val="F4F6FA"/>
                </a:solidFill>
                <a:latin typeface="Arial"/>
                <a:ea typeface="Arial"/>
                <a:cs typeface="Arial"/>
                <a:sym typeface="Arial"/>
              </a:rPr>
            </a:br>
            <a:r>
              <a:rPr b="1" i="0" lang="en" sz="3800" u="none" cap="none" strike="noStrike">
                <a:solidFill>
                  <a:srgbClr val="F59E0B"/>
                </a:solidFill>
                <a:latin typeface="Arial"/>
                <a:ea typeface="Arial"/>
                <a:cs typeface="Arial"/>
                <a:sym typeface="Arial"/>
              </a:rPr>
              <a:t>my career.”</a:t>
            </a:r>
            <a:endParaRPr b="0" i="0" sz="3800" u="none" cap="none" strike="noStrike">
              <a:solidFill>
                <a:schemeClr val="dk1"/>
              </a:solidFill>
              <a:latin typeface="Calibri"/>
              <a:ea typeface="Calibri"/>
              <a:cs typeface="Calibri"/>
              <a:sym typeface="Calibri"/>
            </a:endParaRPr>
          </a:p>
        </p:txBody>
      </p:sp>
      <p:sp>
        <p:nvSpPr>
          <p:cNvPr id="151" name="Google Shape;151;p20"/>
          <p:cNvSpPr/>
          <p:nvPr/>
        </p:nvSpPr>
        <p:spPr>
          <a:xfrm>
            <a:off x="630953" y="3520712"/>
            <a:ext cx="6721019" cy="754380"/>
          </a:xfrm>
          <a:prstGeom prst="rect">
            <a:avLst/>
          </a:prstGeom>
          <a:noFill/>
          <a:ln>
            <a:noFill/>
          </a:ln>
        </p:spPr>
        <p:txBody>
          <a:bodyPr anchorCtr="0" anchor="ctr" bIns="34275" lIns="68575" spcFirstLastPara="1" rIns="68575" wrap="square" tIns="34275">
            <a:noAutofit/>
          </a:bodyPr>
          <a:lstStyle/>
          <a:p>
            <a:pPr indent="0" lvl="0" marL="0" marR="0" rtl="0" algn="l">
              <a:lnSpc>
                <a:spcPct val="122727"/>
              </a:lnSpc>
              <a:spcBef>
                <a:spcPts val="0"/>
              </a:spcBef>
              <a:spcAft>
                <a:spcPts val="0"/>
              </a:spcAft>
              <a:buClr>
                <a:srgbClr val="AEB6C4"/>
              </a:buClr>
              <a:buSzPts val="1700"/>
              <a:buFont typeface="Arial"/>
              <a:buNone/>
            </a:pPr>
            <a:r>
              <a:rPr b="0" i="0" lang="en" sz="1700" u="none" cap="none" strike="noStrike">
                <a:solidFill>
                  <a:srgbClr val="AEB6C4"/>
                </a:solidFill>
                <a:latin typeface="Arial"/>
                <a:ea typeface="Arial"/>
                <a:cs typeface="Arial"/>
                <a:sym typeface="Arial"/>
              </a:rPr>
              <a:t>Reality: your projects, skills and curiosity decide it. The degree opens the door; you choose the room.</a:t>
            </a:r>
            <a:endParaRPr b="0" i="0" sz="1400" u="none" cap="none" strike="noStrike">
              <a:solidFill>
                <a:schemeClr val="dk1"/>
              </a:solidFill>
              <a:latin typeface="Calibri"/>
              <a:ea typeface="Calibri"/>
              <a:cs typeface="Calibri"/>
              <a:sym typeface="Calibri"/>
            </a:endParaRPr>
          </a:p>
        </p:txBody>
      </p:sp>
      <p:sp>
        <p:nvSpPr>
          <p:cNvPr id="152" name="Google Shape;152;p20"/>
          <p:cNvSpPr/>
          <p:nvPr/>
        </p:nvSpPr>
        <p:spPr>
          <a:xfrm>
            <a:off x="630953" y="4800600"/>
            <a:ext cx="411491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FROM CAMPUS TO STARTUP</a:t>
            </a:r>
            <a:endParaRPr b="0" i="0" sz="700" u="none" cap="none" strike="noStrike">
              <a:solidFill>
                <a:schemeClr val="dk1"/>
              </a:solidFill>
              <a:latin typeface="Calibri"/>
              <a:ea typeface="Calibri"/>
              <a:cs typeface="Calibri"/>
              <a:sym typeface="Calibri"/>
            </a:endParaRPr>
          </a:p>
        </p:txBody>
      </p:sp>
      <p:sp>
        <p:nvSpPr>
          <p:cNvPr id="153" name="Google Shape;153;p20"/>
          <p:cNvSpPr/>
          <p:nvPr/>
        </p:nvSpPr>
        <p:spPr>
          <a:xfrm>
            <a:off x="7964407" y="4800600"/>
            <a:ext cx="548655"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03</a:t>
            </a:r>
            <a:endParaRPr b="0" i="0" sz="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500"/>
                                        <p:tgtEl>
                                          <p:spTgt spid="14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500"/>
                                        <p:tgtEl>
                                          <p:spTgt spid="15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500"/>
                                        <p:tgtEl>
                                          <p:spTgt spid="15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500"/>
                                        <p:tgtEl>
                                          <p:spTgt spid="1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117"/>
        </a:solidFill>
      </p:bgPr>
    </p:bg>
    <p:spTree>
      <p:nvGrpSpPr>
        <p:cNvPr id="158" name="Shape 158"/>
        <p:cNvGrpSpPr/>
        <p:nvPr/>
      </p:nvGrpSpPr>
      <p:grpSpPr>
        <a:xfrm>
          <a:off x="0" y="0"/>
          <a:ext cx="0" cy="0"/>
          <a:chOff x="0" y="0"/>
          <a:chExt cx="0" cy="0"/>
        </a:xfrm>
      </p:grpSpPr>
      <p:sp>
        <p:nvSpPr>
          <p:cNvPr id="159" name="Google Shape;159;p21"/>
          <p:cNvSpPr/>
          <p:nvPr/>
        </p:nvSpPr>
        <p:spPr>
          <a:xfrm>
            <a:off x="7086559" y="-1234440"/>
            <a:ext cx="3703419" cy="370332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0" name="Google Shape;160;p21"/>
          <p:cNvSpPr/>
          <p:nvPr/>
        </p:nvSpPr>
        <p:spPr>
          <a:xfrm>
            <a:off x="7605039" y="-715975"/>
            <a:ext cx="2666461" cy="2666390"/>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1" name="Google Shape;161;p21"/>
          <p:cNvSpPr/>
          <p:nvPr/>
        </p:nvSpPr>
        <p:spPr>
          <a:xfrm>
            <a:off x="630953" y="617220"/>
            <a:ext cx="7882109" cy="23317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MYTH 2 OF 3</a:t>
            </a:r>
            <a:endParaRPr b="0" i="0" sz="1000" u="none" cap="none" strike="noStrike">
              <a:solidFill>
                <a:schemeClr val="dk1"/>
              </a:solidFill>
              <a:latin typeface="Calibri"/>
              <a:ea typeface="Calibri"/>
              <a:cs typeface="Calibri"/>
              <a:sym typeface="Calibri"/>
            </a:endParaRPr>
          </a:p>
        </p:txBody>
      </p:sp>
      <p:sp>
        <p:nvSpPr>
          <p:cNvPr id="162" name="Google Shape;162;p21"/>
          <p:cNvSpPr/>
          <p:nvPr/>
        </p:nvSpPr>
        <p:spPr>
          <a:xfrm>
            <a:off x="630953" y="1371600"/>
            <a:ext cx="7607782" cy="2297430"/>
          </a:xfrm>
          <a:prstGeom prst="rect">
            <a:avLst/>
          </a:prstGeom>
          <a:noFill/>
          <a:ln>
            <a:noFill/>
          </a:ln>
        </p:spPr>
        <p:txBody>
          <a:bodyPr anchorCtr="0" anchor="t" bIns="34275" lIns="68575" spcFirstLastPara="1" rIns="68575" wrap="square" tIns="34275">
            <a:noAutofit/>
          </a:bodyPr>
          <a:lstStyle/>
          <a:p>
            <a:pPr indent="0" lvl="0" marL="0" marR="0" rtl="0" algn="l">
              <a:lnSpc>
                <a:spcPct val="108000"/>
              </a:lnSpc>
              <a:spcBef>
                <a:spcPts val="0"/>
              </a:spcBef>
              <a:spcAft>
                <a:spcPts val="0"/>
              </a:spcAft>
              <a:buClr>
                <a:srgbClr val="F4F6FA"/>
              </a:buClr>
              <a:buSzPts val="3800"/>
              <a:buFont typeface="Arial"/>
              <a:buNone/>
            </a:pPr>
            <a:r>
              <a:rPr b="1" i="0" lang="en" sz="3800" u="none" cap="none" strike="noStrike">
                <a:solidFill>
                  <a:srgbClr val="F4F6FA"/>
                </a:solidFill>
                <a:latin typeface="Arial"/>
                <a:ea typeface="Arial"/>
                <a:cs typeface="Arial"/>
                <a:sym typeface="Arial"/>
              </a:rPr>
              <a:t>“I need the perfect</a:t>
            </a:r>
            <a:br>
              <a:rPr b="1" i="0" lang="en" sz="3800" u="none" cap="none" strike="noStrike">
                <a:solidFill>
                  <a:srgbClr val="F4F6FA"/>
                </a:solidFill>
                <a:latin typeface="Arial"/>
                <a:ea typeface="Arial"/>
                <a:cs typeface="Arial"/>
                <a:sym typeface="Arial"/>
              </a:rPr>
            </a:br>
            <a:r>
              <a:rPr b="1" i="0" lang="en" sz="3800" u="none" cap="none" strike="noStrike">
                <a:solidFill>
                  <a:srgbClr val="F59E0B"/>
                </a:solidFill>
                <a:latin typeface="Arial"/>
                <a:ea typeface="Arial"/>
                <a:cs typeface="Arial"/>
                <a:sym typeface="Arial"/>
              </a:rPr>
              <a:t>plan by year one.”</a:t>
            </a:r>
            <a:endParaRPr b="0" i="0" sz="3800" u="none" cap="none" strike="noStrike">
              <a:solidFill>
                <a:schemeClr val="dk1"/>
              </a:solidFill>
              <a:latin typeface="Calibri"/>
              <a:ea typeface="Calibri"/>
              <a:cs typeface="Calibri"/>
              <a:sym typeface="Calibri"/>
            </a:endParaRPr>
          </a:p>
        </p:txBody>
      </p:sp>
      <p:sp>
        <p:nvSpPr>
          <p:cNvPr id="163" name="Google Shape;163;p21"/>
          <p:cNvSpPr/>
          <p:nvPr/>
        </p:nvSpPr>
        <p:spPr>
          <a:xfrm>
            <a:off x="630953" y="3291840"/>
            <a:ext cx="6721019" cy="754380"/>
          </a:xfrm>
          <a:prstGeom prst="rect">
            <a:avLst/>
          </a:prstGeom>
          <a:noFill/>
          <a:ln>
            <a:noFill/>
          </a:ln>
        </p:spPr>
        <p:txBody>
          <a:bodyPr anchorCtr="0" anchor="ctr" bIns="34275" lIns="68575" spcFirstLastPara="1" rIns="68575" wrap="square" tIns="34275">
            <a:noAutofit/>
          </a:bodyPr>
          <a:lstStyle/>
          <a:p>
            <a:pPr indent="0" lvl="0" marL="0" marR="0" rtl="0" algn="l">
              <a:lnSpc>
                <a:spcPct val="122727"/>
              </a:lnSpc>
              <a:spcBef>
                <a:spcPts val="0"/>
              </a:spcBef>
              <a:spcAft>
                <a:spcPts val="0"/>
              </a:spcAft>
              <a:buClr>
                <a:srgbClr val="AEB6C4"/>
              </a:buClr>
              <a:buSzPts val="1700"/>
              <a:buFont typeface="Arial"/>
              <a:buNone/>
            </a:pPr>
            <a:r>
              <a:rPr b="0" i="0" lang="en" sz="1700" u="none" cap="none" strike="noStrike">
                <a:solidFill>
                  <a:srgbClr val="AEB6C4"/>
                </a:solidFill>
                <a:latin typeface="Arial"/>
                <a:ea typeface="Arial"/>
                <a:cs typeface="Arial"/>
                <a:sym typeface="Arial"/>
              </a:rPr>
              <a:t>Reality: nobody has one. </a:t>
            </a:r>
            <a:br>
              <a:rPr b="0" i="0" lang="en" sz="1700" u="none" cap="none" strike="noStrike">
                <a:solidFill>
                  <a:srgbClr val="AEB6C4"/>
                </a:solidFill>
                <a:latin typeface="Arial"/>
                <a:ea typeface="Arial"/>
                <a:cs typeface="Arial"/>
                <a:sym typeface="Arial"/>
              </a:rPr>
            </a:br>
            <a:br>
              <a:rPr b="0" i="0" lang="en" sz="1700" u="none" cap="none" strike="noStrike">
                <a:solidFill>
                  <a:srgbClr val="AEB6C4"/>
                </a:solidFill>
                <a:latin typeface="Arial"/>
                <a:ea typeface="Arial"/>
                <a:cs typeface="Arial"/>
                <a:sym typeface="Arial"/>
              </a:rPr>
            </a:br>
            <a:r>
              <a:rPr b="0" i="0" lang="en" sz="1700" u="none" cap="none" strike="noStrike">
                <a:solidFill>
                  <a:srgbClr val="AEB6C4"/>
                </a:solidFill>
                <a:latin typeface="Arial"/>
                <a:ea typeface="Arial"/>
                <a:cs typeface="Arial"/>
                <a:sym typeface="Arial"/>
              </a:rPr>
              <a:t>Optimise for learning rate and interesting problems. Good plans are discovered by doing.</a:t>
            </a:r>
            <a:endParaRPr b="0" i="0" sz="1700" u="none" cap="none" strike="noStrike">
              <a:solidFill>
                <a:schemeClr val="dk1"/>
              </a:solidFill>
              <a:latin typeface="Calibri"/>
              <a:ea typeface="Calibri"/>
              <a:cs typeface="Calibri"/>
              <a:sym typeface="Calibri"/>
            </a:endParaRPr>
          </a:p>
        </p:txBody>
      </p:sp>
      <p:sp>
        <p:nvSpPr>
          <p:cNvPr id="164" name="Google Shape;164;p21"/>
          <p:cNvSpPr/>
          <p:nvPr/>
        </p:nvSpPr>
        <p:spPr>
          <a:xfrm>
            <a:off x="630953" y="4800600"/>
            <a:ext cx="411491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FROM CAMPUS TO STARTUP</a:t>
            </a:r>
            <a:endParaRPr b="0" i="0" sz="700" u="none" cap="none" strike="noStrike">
              <a:solidFill>
                <a:schemeClr val="dk1"/>
              </a:solidFill>
              <a:latin typeface="Calibri"/>
              <a:ea typeface="Calibri"/>
              <a:cs typeface="Calibri"/>
              <a:sym typeface="Calibri"/>
            </a:endParaRPr>
          </a:p>
        </p:txBody>
      </p:sp>
      <p:sp>
        <p:nvSpPr>
          <p:cNvPr id="165" name="Google Shape;165;p21"/>
          <p:cNvSpPr/>
          <p:nvPr/>
        </p:nvSpPr>
        <p:spPr>
          <a:xfrm>
            <a:off x="7964407" y="4800600"/>
            <a:ext cx="548655"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04</a:t>
            </a:r>
            <a:endParaRPr b="0" i="0" sz="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500"/>
                                        <p:tgtEl>
                                          <p:spTgt spid="16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500"/>
                                        <p:tgtEl>
                                          <p:spTgt spid="16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500"/>
                                        <p:tgtEl>
                                          <p:spTgt spid="16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500"/>
                                        <p:tgtEl>
                                          <p:spTgt spid="16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500"/>
                                        <p:tgtEl>
                                          <p:spTgt spid="1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117"/>
        </a:solidFill>
      </p:bgPr>
    </p:bg>
    <p:spTree>
      <p:nvGrpSpPr>
        <p:cNvPr id="170" name="Shape 170"/>
        <p:cNvGrpSpPr/>
        <p:nvPr/>
      </p:nvGrpSpPr>
      <p:grpSpPr>
        <a:xfrm>
          <a:off x="0" y="0"/>
          <a:ext cx="0" cy="0"/>
          <a:chOff x="0" y="0"/>
          <a:chExt cx="0" cy="0"/>
        </a:xfrm>
      </p:grpSpPr>
      <p:sp>
        <p:nvSpPr>
          <p:cNvPr id="171" name="Google Shape;171;p22"/>
          <p:cNvSpPr/>
          <p:nvPr/>
        </p:nvSpPr>
        <p:spPr>
          <a:xfrm>
            <a:off x="7086559" y="-1234440"/>
            <a:ext cx="3703419" cy="370332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2" name="Google Shape;172;p22"/>
          <p:cNvSpPr/>
          <p:nvPr/>
        </p:nvSpPr>
        <p:spPr>
          <a:xfrm>
            <a:off x="7605039" y="-715975"/>
            <a:ext cx="2666461" cy="2666390"/>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3" name="Google Shape;173;p22"/>
          <p:cNvSpPr/>
          <p:nvPr/>
        </p:nvSpPr>
        <p:spPr>
          <a:xfrm>
            <a:off x="630953" y="617220"/>
            <a:ext cx="7882109" cy="23317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MYTH 3 OF 3</a:t>
            </a:r>
            <a:endParaRPr b="0" i="0" sz="1000" u="none" cap="none" strike="noStrike">
              <a:solidFill>
                <a:schemeClr val="dk1"/>
              </a:solidFill>
              <a:latin typeface="Calibri"/>
              <a:ea typeface="Calibri"/>
              <a:cs typeface="Calibri"/>
              <a:sym typeface="Calibri"/>
            </a:endParaRPr>
          </a:p>
        </p:txBody>
      </p:sp>
      <p:sp>
        <p:nvSpPr>
          <p:cNvPr id="174" name="Google Shape;174;p22"/>
          <p:cNvSpPr/>
          <p:nvPr/>
        </p:nvSpPr>
        <p:spPr>
          <a:xfrm>
            <a:off x="630953" y="1371600"/>
            <a:ext cx="7607782" cy="2297430"/>
          </a:xfrm>
          <a:prstGeom prst="rect">
            <a:avLst/>
          </a:prstGeom>
          <a:noFill/>
          <a:ln>
            <a:noFill/>
          </a:ln>
        </p:spPr>
        <p:txBody>
          <a:bodyPr anchorCtr="0" anchor="t" bIns="34275" lIns="68575" spcFirstLastPara="1" rIns="68575" wrap="square" tIns="34275">
            <a:noAutofit/>
          </a:bodyPr>
          <a:lstStyle/>
          <a:p>
            <a:pPr indent="0" lvl="0" marL="0" marR="0" rtl="0" algn="l">
              <a:lnSpc>
                <a:spcPct val="108000"/>
              </a:lnSpc>
              <a:spcBef>
                <a:spcPts val="0"/>
              </a:spcBef>
              <a:spcAft>
                <a:spcPts val="0"/>
              </a:spcAft>
              <a:buClr>
                <a:srgbClr val="F4F6FA"/>
              </a:buClr>
              <a:buSzPts val="3800"/>
              <a:buFont typeface="Arial"/>
              <a:buNone/>
            </a:pPr>
            <a:r>
              <a:rPr b="1" i="0" lang="en" sz="3800" u="none" cap="none" strike="noStrike">
                <a:solidFill>
                  <a:srgbClr val="F4F6FA"/>
                </a:solidFill>
                <a:latin typeface="Arial"/>
                <a:ea typeface="Arial"/>
                <a:cs typeface="Arial"/>
                <a:sym typeface="Arial"/>
              </a:rPr>
              <a:t>“Grades alone</a:t>
            </a:r>
            <a:br>
              <a:rPr b="1" i="0" lang="en" sz="3800" u="none" cap="none" strike="noStrike">
                <a:solidFill>
                  <a:srgbClr val="F4F6FA"/>
                </a:solidFill>
                <a:latin typeface="Arial"/>
                <a:ea typeface="Arial"/>
                <a:cs typeface="Arial"/>
                <a:sym typeface="Arial"/>
              </a:rPr>
            </a:br>
            <a:r>
              <a:rPr b="1" i="0" lang="en" sz="3800" u="none" cap="none" strike="noStrike">
                <a:solidFill>
                  <a:srgbClr val="F59E0B"/>
                </a:solidFill>
                <a:latin typeface="Arial"/>
                <a:ea typeface="Arial"/>
                <a:cs typeface="Arial"/>
                <a:sym typeface="Arial"/>
              </a:rPr>
              <a:t>equal capability.”</a:t>
            </a:r>
            <a:endParaRPr b="0" i="0" sz="3800" u="none" cap="none" strike="noStrike">
              <a:solidFill>
                <a:schemeClr val="dk1"/>
              </a:solidFill>
              <a:latin typeface="Calibri"/>
              <a:ea typeface="Calibri"/>
              <a:cs typeface="Calibri"/>
              <a:sym typeface="Calibri"/>
            </a:endParaRPr>
          </a:p>
        </p:txBody>
      </p:sp>
      <p:sp>
        <p:nvSpPr>
          <p:cNvPr id="175" name="Google Shape;175;p22"/>
          <p:cNvSpPr/>
          <p:nvPr/>
        </p:nvSpPr>
        <p:spPr>
          <a:xfrm>
            <a:off x="630953" y="3163932"/>
            <a:ext cx="6721019" cy="754380"/>
          </a:xfrm>
          <a:prstGeom prst="rect">
            <a:avLst/>
          </a:prstGeom>
          <a:noFill/>
          <a:ln>
            <a:noFill/>
          </a:ln>
        </p:spPr>
        <p:txBody>
          <a:bodyPr anchorCtr="0" anchor="ctr" bIns="34275" lIns="68575" spcFirstLastPara="1" rIns="68575" wrap="square" tIns="34275">
            <a:noAutofit/>
          </a:bodyPr>
          <a:lstStyle/>
          <a:p>
            <a:pPr indent="0" lvl="0" marL="0" marR="0" rtl="0" algn="l">
              <a:lnSpc>
                <a:spcPct val="122727"/>
              </a:lnSpc>
              <a:spcBef>
                <a:spcPts val="0"/>
              </a:spcBef>
              <a:spcAft>
                <a:spcPts val="0"/>
              </a:spcAft>
              <a:buClr>
                <a:srgbClr val="AEB6C4"/>
              </a:buClr>
              <a:buSzPts val="1700"/>
              <a:buFont typeface="Arial"/>
              <a:buNone/>
            </a:pPr>
            <a:r>
              <a:rPr b="0" i="0" lang="en" sz="1700" u="none" cap="none" strike="noStrike">
                <a:solidFill>
                  <a:srgbClr val="AEB6C4"/>
                </a:solidFill>
                <a:latin typeface="Arial"/>
                <a:ea typeface="Arial"/>
                <a:cs typeface="Arial"/>
                <a:sym typeface="Arial"/>
              </a:rPr>
              <a:t>Reality: grades keep options open but what you've built, shipped, and can explain is what teams hire for. </a:t>
            </a:r>
            <a:endParaRPr b="0" i="0" sz="1700" u="none" cap="none" strike="noStrike">
              <a:solidFill>
                <a:srgbClr val="AEB6C4"/>
              </a:solidFill>
              <a:latin typeface="Arial"/>
              <a:ea typeface="Arial"/>
              <a:cs typeface="Arial"/>
              <a:sym typeface="Arial"/>
            </a:endParaRPr>
          </a:p>
          <a:p>
            <a:pPr indent="0" lvl="0" marL="0" marR="0" rtl="0" algn="l">
              <a:lnSpc>
                <a:spcPct val="122681"/>
              </a:lnSpc>
              <a:spcBef>
                <a:spcPts val="0"/>
              </a:spcBef>
              <a:spcAft>
                <a:spcPts val="0"/>
              </a:spcAft>
              <a:buClr>
                <a:srgbClr val="AEB6C4"/>
              </a:buClr>
              <a:buSzPts val="1700"/>
              <a:buFont typeface="Arial"/>
              <a:buNone/>
            </a:pPr>
            <a:br>
              <a:rPr b="0" i="0" lang="en" sz="1700" u="none" cap="none" strike="noStrike">
                <a:solidFill>
                  <a:srgbClr val="AEB6C4"/>
                </a:solidFill>
                <a:latin typeface="Arial"/>
                <a:ea typeface="Arial"/>
                <a:cs typeface="Arial"/>
                <a:sym typeface="Arial"/>
              </a:rPr>
            </a:br>
            <a:r>
              <a:rPr b="1" i="0" lang="en" sz="1700" u="sng" cap="none" strike="noStrike">
                <a:solidFill>
                  <a:srgbClr val="AEB6C4"/>
                </a:solidFill>
                <a:latin typeface="Arial"/>
                <a:ea typeface="Arial"/>
                <a:cs typeface="Arial"/>
                <a:sym typeface="Arial"/>
              </a:rPr>
              <a:t>Do both</a:t>
            </a:r>
            <a:r>
              <a:rPr b="0" i="0" lang="en" sz="1700" u="none" cap="none" strike="noStrike">
                <a:solidFill>
                  <a:srgbClr val="AEB6C4"/>
                </a:solidFill>
                <a:latin typeface="Arial"/>
                <a:ea typeface="Arial"/>
                <a:cs typeface="Arial"/>
                <a:sym typeface="Arial"/>
              </a:rPr>
              <a:t>; obsess over neither.</a:t>
            </a:r>
            <a:endParaRPr b="0" i="0" sz="1400" u="none" cap="none" strike="noStrike">
              <a:solidFill>
                <a:schemeClr val="dk1"/>
              </a:solidFill>
              <a:latin typeface="Calibri"/>
              <a:ea typeface="Calibri"/>
              <a:cs typeface="Calibri"/>
              <a:sym typeface="Calibri"/>
            </a:endParaRPr>
          </a:p>
        </p:txBody>
      </p:sp>
      <p:sp>
        <p:nvSpPr>
          <p:cNvPr id="176" name="Google Shape;176;p22"/>
          <p:cNvSpPr/>
          <p:nvPr/>
        </p:nvSpPr>
        <p:spPr>
          <a:xfrm>
            <a:off x="630953" y="4800600"/>
            <a:ext cx="411491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FROM CAMPUS TO STARTUP</a:t>
            </a:r>
            <a:endParaRPr b="0" i="0" sz="700" u="none" cap="none" strike="noStrike">
              <a:solidFill>
                <a:schemeClr val="dk1"/>
              </a:solidFill>
              <a:latin typeface="Calibri"/>
              <a:ea typeface="Calibri"/>
              <a:cs typeface="Calibri"/>
              <a:sym typeface="Calibri"/>
            </a:endParaRPr>
          </a:p>
        </p:txBody>
      </p:sp>
      <p:sp>
        <p:nvSpPr>
          <p:cNvPr id="177" name="Google Shape;177;p22"/>
          <p:cNvSpPr/>
          <p:nvPr/>
        </p:nvSpPr>
        <p:spPr>
          <a:xfrm>
            <a:off x="7964407" y="4800600"/>
            <a:ext cx="548655"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05</a:t>
            </a:r>
            <a:endParaRPr b="0" i="0" sz="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500"/>
                                        <p:tgtEl>
                                          <p:spTgt spid="17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500"/>
                                        <p:tgtEl>
                                          <p:spTgt spid="17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500"/>
                                        <p:tgtEl>
                                          <p:spTgt spid="17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500"/>
                                        <p:tgtEl>
                                          <p:spTgt spid="17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500"/>
                                        <p:tgtEl>
                                          <p:spTgt spid="1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B10"/>
        </a:solidFill>
      </p:bgPr>
    </p:bg>
    <p:spTree>
      <p:nvGrpSpPr>
        <p:cNvPr id="182" name="Shape 182"/>
        <p:cNvGrpSpPr/>
        <p:nvPr/>
      </p:nvGrpSpPr>
      <p:grpSpPr>
        <a:xfrm>
          <a:off x="0" y="0"/>
          <a:ext cx="0" cy="0"/>
          <a:chOff x="0" y="0"/>
          <a:chExt cx="0" cy="0"/>
        </a:xfrm>
      </p:grpSpPr>
      <p:sp>
        <p:nvSpPr>
          <p:cNvPr id="183" name="Google Shape;183;p23"/>
          <p:cNvSpPr/>
          <p:nvPr/>
        </p:nvSpPr>
        <p:spPr>
          <a:xfrm>
            <a:off x="-1783128" y="2263139"/>
            <a:ext cx="4800728" cy="480060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4" name="Google Shape;184;p23"/>
          <p:cNvSpPr/>
          <p:nvPr/>
        </p:nvSpPr>
        <p:spPr>
          <a:xfrm>
            <a:off x="-1111026" y="2935224"/>
            <a:ext cx="3456524" cy="3456432"/>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5" name="Google Shape;185;p23"/>
          <p:cNvSpPr/>
          <p:nvPr/>
        </p:nvSpPr>
        <p:spPr>
          <a:xfrm>
            <a:off x="630953" y="788670"/>
            <a:ext cx="2057455" cy="16459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430"/>
              </a:buClr>
              <a:buSzPts val="11300"/>
              <a:buFont typeface="Arial"/>
              <a:buNone/>
            </a:pPr>
            <a:r>
              <a:rPr b="1" i="0" lang="en" sz="11300" u="none" cap="none" strike="noStrike">
                <a:solidFill>
                  <a:srgbClr val="1F2430"/>
                </a:solidFill>
                <a:latin typeface="Arial"/>
                <a:ea typeface="Arial"/>
                <a:cs typeface="Arial"/>
                <a:sym typeface="Arial"/>
              </a:rPr>
              <a:t>03</a:t>
            </a:r>
            <a:endParaRPr b="0" i="0" sz="11300" u="none" cap="none" strike="noStrike">
              <a:solidFill>
                <a:schemeClr val="dk1"/>
              </a:solidFill>
              <a:latin typeface="Calibri"/>
              <a:ea typeface="Calibri"/>
              <a:cs typeface="Calibri"/>
              <a:sym typeface="Calibri"/>
            </a:endParaRPr>
          </a:p>
        </p:txBody>
      </p:sp>
      <p:sp>
        <p:nvSpPr>
          <p:cNvPr id="186" name="Google Shape;186;p23"/>
          <p:cNvSpPr/>
          <p:nvPr/>
        </p:nvSpPr>
        <p:spPr>
          <a:xfrm>
            <a:off x="658386" y="2482595"/>
            <a:ext cx="6858183"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CISCO VS MUBBLE : WHAT I SAW</a:t>
            </a:r>
            <a:endParaRPr b="0" i="0" sz="1000" u="none" cap="none" strike="noStrike">
              <a:solidFill>
                <a:schemeClr val="dk1"/>
              </a:solidFill>
              <a:latin typeface="Calibri"/>
              <a:ea typeface="Calibri"/>
              <a:cs typeface="Calibri"/>
              <a:sym typeface="Calibri"/>
            </a:endParaRPr>
          </a:p>
        </p:txBody>
      </p:sp>
      <p:sp>
        <p:nvSpPr>
          <p:cNvPr id="187" name="Google Shape;187;p23"/>
          <p:cNvSpPr/>
          <p:nvPr/>
        </p:nvSpPr>
        <p:spPr>
          <a:xfrm>
            <a:off x="630953" y="2729484"/>
            <a:ext cx="7269674" cy="1068324"/>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4F6FA"/>
              </a:buClr>
              <a:buSzPts val="3500"/>
              <a:buFont typeface="Arial"/>
              <a:buNone/>
            </a:pPr>
            <a:r>
              <a:rPr b="1" i="0" lang="en" sz="3500" u="none" cap="none" strike="noStrike">
                <a:solidFill>
                  <a:srgbClr val="F4F6FA"/>
                </a:solidFill>
                <a:latin typeface="Arial"/>
                <a:ea typeface="Arial"/>
                <a:cs typeface="Arial"/>
                <a:sym typeface="Arial"/>
              </a:rPr>
              <a:t>Big company</a:t>
            </a:r>
            <a:endParaRPr b="0" i="0" sz="3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4F6FA"/>
              </a:buClr>
              <a:buSzPts val="3500"/>
              <a:buFont typeface="Arial"/>
              <a:buNone/>
            </a:pPr>
            <a:r>
              <a:rPr b="1" i="0" lang="en" sz="3500" u="none" cap="none" strike="noStrike">
                <a:solidFill>
                  <a:srgbClr val="F4F6FA"/>
                </a:solidFill>
                <a:latin typeface="Arial"/>
                <a:ea typeface="Arial"/>
                <a:cs typeface="Arial"/>
                <a:sym typeface="Arial"/>
              </a:rPr>
              <a:t>or startup?</a:t>
            </a:r>
            <a:endParaRPr b="0" i="0" sz="3500" u="none" cap="none" strike="noStrike">
              <a:solidFill>
                <a:schemeClr val="dk1"/>
              </a:solidFill>
              <a:latin typeface="Calibri"/>
              <a:ea typeface="Calibri"/>
              <a:cs typeface="Calibri"/>
              <a:sym typeface="Calibri"/>
            </a:endParaRPr>
          </a:p>
        </p:txBody>
      </p:sp>
      <p:sp>
        <p:nvSpPr>
          <p:cNvPr id="188" name="Google Shape;188;p23"/>
          <p:cNvSpPr/>
          <p:nvPr/>
        </p:nvSpPr>
        <p:spPr>
          <a:xfrm>
            <a:off x="630953" y="3880103"/>
            <a:ext cx="6885616"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18181"/>
              </a:lnSpc>
              <a:spcBef>
                <a:spcPts val="0"/>
              </a:spcBef>
              <a:spcAft>
                <a:spcPts val="0"/>
              </a:spcAft>
              <a:buClr>
                <a:srgbClr val="AEB6C4"/>
              </a:buClr>
              <a:buSzPts val="1700"/>
              <a:buFont typeface="Arial"/>
              <a:buNone/>
            </a:pPr>
            <a:r>
              <a:rPr b="0" i="0" lang="en" sz="1700" u="none" cap="none" strike="noStrike">
                <a:solidFill>
                  <a:srgbClr val="AEB6C4"/>
                </a:solidFill>
                <a:latin typeface="Arial"/>
                <a:ea typeface="Arial"/>
                <a:cs typeface="Arial"/>
                <a:sym typeface="Arial"/>
              </a:rPr>
              <a:t>The question every one of you will face. </a:t>
            </a:r>
            <a:br>
              <a:rPr b="0" i="0" lang="en" sz="1700" u="none" cap="none" strike="noStrike">
                <a:solidFill>
                  <a:srgbClr val="AEB6C4"/>
                </a:solidFill>
                <a:latin typeface="Arial"/>
                <a:ea typeface="Arial"/>
                <a:cs typeface="Arial"/>
                <a:sym typeface="Arial"/>
              </a:rPr>
            </a:br>
            <a:r>
              <a:rPr b="0" i="0" lang="en" sz="1700" u="none" cap="none" strike="noStrike">
                <a:solidFill>
                  <a:srgbClr val="AEB6C4"/>
                </a:solidFill>
                <a:latin typeface="Arial"/>
                <a:ea typeface="Arial"/>
                <a:cs typeface="Arial"/>
                <a:sym typeface="Arial"/>
              </a:rPr>
              <a:t>The honest answer: both teach differently!</a:t>
            </a:r>
            <a:endParaRPr b="0" i="0" sz="14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500"/>
                                        <p:tgtEl>
                                          <p:spTgt spid="18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500"/>
                                        <p:tgtEl>
                                          <p:spTgt spid="18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500"/>
                                        <p:tgtEl>
                                          <p:spTgt spid="18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500"/>
                                        <p:tgtEl>
                                          <p:spTgt spid="1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117"/>
        </a:solidFill>
      </p:bgPr>
    </p:bg>
    <p:spTree>
      <p:nvGrpSpPr>
        <p:cNvPr id="193" name="Shape 193"/>
        <p:cNvGrpSpPr/>
        <p:nvPr/>
      </p:nvGrpSpPr>
      <p:grpSpPr>
        <a:xfrm>
          <a:off x="0" y="0"/>
          <a:ext cx="0" cy="0"/>
          <a:chOff x="0" y="0"/>
          <a:chExt cx="0" cy="0"/>
        </a:xfrm>
      </p:grpSpPr>
      <p:sp>
        <p:nvSpPr>
          <p:cNvPr id="194" name="Google Shape;194;p24"/>
          <p:cNvSpPr/>
          <p:nvPr/>
        </p:nvSpPr>
        <p:spPr>
          <a:xfrm>
            <a:off x="630953" y="425196"/>
            <a:ext cx="7882109" cy="23317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TWO SCHOOLS OF ENGINEERING</a:t>
            </a:r>
            <a:endParaRPr b="0" i="0" sz="1000" u="none" cap="none" strike="noStrike">
              <a:solidFill>
                <a:schemeClr val="dk1"/>
              </a:solidFill>
              <a:latin typeface="Calibri"/>
              <a:ea typeface="Calibri"/>
              <a:cs typeface="Calibri"/>
              <a:sym typeface="Calibri"/>
            </a:endParaRPr>
          </a:p>
        </p:txBody>
      </p:sp>
      <p:sp>
        <p:nvSpPr>
          <p:cNvPr id="195" name="Google Shape;195;p24"/>
          <p:cNvSpPr/>
          <p:nvPr/>
        </p:nvSpPr>
        <p:spPr>
          <a:xfrm>
            <a:off x="630953" y="685800"/>
            <a:ext cx="7882109" cy="5829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2300"/>
              <a:buFont typeface="Arial"/>
              <a:buNone/>
            </a:pPr>
            <a:r>
              <a:rPr b="1" i="0" lang="en" sz="2300" u="none" cap="none" strike="noStrike">
                <a:solidFill>
                  <a:srgbClr val="F4F6FA"/>
                </a:solidFill>
                <a:latin typeface="Arial"/>
                <a:ea typeface="Arial"/>
                <a:cs typeface="Arial"/>
                <a:sym typeface="Arial"/>
              </a:rPr>
              <a:t>Both are real education</a:t>
            </a:r>
            <a:endParaRPr b="0" i="0" sz="2300" u="none" cap="none" strike="noStrike">
              <a:solidFill>
                <a:schemeClr val="dk1"/>
              </a:solidFill>
              <a:latin typeface="Calibri"/>
              <a:ea typeface="Calibri"/>
              <a:cs typeface="Calibri"/>
              <a:sym typeface="Calibri"/>
            </a:endParaRPr>
          </a:p>
        </p:txBody>
      </p:sp>
      <p:sp>
        <p:nvSpPr>
          <p:cNvPr id="196" name="Google Shape;196;p24"/>
          <p:cNvSpPr/>
          <p:nvPr/>
        </p:nvSpPr>
        <p:spPr>
          <a:xfrm>
            <a:off x="630953" y="1371600"/>
            <a:ext cx="3735310" cy="2708910"/>
          </a:xfrm>
          <a:prstGeom prst="roundRect">
            <a:avLst>
              <a:gd fmla="val 2532"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7" name="Google Shape;197;p24"/>
          <p:cNvSpPr/>
          <p:nvPr/>
        </p:nvSpPr>
        <p:spPr>
          <a:xfrm>
            <a:off x="918996" y="1659636"/>
            <a:ext cx="96015" cy="96012"/>
          </a:xfrm>
          <a:prstGeom prst="roundRect">
            <a:avLst>
              <a:gd fmla="val 14286" name="adj"/>
            </a:avLst>
          </a:prstGeom>
          <a:solidFill>
            <a:srgbClr val="60A5F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8" name="Google Shape;198;p24"/>
          <p:cNvSpPr/>
          <p:nvPr/>
        </p:nvSpPr>
        <p:spPr>
          <a:xfrm>
            <a:off x="1129370" y="1536192"/>
            <a:ext cx="3118072"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0A5FA"/>
              </a:buClr>
              <a:buSzPts val="1100"/>
              <a:buFont typeface="Arial"/>
              <a:buNone/>
            </a:pPr>
            <a:r>
              <a:rPr b="1" i="0" lang="en" sz="1100" u="none" cap="none" strike="noStrike">
                <a:solidFill>
                  <a:srgbClr val="60A5FA"/>
                </a:solidFill>
                <a:latin typeface="Arial"/>
                <a:ea typeface="Arial"/>
                <a:cs typeface="Arial"/>
                <a:sym typeface="Arial"/>
              </a:rPr>
              <a:t>BIG COMPANY  (Cisco, Pramati)</a:t>
            </a:r>
            <a:endParaRPr b="0" i="0" sz="1100" u="none" cap="none" strike="noStrike">
              <a:solidFill>
                <a:schemeClr val="dk1"/>
              </a:solidFill>
              <a:latin typeface="Calibri"/>
              <a:ea typeface="Calibri"/>
              <a:cs typeface="Calibri"/>
              <a:sym typeface="Calibri"/>
            </a:endParaRPr>
          </a:p>
        </p:txBody>
      </p:sp>
      <p:sp>
        <p:nvSpPr>
          <p:cNvPr id="199" name="Google Shape;199;p24"/>
          <p:cNvSpPr/>
          <p:nvPr/>
        </p:nvSpPr>
        <p:spPr>
          <a:xfrm>
            <a:off x="715090" y="1952624"/>
            <a:ext cx="3376844" cy="1990724"/>
          </a:xfrm>
          <a:prstGeom prst="rect">
            <a:avLst/>
          </a:prstGeom>
          <a:noFill/>
          <a:ln>
            <a:noFill/>
          </a:ln>
        </p:spPr>
        <p:txBody>
          <a:bodyPr anchorCtr="0" anchor="t" bIns="34275" lIns="68575" spcFirstLastPara="1" rIns="68575" wrap="square" tIns="34275">
            <a:noAutofit/>
          </a:bodyPr>
          <a:lstStyle/>
          <a:p>
            <a:pPr indent="-152400" lvl="0" marL="152400" marR="0" rtl="0" algn="l">
              <a:lnSpc>
                <a:spcPct val="112500"/>
              </a:lnSpc>
              <a:spcBef>
                <a:spcPts val="0"/>
              </a:spcBef>
              <a:spcAft>
                <a:spcPts val="0"/>
              </a:spcAft>
              <a:buClr>
                <a:srgbClr val="AEB6C4"/>
              </a:buClr>
              <a:buSzPts val="1200"/>
              <a:buFont typeface="Arial"/>
              <a:buChar char="•"/>
            </a:pPr>
            <a:r>
              <a:rPr b="0" i="0" lang="en" sz="1200" u="none" cap="none" strike="noStrike">
                <a:solidFill>
                  <a:srgbClr val="AEB6C4"/>
                </a:solidFill>
                <a:latin typeface="Arial"/>
                <a:ea typeface="Arial"/>
                <a:cs typeface="Arial"/>
                <a:sym typeface="Arial"/>
              </a:rPr>
              <a:t>Rigour: code review, testing, processes that survive scale</a:t>
            </a:r>
            <a:endParaRPr b="0" i="0" sz="1200" u="none" cap="none" strike="noStrike">
              <a:solidFill>
                <a:schemeClr val="dk1"/>
              </a:solidFill>
              <a:latin typeface="Calibri"/>
              <a:ea typeface="Calibri"/>
              <a:cs typeface="Calibri"/>
              <a:sym typeface="Calibri"/>
            </a:endParaRPr>
          </a:p>
          <a:p>
            <a:pPr indent="-152400" lvl="0" marL="152400" marR="0" rtl="0" algn="l">
              <a:lnSpc>
                <a:spcPct val="112500"/>
              </a:lnSpc>
              <a:spcBef>
                <a:spcPts val="800"/>
              </a:spcBef>
              <a:spcAft>
                <a:spcPts val="0"/>
              </a:spcAft>
              <a:buClr>
                <a:srgbClr val="AEB6C4"/>
              </a:buClr>
              <a:buSzPts val="1200"/>
              <a:buFont typeface="Arial"/>
              <a:buChar char="•"/>
            </a:pPr>
            <a:r>
              <a:rPr b="0" i="0" lang="en" sz="1200" u="none" cap="none" strike="noStrike">
                <a:solidFill>
                  <a:srgbClr val="AEB6C4"/>
                </a:solidFill>
                <a:latin typeface="Arial"/>
                <a:ea typeface="Arial"/>
                <a:cs typeface="Arial"/>
                <a:sym typeface="Arial"/>
              </a:rPr>
              <a:t>Depth in one area, world-class mentors nearby</a:t>
            </a:r>
            <a:endParaRPr b="0" i="0" sz="1200" u="none" cap="none" strike="noStrike">
              <a:solidFill>
                <a:schemeClr val="dk1"/>
              </a:solidFill>
              <a:latin typeface="Calibri"/>
              <a:ea typeface="Calibri"/>
              <a:cs typeface="Calibri"/>
              <a:sym typeface="Calibri"/>
            </a:endParaRPr>
          </a:p>
          <a:p>
            <a:pPr indent="-152400" lvl="0" marL="152400" marR="0" rtl="0" algn="l">
              <a:lnSpc>
                <a:spcPct val="112500"/>
              </a:lnSpc>
              <a:spcBef>
                <a:spcPts val="800"/>
              </a:spcBef>
              <a:spcAft>
                <a:spcPts val="0"/>
              </a:spcAft>
              <a:buClr>
                <a:srgbClr val="AEB6C4"/>
              </a:buClr>
              <a:buSzPts val="1200"/>
              <a:buFont typeface="Arial"/>
              <a:buChar char="•"/>
            </a:pPr>
            <a:r>
              <a:rPr b="0" i="0" lang="en" sz="1200" u="none" cap="none" strike="noStrike">
                <a:solidFill>
                  <a:srgbClr val="AEB6C4"/>
                </a:solidFill>
                <a:latin typeface="Arial"/>
                <a:ea typeface="Arial"/>
                <a:cs typeface="Arial"/>
                <a:sym typeface="Arial"/>
              </a:rPr>
              <a:t>Stability, brand, structured growth ladders</a:t>
            </a:r>
            <a:endParaRPr b="0" i="0" sz="1200" u="none" cap="none" strike="noStrike">
              <a:solidFill>
                <a:schemeClr val="dk1"/>
              </a:solidFill>
              <a:latin typeface="Calibri"/>
              <a:ea typeface="Calibri"/>
              <a:cs typeface="Calibri"/>
              <a:sym typeface="Calibri"/>
            </a:endParaRPr>
          </a:p>
          <a:p>
            <a:pPr indent="-152400" lvl="0" marL="152400" marR="0" rtl="0" algn="l">
              <a:lnSpc>
                <a:spcPct val="112500"/>
              </a:lnSpc>
              <a:spcBef>
                <a:spcPts val="800"/>
              </a:spcBef>
              <a:spcAft>
                <a:spcPts val="0"/>
              </a:spcAft>
              <a:buClr>
                <a:srgbClr val="AEB6C4"/>
              </a:buClr>
              <a:buSzPts val="1200"/>
              <a:buFont typeface="Arial"/>
              <a:buChar char="•"/>
            </a:pPr>
            <a:r>
              <a:rPr b="0" i="0" lang="en" sz="1200" u="none" cap="none" strike="noStrike">
                <a:solidFill>
                  <a:srgbClr val="AEB6C4"/>
                </a:solidFill>
                <a:latin typeface="Arial"/>
                <a:ea typeface="Arial"/>
                <a:cs typeface="Arial"/>
                <a:sym typeface="Arial"/>
              </a:rPr>
              <a:t>You own a well-defined slice of a big machine</a:t>
            </a:r>
            <a:endParaRPr b="0" i="0" sz="1200" u="none" cap="none" strike="noStrike">
              <a:solidFill>
                <a:schemeClr val="dk1"/>
              </a:solidFill>
              <a:latin typeface="Calibri"/>
              <a:ea typeface="Calibri"/>
              <a:cs typeface="Calibri"/>
              <a:sym typeface="Calibri"/>
            </a:endParaRPr>
          </a:p>
        </p:txBody>
      </p:sp>
      <p:sp>
        <p:nvSpPr>
          <p:cNvPr id="200" name="Google Shape;200;p24"/>
          <p:cNvSpPr/>
          <p:nvPr/>
        </p:nvSpPr>
        <p:spPr>
          <a:xfrm>
            <a:off x="4777753" y="1371600"/>
            <a:ext cx="3735310" cy="2708910"/>
          </a:xfrm>
          <a:prstGeom prst="roundRect">
            <a:avLst>
              <a:gd fmla="val 2532"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1" name="Google Shape;201;p24"/>
          <p:cNvSpPr/>
          <p:nvPr/>
        </p:nvSpPr>
        <p:spPr>
          <a:xfrm>
            <a:off x="5065797" y="1659636"/>
            <a:ext cx="96015" cy="96012"/>
          </a:xfrm>
          <a:prstGeom prst="roundRect">
            <a:avLst>
              <a:gd fmla="val 14286" name="adj"/>
            </a:avLst>
          </a:prstGeom>
          <a:solidFill>
            <a:srgbClr val="F59E0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2" name="Google Shape;202;p24"/>
          <p:cNvSpPr/>
          <p:nvPr/>
        </p:nvSpPr>
        <p:spPr>
          <a:xfrm>
            <a:off x="5271542" y="1536192"/>
            <a:ext cx="3118072"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100"/>
              <a:buFont typeface="Arial"/>
              <a:buNone/>
            </a:pPr>
            <a:r>
              <a:rPr b="1" i="0" lang="en" sz="1100" u="none" cap="none" strike="noStrike">
                <a:solidFill>
                  <a:srgbClr val="F59E0B"/>
                </a:solidFill>
                <a:latin typeface="Arial"/>
                <a:ea typeface="Arial"/>
                <a:cs typeface="Arial"/>
                <a:sym typeface="Arial"/>
              </a:rPr>
              <a:t>STARTUP  (Mubble, Tornado, Powerplay)</a:t>
            </a:r>
            <a:endParaRPr b="0" i="0" sz="1100" u="none" cap="none" strike="noStrike">
              <a:solidFill>
                <a:schemeClr val="dk1"/>
              </a:solidFill>
              <a:latin typeface="Calibri"/>
              <a:ea typeface="Calibri"/>
              <a:cs typeface="Calibri"/>
              <a:sym typeface="Calibri"/>
            </a:endParaRPr>
          </a:p>
        </p:txBody>
      </p:sp>
      <p:sp>
        <p:nvSpPr>
          <p:cNvPr id="203" name="Google Shape;203;p24"/>
          <p:cNvSpPr/>
          <p:nvPr/>
        </p:nvSpPr>
        <p:spPr>
          <a:xfrm>
            <a:off x="5065796" y="1952624"/>
            <a:ext cx="3172938" cy="1990724"/>
          </a:xfrm>
          <a:prstGeom prst="rect">
            <a:avLst/>
          </a:prstGeom>
          <a:noFill/>
          <a:ln>
            <a:noFill/>
          </a:ln>
        </p:spPr>
        <p:txBody>
          <a:bodyPr anchorCtr="0" anchor="t" bIns="34275" lIns="68575" spcFirstLastPara="1" rIns="68575" wrap="square" tIns="34275">
            <a:noAutofit/>
          </a:bodyPr>
          <a:lstStyle/>
          <a:p>
            <a:pPr indent="-152400" lvl="0" marL="152400" marR="0" rtl="0" algn="l">
              <a:lnSpc>
                <a:spcPct val="112500"/>
              </a:lnSpc>
              <a:spcBef>
                <a:spcPts val="0"/>
              </a:spcBef>
              <a:spcAft>
                <a:spcPts val="0"/>
              </a:spcAft>
              <a:buClr>
                <a:srgbClr val="AEB6C4"/>
              </a:buClr>
              <a:buSzPts val="1200"/>
              <a:buFont typeface="Arial"/>
              <a:buChar char="•"/>
            </a:pPr>
            <a:r>
              <a:rPr b="0" i="0" lang="en" sz="1200" u="none" cap="none" strike="noStrike">
                <a:solidFill>
                  <a:srgbClr val="AEB6C4"/>
                </a:solidFill>
                <a:latin typeface="Arial"/>
                <a:ea typeface="Arial"/>
                <a:cs typeface="Arial"/>
                <a:sym typeface="Arial"/>
              </a:rPr>
              <a:t>Ownership: your code meets real users this week</a:t>
            </a:r>
            <a:endParaRPr b="0" i="0" sz="1200" u="none" cap="none" strike="noStrike">
              <a:solidFill>
                <a:schemeClr val="dk1"/>
              </a:solidFill>
              <a:latin typeface="Calibri"/>
              <a:ea typeface="Calibri"/>
              <a:cs typeface="Calibri"/>
              <a:sym typeface="Calibri"/>
            </a:endParaRPr>
          </a:p>
          <a:p>
            <a:pPr indent="-152400" lvl="0" marL="152400" marR="0" rtl="0" algn="l">
              <a:lnSpc>
                <a:spcPct val="112500"/>
              </a:lnSpc>
              <a:spcBef>
                <a:spcPts val="800"/>
              </a:spcBef>
              <a:spcAft>
                <a:spcPts val="0"/>
              </a:spcAft>
              <a:buClr>
                <a:srgbClr val="AEB6C4"/>
              </a:buClr>
              <a:buSzPts val="1200"/>
              <a:buFont typeface="Arial"/>
              <a:buChar char="•"/>
            </a:pPr>
            <a:r>
              <a:rPr b="0" i="0" lang="en" sz="1200" u="none" cap="none" strike="noStrike">
                <a:solidFill>
                  <a:srgbClr val="AEB6C4"/>
                </a:solidFill>
                <a:latin typeface="Arial"/>
                <a:ea typeface="Arial"/>
                <a:cs typeface="Arial"/>
                <a:sym typeface="Arial"/>
              </a:rPr>
              <a:t>Breadth: backend, product, hiring, support;  all of it</a:t>
            </a:r>
            <a:endParaRPr b="0" i="0" sz="1200" u="none" cap="none" strike="noStrike">
              <a:solidFill>
                <a:schemeClr val="dk1"/>
              </a:solidFill>
              <a:latin typeface="Calibri"/>
              <a:ea typeface="Calibri"/>
              <a:cs typeface="Calibri"/>
              <a:sym typeface="Calibri"/>
            </a:endParaRPr>
          </a:p>
          <a:p>
            <a:pPr indent="-152400" lvl="0" marL="152400" marR="0" rtl="0" algn="l">
              <a:lnSpc>
                <a:spcPct val="112500"/>
              </a:lnSpc>
              <a:spcBef>
                <a:spcPts val="800"/>
              </a:spcBef>
              <a:spcAft>
                <a:spcPts val="0"/>
              </a:spcAft>
              <a:buClr>
                <a:srgbClr val="AEB6C4"/>
              </a:buClr>
              <a:buSzPts val="1200"/>
              <a:buFont typeface="Arial"/>
              <a:buChar char="•"/>
            </a:pPr>
            <a:r>
              <a:rPr b="0" i="0" lang="en" sz="1200" u="none" cap="none" strike="noStrike">
                <a:solidFill>
                  <a:srgbClr val="AEB6C4"/>
                </a:solidFill>
                <a:latin typeface="Arial"/>
                <a:ea typeface="Arial"/>
                <a:cs typeface="Arial"/>
                <a:sym typeface="Arial"/>
              </a:rPr>
              <a:t>Speed and ambiguity: you learn by deciding</a:t>
            </a:r>
            <a:endParaRPr b="0" i="0" sz="1200" u="none" cap="none" strike="noStrike">
              <a:solidFill>
                <a:schemeClr val="dk1"/>
              </a:solidFill>
              <a:latin typeface="Calibri"/>
              <a:ea typeface="Calibri"/>
              <a:cs typeface="Calibri"/>
              <a:sym typeface="Calibri"/>
            </a:endParaRPr>
          </a:p>
          <a:p>
            <a:pPr indent="-152400" lvl="0" marL="152400" marR="0" rtl="0" algn="l">
              <a:lnSpc>
                <a:spcPct val="112500"/>
              </a:lnSpc>
              <a:spcBef>
                <a:spcPts val="800"/>
              </a:spcBef>
              <a:spcAft>
                <a:spcPts val="0"/>
              </a:spcAft>
              <a:buClr>
                <a:srgbClr val="AEB6C4"/>
              </a:buClr>
              <a:buSzPts val="1200"/>
              <a:buFont typeface="Arial"/>
              <a:buChar char="•"/>
            </a:pPr>
            <a:r>
              <a:rPr b="0" i="0" lang="en" sz="1200" u="none" cap="none" strike="noStrike">
                <a:solidFill>
                  <a:srgbClr val="AEB6C4"/>
                </a:solidFill>
                <a:latin typeface="Arial"/>
                <a:ea typeface="Arial"/>
                <a:cs typeface="Arial"/>
                <a:sym typeface="Arial"/>
              </a:rPr>
              <a:t>A direct line from your work to survival</a:t>
            </a:r>
            <a:endParaRPr b="0" i="0" sz="1200" u="none" cap="none" strike="noStrike">
              <a:solidFill>
                <a:schemeClr val="dk1"/>
              </a:solidFill>
              <a:latin typeface="Calibri"/>
              <a:ea typeface="Calibri"/>
              <a:cs typeface="Calibri"/>
              <a:sym typeface="Calibri"/>
            </a:endParaRPr>
          </a:p>
        </p:txBody>
      </p:sp>
      <p:sp>
        <p:nvSpPr>
          <p:cNvPr id="204" name="Google Shape;204;p24"/>
          <p:cNvSpPr/>
          <p:nvPr/>
        </p:nvSpPr>
        <p:spPr>
          <a:xfrm>
            <a:off x="630953" y="4217670"/>
            <a:ext cx="7882109" cy="411480"/>
          </a:xfrm>
          <a:prstGeom prst="rect">
            <a:avLst/>
          </a:prstGeom>
          <a:noFill/>
          <a:ln>
            <a:noFill/>
          </a:ln>
        </p:spPr>
        <p:txBody>
          <a:bodyPr anchorCtr="0" anchor="ctr" bIns="34275" lIns="68575" spcFirstLastPara="1" rIns="68575" wrap="square" tIns="34275">
            <a:noAutofit/>
          </a:bodyPr>
          <a:lstStyle/>
          <a:p>
            <a:pPr indent="0" lvl="0" marL="0" marR="0" rtl="0" algn="ctr">
              <a:lnSpc>
                <a:spcPct val="133333"/>
              </a:lnSpc>
              <a:spcBef>
                <a:spcPts val="0"/>
              </a:spcBef>
              <a:spcAft>
                <a:spcPts val="0"/>
              </a:spcAft>
              <a:buClr>
                <a:schemeClr val="lt1"/>
              </a:buClr>
              <a:buSzPts val="1100"/>
              <a:buFont typeface="Arial"/>
              <a:buNone/>
            </a:pPr>
            <a:r>
              <a:rPr b="0" i="1" lang="en" sz="1100" u="none" cap="none" strike="noStrike">
                <a:solidFill>
                  <a:schemeClr val="lt1"/>
                </a:solidFill>
                <a:latin typeface="Arial"/>
                <a:ea typeface="Arial"/>
                <a:cs typeface="Arial"/>
                <a:sym typeface="Arial"/>
              </a:rPr>
              <a:t>There is no wrong answer;  scale teaches rigour, startups teach ownership. The best engineers I know collected both.</a:t>
            </a:r>
            <a:endParaRPr b="0" i="0" sz="1100" u="none" cap="none" strike="noStrike">
              <a:solidFill>
                <a:schemeClr val="lt1"/>
              </a:solidFill>
              <a:latin typeface="Calibri"/>
              <a:ea typeface="Calibri"/>
              <a:cs typeface="Calibri"/>
              <a:sym typeface="Calibri"/>
            </a:endParaRPr>
          </a:p>
        </p:txBody>
      </p:sp>
      <p:sp>
        <p:nvSpPr>
          <p:cNvPr id="205" name="Google Shape;205;p24"/>
          <p:cNvSpPr/>
          <p:nvPr/>
        </p:nvSpPr>
        <p:spPr>
          <a:xfrm>
            <a:off x="630953" y="4800600"/>
            <a:ext cx="411491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FROM CAMPUS TO STARTUP</a:t>
            </a:r>
            <a:endParaRPr b="0" i="0" sz="700" u="none" cap="none" strike="noStrike">
              <a:solidFill>
                <a:schemeClr val="dk1"/>
              </a:solidFill>
              <a:latin typeface="Calibri"/>
              <a:ea typeface="Calibri"/>
              <a:cs typeface="Calibri"/>
              <a:sym typeface="Calibri"/>
            </a:endParaRPr>
          </a:p>
        </p:txBody>
      </p:sp>
      <p:sp>
        <p:nvSpPr>
          <p:cNvPr id="206" name="Google Shape;206;p24"/>
          <p:cNvSpPr/>
          <p:nvPr/>
        </p:nvSpPr>
        <p:spPr>
          <a:xfrm>
            <a:off x="7964407" y="4800600"/>
            <a:ext cx="548655"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06</a:t>
            </a:r>
            <a:endParaRPr b="0" i="0" sz="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500"/>
                                        <p:tgtEl>
                                          <p:spTgt spid="19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500"/>
                                        <p:tgtEl>
                                          <p:spTgt spid="19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500"/>
                                        <p:tgtEl>
                                          <p:spTgt spid="19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500"/>
                                        <p:tgtEl>
                                          <p:spTgt spid="19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500"/>
                                        <p:tgtEl>
                                          <p:spTgt spid="198"/>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500"/>
                                        <p:tgtEl>
                                          <p:spTgt spid="19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500"/>
                                        <p:tgtEl>
                                          <p:spTgt spid="200"/>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500"/>
                                        <p:tgtEl>
                                          <p:spTgt spid="201"/>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500"/>
                                        <p:tgtEl>
                                          <p:spTgt spid="202"/>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500"/>
                                        <p:tgtEl>
                                          <p:spTgt spid="203"/>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500"/>
                                        <p:tgtEl>
                                          <p:spTgt spid="204"/>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500"/>
                                        <p:tgtEl>
                                          <p:spTgt spid="205"/>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500"/>
                                        <p:tgtEl>
                                          <p:spTgt spid="2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B10"/>
        </a:solidFill>
      </p:bgPr>
    </p:bg>
    <p:spTree>
      <p:nvGrpSpPr>
        <p:cNvPr id="211" name="Shape 211"/>
        <p:cNvGrpSpPr/>
        <p:nvPr/>
      </p:nvGrpSpPr>
      <p:grpSpPr>
        <a:xfrm>
          <a:off x="0" y="0"/>
          <a:ext cx="0" cy="0"/>
          <a:chOff x="0" y="0"/>
          <a:chExt cx="0" cy="0"/>
        </a:xfrm>
      </p:grpSpPr>
      <p:sp>
        <p:nvSpPr>
          <p:cNvPr id="212" name="Google Shape;212;p25"/>
          <p:cNvSpPr/>
          <p:nvPr/>
        </p:nvSpPr>
        <p:spPr>
          <a:xfrm>
            <a:off x="-1783128" y="2263139"/>
            <a:ext cx="4800728" cy="480060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3" name="Google Shape;213;p25"/>
          <p:cNvSpPr/>
          <p:nvPr/>
        </p:nvSpPr>
        <p:spPr>
          <a:xfrm>
            <a:off x="-1111026" y="2935224"/>
            <a:ext cx="3456524" cy="3456432"/>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4" name="Google Shape;214;p25"/>
          <p:cNvSpPr/>
          <p:nvPr/>
        </p:nvSpPr>
        <p:spPr>
          <a:xfrm>
            <a:off x="630953" y="788670"/>
            <a:ext cx="2057455" cy="16459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430"/>
              </a:buClr>
              <a:buSzPts val="11300"/>
              <a:buFont typeface="Arial"/>
              <a:buNone/>
            </a:pPr>
            <a:r>
              <a:rPr b="1" i="0" lang="en" sz="11300" u="none" cap="none" strike="noStrike">
                <a:solidFill>
                  <a:srgbClr val="1F2430"/>
                </a:solidFill>
                <a:latin typeface="Arial"/>
                <a:ea typeface="Arial"/>
                <a:cs typeface="Arial"/>
                <a:sym typeface="Arial"/>
              </a:rPr>
              <a:t>04</a:t>
            </a:r>
            <a:endParaRPr b="0" i="0" sz="11300" u="none" cap="none" strike="noStrike">
              <a:solidFill>
                <a:schemeClr val="dk1"/>
              </a:solidFill>
              <a:latin typeface="Calibri"/>
              <a:ea typeface="Calibri"/>
              <a:cs typeface="Calibri"/>
              <a:sym typeface="Calibri"/>
            </a:endParaRPr>
          </a:p>
        </p:txBody>
      </p:sp>
      <p:sp>
        <p:nvSpPr>
          <p:cNvPr id="215" name="Google Shape;215;p25"/>
          <p:cNvSpPr/>
          <p:nvPr/>
        </p:nvSpPr>
        <p:spPr>
          <a:xfrm>
            <a:off x="658386" y="2482595"/>
            <a:ext cx="6858183"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PRODUCT &gt; CODE</a:t>
            </a:r>
            <a:endParaRPr b="0" i="0" sz="1000" u="none" cap="none" strike="noStrike">
              <a:solidFill>
                <a:schemeClr val="dk1"/>
              </a:solidFill>
              <a:latin typeface="Calibri"/>
              <a:ea typeface="Calibri"/>
              <a:cs typeface="Calibri"/>
              <a:sym typeface="Calibri"/>
            </a:endParaRPr>
          </a:p>
        </p:txBody>
      </p:sp>
      <p:sp>
        <p:nvSpPr>
          <p:cNvPr id="216" name="Google Shape;216;p25"/>
          <p:cNvSpPr/>
          <p:nvPr/>
        </p:nvSpPr>
        <p:spPr>
          <a:xfrm>
            <a:off x="630953" y="2729484"/>
            <a:ext cx="7269674" cy="1068324"/>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4F6FA"/>
              </a:buClr>
              <a:buSzPts val="3500"/>
              <a:buFont typeface="Arial"/>
              <a:buNone/>
            </a:pPr>
            <a:r>
              <a:rPr b="1" i="0" lang="en" sz="3500" u="none" cap="none" strike="noStrike">
                <a:solidFill>
                  <a:srgbClr val="F4F6FA"/>
                </a:solidFill>
                <a:latin typeface="Arial"/>
                <a:ea typeface="Arial"/>
                <a:cs typeface="Arial"/>
                <a:sym typeface="Arial"/>
              </a:rPr>
              <a:t>What “building</a:t>
            </a:r>
            <a:endParaRPr b="0" i="0" sz="3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4F6FA"/>
              </a:buClr>
              <a:buSzPts val="3500"/>
              <a:buFont typeface="Arial"/>
              <a:buNone/>
            </a:pPr>
            <a:r>
              <a:rPr b="1" i="0" lang="en" sz="3500" u="none" cap="none" strike="noStrike">
                <a:solidFill>
                  <a:srgbClr val="F4F6FA"/>
                </a:solidFill>
                <a:latin typeface="Arial"/>
                <a:ea typeface="Arial"/>
                <a:cs typeface="Arial"/>
                <a:sym typeface="Arial"/>
              </a:rPr>
              <a:t>a product” means</a:t>
            </a:r>
            <a:endParaRPr b="0" i="0" sz="3500" u="none" cap="none" strike="noStrike">
              <a:solidFill>
                <a:schemeClr val="dk1"/>
              </a:solidFill>
              <a:latin typeface="Calibri"/>
              <a:ea typeface="Calibri"/>
              <a:cs typeface="Calibri"/>
              <a:sym typeface="Calibri"/>
            </a:endParaRPr>
          </a:p>
        </p:txBody>
      </p:sp>
      <p:sp>
        <p:nvSpPr>
          <p:cNvPr id="217" name="Google Shape;217;p25"/>
          <p:cNvSpPr/>
          <p:nvPr/>
        </p:nvSpPr>
        <p:spPr>
          <a:xfrm>
            <a:off x="630953" y="3880104"/>
            <a:ext cx="6721019"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44444"/>
              </a:lnSpc>
              <a:spcBef>
                <a:spcPts val="0"/>
              </a:spcBef>
              <a:spcAft>
                <a:spcPts val="0"/>
              </a:spcAft>
              <a:buClr>
                <a:srgbClr val="AEB6C4"/>
              </a:buClr>
              <a:buSzPts val="1400"/>
              <a:buFont typeface="Arial"/>
              <a:buNone/>
            </a:pPr>
            <a:r>
              <a:rPr b="0" i="0" lang="en" sz="1400" u="none" cap="none" strike="noStrike">
                <a:solidFill>
                  <a:srgbClr val="AEB6C4"/>
                </a:solidFill>
                <a:latin typeface="Arial"/>
                <a:ea typeface="Arial"/>
                <a:cs typeface="Arial"/>
                <a:sym typeface="Arial"/>
              </a:rPr>
              <a:t>The most expensive lesson of my career and the cheapest to teach you now.</a:t>
            </a:r>
            <a:endParaRPr b="0" i="0" sz="14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500"/>
                                        <p:tgtEl>
                                          <p:spTgt spid="21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500"/>
                                        <p:tgtEl>
                                          <p:spTgt spid="21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500"/>
                                        <p:tgtEl>
                                          <p:spTgt spid="21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500"/>
                                        <p:tgtEl>
                                          <p:spTgt spid="2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117"/>
        </a:solidFill>
      </p:bgPr>
    </p:bg>
    <p:spTree>
      <p:nvGrpSpPr>
        <p:cNvPr id="222" name="Shape 222"/>
        <p:cNvGrpSpPr/>
        <p:nvPr/>
      </p:nvGrpSpPr>
      <p:grpSpPr>
        <a:xfrm>
          <a:off x="0" y="0"/>
          <a:ext cx="0" cy="0"/>
          <a:chOff x="0" y="0"/>
          <a:chExt cx="0" cy="0"/>
        </a:xfrm>
      </p:grpSpPr>
      <p:sp>
        <p:nvSpPr>
          <p:cNvPr id="223" name="Google Shape;223;p26"/>
          <p:cNvSpPr/>
          <p:nvPr/>
        </p:nvSpPr>
        <p:spPr>
          <a:xfrm>
            <a:off x="7086559" y="-1234440"/>
            <a:ext cx="3703419" cy="370332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4" name="Google Shape;224;p26"/>
          <p:cNvSpPr/>
          <p:nvPr/>
        </p:nvSpPr>
        <p:spPr>
          <a:xfrm>
            <a:off x="7605039" y="-715975"/>
            <a:ext cx="2666461" cy="2666390"/>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5" name="Google Shape;225;p26"/>
          <p:cNvSpPr/>
          <p:nvPr/>
        </p:nvSpPr>
        <p:spPr>
          <a:xfrm>
            <a:off x="630953" y="617220"/>
            <a:ext cx="7882109" cy="23317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THE SURPRISE</a:t>
            </a:r>
            <a:endParaRPr b="0" i="0" sz="1000" u="none" cap="none" strike="noStrike">
              <a:solidFill>
                <a:schemeClr val="dk1"/>
              </a:solidFill>
              <a:latin typeface="Calibri"/>
              <a:ea typeface="Calibri"/>
              <a:cs typeface="Calibri"/>
              <a:sym typeface="Calibri"/>
            </a:endParaRPr>
          </a:p>
        </p:txBody>
      </p:sp>
      <p:sp>
        <p:nvSpPr>
          <p:cNvPr id="226" name="Google Shape;226;p26"/>
          <p:cNvSpPr/>
          <p:nvPr/>
        </p:nvSpPr>
        <p:spPr>
          <a:xfrm>
            <a:off x="630953" y="1371600"/>
            <a:ext cx="7607782" cy="2297430"/>
          </a:xfrm>
          <a:prstGeom prst="rect">
            <a:avLst/>
          </a:prstGeom>
          <a:noFill/>
          <a:ln>
            <a:noFill/>
          </a:ln>
        </p:spPr>
        <p:txBody>
          <a:bodyPr anchorCtr="0" anchor="t" bIns="34275" lIns="68575" spcFirstLastPara="1" rIns="68575" wrap="square" tIns="34275">
            <a:noAutofit/>
          </a:bodyPr>
          <a:lstStyle/>
          <a:p>
            <a:pPr indent="0" lvl="0" marL="0" marR="0" rtl="0" algn="l">
              <a:lnSpc>
                <a:spcPct val="108000"/>
              </a:lnSpc>
              <a:spcBef>
                <a:spcPts val="0"/>
              </a:spcBef>
              <a:spcAft>
                <a:spcPts val="0"/>
              </a:spcAft>
              <a:buClr>
                <a:srgbClr val="F4F6FA"/>
              </a:buClr>
              <a:buSzPts val="3800"/>
              <a:buFont typeface="Arial"/>
              <a:buNone/>
            </a:pPr>
            <a:r>
              <a:rPr b="1" i="0" lang="en" sz="3800" u="none" cap="none" strike="noStrike">
                <a:solidFill>
                  <a:srgbClr val="F4F6FA"/>
                </a:solidFill>
                <a:latin typeface="Arial"/>
                <a:ea typeface="Arial"/>
                <a:cs typeface="Arial"/>
                <a:sym typeface="Arial"/>
              </a:rPr>
              <a:t>Code is maybe</a:t>
            </a:r>
            <a:br>
              <a:rPr b="1" i="0" lang="en" sz="3800" u="none" cap="none" strike="noStrike">
                <a:solidFill>
                  <a:srgbClr val="F4F6FA"/>
                </a:solidFill>
                <a:latin typeface="Arial"/>
                <a:ea typeface="Arial"/>
                <a:cs typeface="Arial"/>
                <a:sym typeface="Arial"/>
              </a:rPr>
            </a:br>
            <a:r>
              <a:rPr b="1" i="0" lang="en" sz="3800" u="none" cap="none" strike="noStrike">
                <a:solidFill>
                  <a:srgbClr val="F59E0B"/>
                </a:solidFill>
                <a:latin typeface="Arial"/>
                <a:ea typeface="Arial"/>
                <a:cs typeface="Arial"/>
                <a:sym typeface="Arial"/>
              </a:rPr>
              <a:t>30% of the job.</a:t>
            </a:r>
            <a:endParaRPr b="0" i="0" sz="3800" u="none" cap="none" strike="noStrike">
              <a:solidFill>
                <a:schemeClr val="dk1"/>
              </a:solidFill>
              <a:latin typeface="Calibri"/>
              <a:ea typeface="Calibri"/>
              <a:cs typeface="Calibri"/>
              <a:sym typeface="Calibri"/>
            </a:endParaRPr>
          </a:p>
        </p:txBody>
      </p:sp>
      <p:sp>
        <p:nvSpPr>
          <p:cNvPr id="227" name="Google Shape;227;p26"/>
          <p:cNvSpPr/>
          <p:nvPr/>
        </p:nvSpPr>
        <p:spPr>
          <a:xfrm>
            <a:off x="630953" y="3424100"/>
            <a:ext cx="6721019" cy="754380"/>
          </a:xfrm>
          <a:prstGeom prst="rect">
            <a:avLst/>
          </a:prstGeom>
          <a:noFill/>
          <a:ln>
            <a:noFill/>
          </a:ln>
        </p:spPr>
        <p:txBody>
          <a:bodyPr anchorCtr="0" anchor="ctr" bIns="34275" lIns="68575" spcFirstLastPara="1" rIns="68575" wrap="square" tIns="34275">
            <a:noAutofit/>
          </a:bodyPr>
          <a:lstStyle/>
          <a:p>
            <a:pPr indent="0" lvl="0" marL="0" marR="0" rtl="0" algn="l">
              <a:lnSpc>
                <a:spcPct val="122727"/>
              </a:lnSpc>
              <a:spcBef>
                <a:spcPts val="0"/>
              </a:spcBef>
              <a:spcAft>
                <a:spcPts val="0"/>
              </a:spcAft>
              <a:buClr>
                <a:srgbClr val="AEB6C4"/>
              </a:buClr>
              <a:buSzPts val="1700"/>
              <a:buFont typeface="Arial"/>
              <a:buNone/>
            </a:pPr>
            <a:r>
              <a:rPr b="0" i="0" lang="en" sz="1700" u="none" cap="none" strike="noStrike">
                <a:solidFill>
                  <a:srgbClr val="AEB6C4"/>
                </a:solidFill>
                <a:latin typeface="Arial"/>
                <a:ea typeface="Arial"/>
                <a:cs typeface="Arial"/>
                <a:sym typeface="Arial"/>
              </a:rPr>
              <a:t>The rest is understanding people, making trade-offs, and communicating clearly. The best engineers I know are really good at the other 70%.</a:t>
            </a:r>
            <a:endParaRPr b="0" i="0" sz="1700" u="none" cap="none" strike="noStrike">
              <a:solidFill>
                <a:schemeClr val="dk1"/>
              </a:solidFill>
              <a:latin typeface="Calibri"/>
              <a:ea typeface="Calibri"/>
              <a:cs typeface="Calibri"/>
              <a:sym typeface="Calibri"/>
            </a:endParaRPr>
          </a:p>
        </p:txBody>
      </p:sp>
      <p:sp>
        <p:nvSpPr>
          <p:cNvPr id="228" name="Google Shape;228;p26"/>
          <p:cNvSpPr/>
          <p:nvPr/>
        </p:nvSpPr>
        <p:spPr>
          <a:xfrm>
            <a:off x="630953" y="4800600"/>
            <a:ext cx="411491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FROM CAMPUS TO STARTUP</a:t>
            </a:r>
            <a:endParaRPr b="0" i="0" sz="700" u="none" cap="none" strike="noStrike">
              <a:solidFill>
                <a:schemeClr val="dk1"/>
              </a:solidFill>
              <a:latin typeface="Calibri"/>
              <a:ea typeface="Calibri"/>
              <a:cs typeface="Calibri"/>
              <a:sym typeface="Calibri"/>
            </a:endParaRPr>
          </a:p>
        </p:txBody>
      </p:sp>
      <p:sp>
        <p:nvSpPr>
          <p:cNvPr id="229" name="Google Shape;229;p26"/>
          <p:cNvSpPr/>
          <p:nvPr/>
        </p:nvSpPr>
        <p:spPr>
          <a:xfrm>
            <a:off x="7964407" y="4800600"/>
            <a:ext cx="548655"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07</a:t>
            </a:r>
            <a:endParaRPr b="0" i="0" sz="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500"/>
                                        <p:tgtEl>
                                          <p:spTgt spid="22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500"/>
                                        <p:tgtEl>
                                          <p:spTgt spid="22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500"/>
                                        <p:tgtEl>
                                          <p:spTgt spid="22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500"/>
                                        <p:tgtEl>
                                          <p:spTgt spid="22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500"/>
                                        <p:tgtEl>
                                          <p:spTgt spid="2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117"/>
        </a:solidFill>
      </p:bgPr>
    </p:bg>
    <p:spTree>
      <p:nvGrpSpPr>
        <p:cNvPr id="234" name="Shape 234"/>
        <p:cNvGrpSpPr/>
        <p:nvPr/>
      </p:nvGrpSpPr>
      <p:grpSpPr>
        <a:xfrm>
          <a:off x="0" y="0"/>
          <a:ext cx="0" cy="0"/>
          <a:chOff x="0" y="0"/>
          <a:chExt cx="0" cy="0"/>
        </a:xfrm>
      </p:grpSpPr>
      <p:sp>
        <p:nvSpPr>
          <p:cNvPr id="235" name="Google Shape;235;p27"/>
          <p:cNvSpPr/>
          <p:nvPr/>
        </p:nvSpPr>
        <p:spPr>
          <a:xfrm>
            <a:off x="630953" y="425196"/>
            <a:ext cx="7882109" cy="23317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THE PRODUCT LOOP</a:t>
            </a:r>
            <a:endParaRPr b="0" i="0" sz="1000" u="none" cap="none" strike="noStrike">
              <a:solidFill>
                <a:schemeClr val="dk1"/>
              </a:solidFill>
              <a:latin typeface="Calibri"/>
              <a:ea typeface="Calibri"/>
              <a:cs typeface="Calibri"/>
              <a:sym typeface="Calibri"/>
            </a:endParaRPr>
          </a:p>
        </p:txBody>
      </p:sp>
      <p:sp>
        <p:nvSpPr>
          <p:cNvPr id="236" name="Google Shape;236;p27"/>
          <p:cNvSpPr/>
          <p:nvPr/>
        </p:nvSpPr>
        <p:spPr>
          <a:xfrm>
            <a:off x="630953" y="685800"/>
            <a:ext cx="7882109" cy="5829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2300"/>
              <a:buFont typeface="Arial"/>
              <a:buNone/>
            </a:pPr>
            <a:r>
              <a:rPr b="1" i="0" lang="en" sz="2300" u="none" cap="none" strike="noStrike">
                <a:solidFill>
                  <a:srgbClr val="F4F6FA"/>
                </a:solidFill>
                <a:latin typeface="Arial"/>
                <a:ea typeface="Arial"/>
                <a:cs typeface="Arial"/>
                <a:sym typeface="Arial"/>
              </a:rPr>
              <a:t>How a product actually gets built</a:t>
            </a:r>
            <a:endParaRPr b="0" i="0" sz="2300" u="none" cap="none" strike="noStrike">
              <a:solidFill>
                <a:schemeClr val="dk1"/>
              </a:solidFill>
              <a:latin typeface="Calibri"/>
              <a:ea typeface="Calibri"/>
              <a:cs typeface="Calibri"/>
              <a:sym typeface="Calibri"/>
            </a:endParaRPr>
          </a:p>
        </p:txBody>
      </p:sp>
      <p:cxnSp>
        <p:nvCxnSpPr>
          <p:cNvPr id="237" name="Google Shape;237;p27"/>
          <p:cNvCxnSpPr/>
          <p:nvPr/>
        </p:nvCxnSpPr>
        <p:spPr>
          <a:xfrm>
            <a:off x="1419164" y="2304288"/>
            <a:ext cx="6305687" cy="0"/>
          </a:xfrm>
          <a:prstGeom prst="straightConnector1">
            <a:avLst/>
          </a:prstGeom>
          <a:noFill/>
          <a:ln cap="flat" cmpd="sng" w="19050">
            <a:solidFill>
              <a:srgbClr val="2C3340"/>
            </a:solidFill>
            <a:prstDash val="solid"/>
            <a:round/>
            <a:headEnd len="sm" w="sm" type="none"/>
            <a:tailEnd len="sm" w="sm" type="none"/>
          </a:ln>
        </p:spPr>
      </p:cxnSp>
      <p:sp>
        <p:nvSpPr>
          <p:cNvPr id="238" name="Google Shape;238;p27"/>
          <p:cNvSpPr/>
          <p:nvPr/>
        </p:nvSpPr>
        <p:spPr>
          <a:xfrm>
            <a:off x="1206560" y="2091690"/>
            <a:ext cx="425207" cy="425196"/>
          </a:xfrm>
          <a:prstGeom prst="ellipse">
            <a:avLst/>
          </a:prstGeom>
          <a:solidFill>
            <a:srgbClr val="F59E0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9" name="Google Shape;239;p27"/>
          <p:cNvSpPr/>
          <p:nvPr/>
        </p:nvSpPr>
        <p:spPr>
          <a:xfrm>
            <a:off x="1206560" y="2091690"/>
            <a:ext cx="425207" cy="42519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E1117"/>
              </a:buClr>
              <a:buSzPts val="1400"/>
              <a:buFont typeface="Arial"/>
              <a:buNone/>
            </a:pPr>
            <a:r>
              <a:rPr b="1" i="0" lang="en" sz="1400" u="none" cap="none" strike="noStrike">
                <a:solidFill>
                  <a:srgbClr val="0E1117"/>
                </a:solidFill>
                <a:latin typeface="Arial"/>
                <a:ea typeface="Arial"/>
                <a:cs typeface="Arial"/>
                <a:sym typeface="Arial"/>
              </a:rPr>
              <a:t>1</a:t>
            </a:r>
            <a:endParaRPr b="0" i="0" sz="1400" u="none" cap="none" strike="noStrike">
              <a:solidFill>
                <a:schemeClr val="dk1"/>
              </a:solidFill>
              <a:latin typeface="Calibri"/>
              <a:ea typeface="Calibri"/>
              <a:cs typeface="Calibri"/>
              <a:sym typeface="Calibri"/>
            </a:endParaRPr>
          </a:p>
        </p:txBody>
      </p:sp>
      <p:sp>
        <p:nvSpPr>
          <p:cNvPr id="240" name="Google Shape;240;p27"/>
          <p:cNvSpPr/>
          <p:nvPr/>
        </p:nvSpPr>
        <p:spPr>
          <a:xfrm>
            <a:off x="699535" y="2640330"/>
            <a:ext cx="1439258"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4F6FA"/>
              </a:buClr>
              <a:buSzPts val="1100"/>
              <a:buFont typeface="Arial"/>
              <a:buNone/>
            </a:pPr>
            <a:r>
              <a:rPr b="1" i="0" lang="en" sz="1100" u="none" cap="none" strike="noStrike">
                <a:solidFill>
                  <a:srgbClr val="F4F6FA"/>
                </a:solidFill>
                <a:latin typeface="Arial"/>
                <a:ea typeface="Arial"/>
                <a:cs typeface="Arial"/>
                <a:sym typeface="Arial"/>
              </a:rPr>
              <a:t>Talk to users</a:t>
            </a:r>
            <a:endParaRPr b="0" i="0" sz="1100" u="none" cap="none" strike="noStrike">
              <a:solidFill>
                <a:schemeClr val="dk1"/>
              </a:solidFill>
              <a:latin typeface="Calibri"/>
              <a:ea typeface="Calibri"/>
              <a:cs typeface="Calibri"/>
              <a:sym typeface="Calibri"/>
            </a:endParaRPr>
          </a:p>
        </p:txBody>
      </p:sp>
      <p:sp>
        <p:nvSpPr>
          <p:cNvPr id="241" name="Google Shape;241;p27"/>
          <p:cNvSpPr/>
          <p:nvPr/>
        </p:nvSpPr>
        <p:spPr>
          <a:xfrm>
            <a:off x="733826" y="3202686"/>
            <a:ext cx="1370677" cy="960120"/>
          </a:xfrm>
          <a:prstGeom prst="rect">
            <a:avLst/>
          </a:prstGeom>
          <a:noFill/>
          <a:ln>
            <a:noFill/>
          </a:ln>
        </p:spPr>
        <p:txBody>
          <a:bodyPr anchorCtr="0" anchor="ctr" bIns="34275" lIns="68575" spcFirstLastPara="1" rIns="68575" wrap="square" tIns="34275">
            <a:noAutofit/>
          </a:bodyPr>
          <a:lstStyle/>
          <a:p>
            <a:pPr indent="0" lvl="0" marL="0" marR="0" rtl="0" algn="ctr">
              <a:lnSpc>
                <a:spcPct val="130434"/>
              </a:lnSpc>
              <a:spcBef>
                <a:spcPts val="0"/>
              </a:spcBef>
              <a:spcAft>
                <a:spcPts val="0"/>
              </a:spcAft>
              <a:buClr>
                <a:srgbClr val="AEB6C4"/>
              </a:buClr>
              <a:buSzPts val="900"/>
              <a:buFont typeface="Arial"/>
              <a:buNone/>
            </a:pPr>
            <a:r>
              <a:rPr b="0" i="0" lang="en" sz="900" u="none" cap="none" strike="noStrike">
                <a:solidFill>
                  <a:srgbClr val="AEB6C4"/>
                </a:solidFill>
                <a:latin typeface="Arial"/>
                <a:ea typeface="Arial"/>
                <a:cs typeface="Arial"/>
                <a:sym typeface="Arial"/>
              </a:rPr>
              <a:t>Sit with the people who have the problem. For us: construction sites, not conference rooms.</a:t>
            </a:r>
            <a:endParaRPr b="0" i="0" sz="900" u="none" cap="none" strike="noStrike">
              <a:solidFill>
                <a:schemeClr val="dk1"/>
              </a:solidFill>
              <a:latin typeface="Calibri"/>
              <a:ea typeface="Calibri"/>
              <a:cs typeface="Calibri"/>
              <a:sym typeface="Calibri"/>
            </a:endParaRPr>
          </a:p>
        </p:txBody>
      </p:sp>
      <p:sp>
        <p:nvSpPr>
          <p:cNvPr id="242" name="Google Shape;242;p27"/>
          <p:cNvSpPr/>
          <p:nvPr/>
        </p:nvSpPr>
        <p:spPr>
          <a:xfrm>
            <a:off x="2782982" y="2091690"/>
            <a:ext cx="425207" cy="425196"/>
          </a:xfrm>
          <a:prstGeom prst="ellipse">
            <a:avLst/>
          </a:prstGeom>
          <a:solidFill>
            <a:srgbClr val="F59E0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3" name="Google Shape;243;p27"/>
          <p:cNvSpPr/>
          <p:nvPr/>
        </p:nvSpPr>
        <p:spPr>
          <a:xfrm>
            <a:off x="2782982" y="2091690"/>
            <a:ext cx="425207" cy="42519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E1117"/>
              </a:buClr>
              <a:buSzPts val="1400"/>
              <a:buFont typeface="Arial"/>
              <a:buNone/>
            </a:pPr>
            <a:r>
              <a:rPr b="1" i="0" lang="en" sz="1400" u="none" cap="none" strike="noStrike">
                <a:solidFill>
                  <a:srgbClr val="0E1117"/>
                </a:solidFill>
                <a:latin typeface="Arial"/>
                <a:ea typeface="Arial"/>
                <a:cs typeface="Arial"/>
                <a:sym typeface="Arial"/>
              </a:rPr>
              <a:t>2</a:t>
            </a:r>
            <a:endParaRPr b="0" i="0" sz="1400" u="none" cap="none" strike="noStrike">
              <a:solidFill>
                <a:schemeClr val="dk1"/>
              </a:solidFill>
              <a:latin typeface="Calibri"/>
              <a:ea typeface="Calibri"/>
              <a:cs typeface="Calibri"/>
              <a:sym typeface="Calibri"/>
            </a:endParaRPr>
          </a:p>
        </p:txBody>
      </p:sp>
      <p:sp>
        <p:nvSpPr>
          <p:cNvPr id="244" name="Google Shape;244;p27"/>
          <p:cNvSpPr/>
          <p:nvPr/>
        </p:nvSpPr>
        <p:spPr>
          <a:xfrm>
            <a:off x="2275957" y="2640330"/>
            <a:ext cx="1439258"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4F6FA"/>
              </a:buClr>
              <a:buSzPts val="1100"/>
              <a:buFont typeface="Arial"/>
              <a:buNone/>
            </a:pPr>
            <a:r>
              <a:rPr b="1" i="0" lang="en" sz="1100" u="none" cap="none" strike="noStrike">
                <a:solidFill>
                  <a:srgbClr val="F4F6FA"/>
                </a:solidFill>
                <a:latin typeface="Arial"/>
                <a:ea typeface="Arial"/>
                <a:cs typeface="Arial"/>
                <a:sym typeface="Arial"/>
              </a:rPr>
              <a:t>Build small</a:t>
            </a:r>
            <a:endParaRPr b="0" i="0" sz="1100" u="none" cap="none" strike="noStrike">
              <a:solidFill>
                <a:schemeClr val="dk1"/>
              </a:solidFill>
              <a:latin typeface="Calibri"/>
              <a:ea typeface="Calibri"/>
              <a:cs typeface="Calibri"/>
              <a:sym typeface="Calibri"/>
            </a:endParaRPr>
          </a:p>
        </p:txBody>
      </p:sp>
      <p:sp>
        <p:nvSpPr>
          <p:cNvPr id="245" name="Google Shape;245;p27"/>
          <p:cNvSpPr/>
          <p:nvPr/>
        </p:nvSpPr>
        <p:spPr>
          <a:xfrm>
            <a:off x="2310247" y="3202686"/>
            <a:ext cx="1370677" cy="960120"/>
          </a:xfrm>
          <a:prstGeom prst="rect">
            <a:avLst/>
          </a:prstGeom>
          <a:noFill/>
          <a:ln>
            <a:noFill/>
          </a:ln>
        </p:spPr>
        <p:txBody>
          <a:bodyPr anchorCtr="0" anchor="ctr" bIns="34275" lIns="68575" spcFirstLastPara="1" rIns="68575" wrap="square" tIns="34275">
            <a:noAutofit/>
          </a:bodyPr>
          <a:lstStyle/>
          <a:p>
            <a:pPr indent="0" lvl="0" marL="0" marR="0" rtl="0" algn="ctr">
              <a:lnSpc>
                <a:spcPct val="130434"/>
              </a:lnSpc>
              <a:spcBef>
                <a:spcPts val="0"/>
              </a:spcBef>
              <a:spcAft>
                <a:spcPts val="0"/>
              </a:spcAft>
              <a:buClr>
                <a:srgbClr val="AEB6C4"/>
              </a:buClr>
              <a:buSzPts val="900"/>
              <a:buFont typeface="Arial"/>
              <a:buNone/>
            </a:pPr>
            <a:r>
              <a:rPr b="0" i="0" lang="en" sz="900" u="none" cap="none" strike="noStrike">
                <a:solidFill>
                  <a:srgbClr val="AEB6C4"/>
                </a:solidFill>
                <a:latin typeface="Arial"/>
                <a:ea typeface="Arial"/>
                <a:cs typeface="Arial"/>
                <a:sym typeface="Arial"/>
              </a:rPr>
              <a:t>The smallest version that tests the riskiest assumption. Weeks, not quarters.</a:t>
            </a:r>
            <a:endParaRPr b="0" i="0" sz="900" u="none" cap="none" strike="noStrike">
              <a:solidFill>
                <a:schemeClr val="dk1"/>
              </a:solidFill>
              <a:latin typeface="Calibri"/>
              <a:ea typeface="Calibri"/>
              <a:cs typeface="Calibri"/>
              <a:sym typeface="Calibri"/>
            </a:endParaRPr>
          </a:p>
        </p:txBody>
      </p:sp>
      <p:sp>
        <p:nvSpPr>
          <p:cNvPr id="246" name="Google Shape;246;p27"/>
          <p:cNvSpPr/>
          <p:nvPr/>
        </p:nvSpPr>
        <p:spPr>
          <a:xfrm>
            <a:off x="4359404" y="2091690"/>
            <a:ext cx="425207" cy="425196"/>
          </a:xfrm>
          <a:prstGeom prst="ellipse">
            <a:avLst/>
          </a:prstGeom>
          <a:solidFill>
            <a:srgbClr val="F59E0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7" name="Google Shape;247;p27"/>
          <p:cNvSpPr/>
          <p:nvPr/>
        </p:nvSpPr>
        <p:spPr>
          <a:xfrm>
            <a:off x="4359404" y="2091690"/>
            <a:ext cx="425207" cy="42519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E1117"/>
              </a:buClr>
              <a:buSzPts val="1400"/>
              <a:buFont typeface="Arial"/>
              <a:buNone/>
            </a:pPr>
            <a:r>
              <a:rPr b="1" i="0" lang="en" sz="1400" u="none" cap="none" strike="noStrike">
                <a:solidFill>
                  <a:srgbClr val="0E1117"/>
                </a:solidFill>
                <a:latin typeface="Arial"/>
                <a:ea typeface="Arial"/>
                <a:cs typeface="Arial"/>
                <a:sym typeface="Arial"/>
              </a:rPr>
              <a:t>3</a:t>
            </a:r>
            <a:endParaRPr b="0" i="0" sz="1400" u="none" cap="none" strike="noStrike">
              <a:solidFill>
                <a:schemeClr val="dk1"/>
              </a:solidFill>
              <a:latin typeface="Calibri"/>
              <a:ea typeface="Calibri"/>
              <a:cs typeface="Calibri"/>
              <a:sym typeface="Calibri"/>
            </a:endParaRPr>
          </a:p>
        </p:txBody>
      </p:sp>
      <p:sp>
        <p:nvSpPr>
          <p:cNvPr id="248" name="Google Shape;248;p27"/>
          <p:cNvSpPr/>
          <p:nvPr/>
        </p:nvSpPr>
        <p:spPr>
          <a:xfrm>
            <a:off x="3852379" y="2640330"/>
            <a:ext cx="1439258"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4F6FA"/>
              </a:buClr>
              <a:buSzPts val="1100"/>
              <a:buFont typeface="Arial"/>
              <a:buNone/>
            </a:pPr>
            <a:r>
              <a:rPr b="1" i="0" lang="en" sz="1100" u="none" cap="none" strike="noStrike">
                <a:solidFill>
                  <a:srgbClr val="F4F6FA"/>
                </a:solidFill>
                <a:latin typeface="Arial"/>
                <a:ea typeface="Arial"/>
                <a:cs typeface="Arial"/>
                <a:sym typeface="Arial"/>
              </a:rPr>
              <a:t>Ship fast</a:t>
            </a:r>
            <a:endParaRPr b="0" i="0" sz="1100" u="none" cap="none" strike="noStrike">
              <a:solidFill>
                <a:schemeClr val="dk1"/>
              </a:solidFill>
              <a:latin typeface="Calibri"/>
              <a:ea typeface="Calibri"/>
              <a:cs typeface="Calibri"/>
              <a:sym typeface="Calibri"/>
            </a:endParaRPr>
          </a:p>
        </p:txBody>
      </p:sp>
      <p:sp>
        <p:nvSpPr>
          <p:cNvPr id="249" name="Google Shape;249;p27"/>
          <p:cNvSpPr/>
          <p:nvPr/>
        </p:nvSpPr>
        <p:spPr>
          <a:xfrm>
            <a:off x="3886670" y="3202686"/>
            <a:ext cx="1370677" cy="960120"/>
          </a:xfrm>
          <a:prstGeom prst="rect">
            <a:avLst/>
          </a:prstGeom>
          <a:noFill/>
          <a:ln>
            <a:noFill/>
          </a:ln>
        </p:spPr>
        <p:txBody>
          <a:bodyPr anchorCtr="0" anchor="ctr" bIns="34275" lIns="68575" spcFirstLastPara="1" rIns="68575" wrap="square" tIns="34275">
            <a:noAutofit/>
          </a:bodyPr>
          <a:lstStyle/>
          <a:p>
            <a:pPr indent="0" lvl="0" marL="0" marR="0" rtl="0" algn="ctr">
              <a:lnSpc>
                <a:spcPct val="130434"/>
              </a:lnSpc>
              <a:spcBef>
                <a:spcPts val="0"/>
              </a:spcBef>
              <a:spcAft>
                <a:spcPts val="0"/>
              </a:spcAft>
              <a:buClr>
                <a:srgbClr val="AEB6C4"/>
              </a:buClr>
              <a:buSzPts val="900"/>
              <a:buFont typeface="Arial"/>
              <a:buNone/>
            </a:pPr>
            <a:r>
              <a:rPr b="0" i="0" lang="en" sz="900" u="none" cap="none" strike="noStrike">
                <a:solidFill>
                  <a:srgbClr val="AEB6C4"/>
                </a:solidFill>
                <a:latin typeface="Arial"/>
                <a:ea typeface="Arial"/>
                <a:cs typeface="Arial"/>
                <a:sym typeface="Arial"/>
              </a:rPr>
              <a:t>Real feedback starts only in users' hands. Perfect is the enemy of shipped.</a:t>
            </a:r>
            <a:endParaRPr b="0" i="0" sz="900" u="none" cap="none" strike="noStrike">
              <a:solidFill>
                <a:schemeClr val="dk1"/>
              </a:solidFill>
              <a:latin typeface="Calibri"/>
              <a:ea typeface="Calibri"/>
              <a:cs typeface="Calibri"/>
              <a:sym typeface="Calibri"/>
            </a:endParaRPr>
          </a:p>
        </p:txBody>
      </p:sp>
      <p:sp>
        <p:nvSpPr>
          <p:cNvPr id="250" name="Google Shape;250;p27"/>
          <p:cNvSpPr/>
          <p:nvPr/>
        </p:nvSpPr>
        <p:spPr>
          <a:xfrm>
            <a:off x="5935825" y="2091690"/>
            <a:ext cx="425207" cy="425196"/>
          </a:xfrm>
          <a:prstGeom prst="ellipse">
            <a:avLst/>
          </a:prstGeom>
          <a:solidFill>
            <a:srgbClr val="F59E0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1" name="Google Shape;251;p27"/>
          <p:cNvSpPr/>
          <p:nvPr/>
        </p:nvSpPr>
        <p:spPr>
          <a:xfrm>
            <a:off x="5935825" y="2091690"/>
            <a:ext cx="425207" cy="42519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E1117"/>
              </a:buClr>
              <a:buSzPts val="1400"/>
              <a:buFont typeface="Arial"/>
              <a:buNone/>
            </a:pPr>
            <a:r>
              <a:rPr b="1" i="0" lang="en" sz="1400" u="none" cap="none" strike="noStrike">
                <a:solidFill>
                  <a:srgbClr val="0E1117"/>
                </a:solidFill>
                <a:latin typeface="Arial"/>
                <a:ea typeface="Arial"/>
                <a:cs typeface="Arial"/>
                <a:sym typeface="Arial"/>
              </a:rPr>
              <a:t>4</a:t>
            </a:r>
            <a:endParaRPr b="0" i="0" sz="1400" u="none" cap="none" strike="noStrike">
              <a:solidFill>
                <a:schemeClr val="dk1"/>
              </a:solidFill>
              <a:latin typeface="Calibri"/>
              <a:ea typeface="Calibri"/>
              <a:cs typeface="Calibri"/>
              <a:sym typeface="Calibri"/>
            </a:endParaRPr>
          </a:p>
        </p:txBody>
      </p:sp>
      <p:sp>
        <p:nvSpPr>
          <p:cNvPr id="252" name="Google Shape;252;p27"/>
          <p:cNvSpPr/>
          <p:nvPr/>
        </p:nvSpPr>
        <p:spPr>
          <a:xfrm>
            <a:off x="5428801" y="2640330"/>
            <a:ext cx="1439258"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4F6FA"/>
              </a:buClr>
              <a:buSzPts val="1100"/>
              <a:buFont typeface="Arial"/>
              <a:buNone/>
            </a:pPr>
            <a:r>
              <a:rPr b="1" i="0" lang="en" sz="1100" u="none" cap="none" strike="noStrike">
                <a:solidFill>
                  <a:srgbClr val="F4F6FA"/>
                </a:solidFill>
                <a:latin typeface="Arial"/>
                <a:ea typeface="Arial"/>
                <a:cs typeface="Arial"/>
                <a:sym typeface="Arial"/>
              </a:rPr>
              <a:t>Measure honestly</a:t>
            </a:r>
            <a:endParaRPr b="0" i="0" sz="1100" u="none" cap="none" strike="noStrike">
              <a:solidFill>
                <a:schemeClr val="dk1"/>
              </a:solidFill>
              <a:latin typeface="Calibri"/>
              <a:ea typeface="Calibri"/>
              <a:cs typeface="Calibri"/>
              <a:sym typeface="Calibri"/>
            </a:endParaRPr>
          </a:p>
        </p:txBody>
      </p:sp>
      <p:sp>
        <p:nvSpPr>
          <p:cNvPr id="253" name="Google Shape;253;p27"/>
          <p:cNvSpPr/>
          <p:nvPr/>
        </p:nvSpPr>
        <p:spPr>
          <a:xfrm>
            <a:off x="5463092" y="3202686"/>
            <a:ext cx="1370677" cy="960120"/>
          </a:xfrm>
          <a:prstGeom prst="rect">
            <a:avLst/>
          </a:prstGeom>
          <a:noFill/>
          <a:ln>
            <a:noFill/>
          </a:ln>
        </p:spPr>
        <p:txBody>
          <a:bodyPr anchorCtr="0" anchor="ctr" bIns="34275" lIns="68575" spcFirstLastPara="1" rIns="68575" wrap="square" tIns="34275">
            <a:noAutofit/>
          </a:bodyPr>
          <a:lstStyle/>
          <a:p>
            <a:pPr indent="0" lvl="0" marL="0" marR="0" rtl="0" algn="ctr">
              <a:lnSpc>
                <a:spcPct val="130434"/>
              </a:lnSpc>
              <a:spcBef>
                <a:spcPts val="0"/>
              </a:spcBef>
              <a:spcAft>
                <a:spcPts val="0"/>
              </a:spcAft>
              <a:buClr>
                <a:srgbClr val="AEB6C4"/>
              </a:buClr>
              <a:buSzPts val="900"/>
              <a:buFont typeface="Arial"/>
              <a:buNone/>
            </a:pPr>
            <a:r>
              <a:rPr b="0" i="0" lang="en" sz="900" u="none" cap="none" strike="noStrike">
                <a:solidFill>
                  <a:srgbClr val="AEB6C4"/>
                </a:solidFill>
                <a:latin typeface="Arial"/>
                <a:ea typeface="Arial"/>
                <a:cs typeface="Arial"/>
                <a:sym typeface="Arial"/>
              </a:rPr>
              <a:t>Do people use it, return to it, pay for it? Data over opinions including yours.</a:t>
            </a:r>
            <a:endParaRPr b="0" i="0" sz="900" u="none" cap="none" strike="noStrike">
              <a:solidFill>
                <a:schemeClr val="dk1"/>
              </a:solidFill>
              <a:latin typeface="Calibri"/>
              <a:ea typeface="Calibri"/>
              <a:cs typeface="Calibri"/>
              <a:sym typeface="Calibri"/>
            </a:endParaRPr>
          </a:p>
        </p:txBody>
      </p:sp>
      <p:sp>
        <p:nvSpPr>
          <p:cNvPr id="254" name="Google Shape;254;p27"/>
          <p:cNvSpPr/>
          <p:nvPr/>
        </p:nvSpPr>
        <p:spPr>
          <a:xfrm>
            <a:off x="7512248" y="2091690"/>
            <a:ext cx="425207" cy="425196"/>
          </a:xfrm>
          <a:prstGeom prst="ellipse">
            <a:avLst/>
          </a:prstGeom>
          <a:solidFill>
            <a:srgbClr val="F59E0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5" name="Google Shape;255;p27"/>
          <p:cNvSpPr/>
          <p:nvPr/>
        </p:nvSpPr>
        <p:spPr>
          <a:xfrm>
            <a:off x="7512248" y="2091690"/>
            <a:ext cx="425207" cy="42519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E1117"/>
              </a:buClr>
              <a:buSzPts val="1400"/>
              <a:buFont typeface="Arial"/>
              <a:buNone/>
            </a:pPr>
            <a:r>
              <a:rPr b="1" i="0" lang="en" sz="1400" u="none" cap="none" strike="noStrike">
                <a:solidFill>
                  <a:srgbClr val="0E1117"/>
                </a:solidFill>
                <a:latin typeface="Arial"/>
                <a:ea typeface="Arial"/>
                <a:cs typeface="Arial"/>
                <a:sym typeface="Arial"/>
              </a:rPr>
              <a:t>5</a:t>
            </a:r>
            <a:endParaRPr b="0" i="0" sz="1400" u="none" cap="none" strike="noStrike">
              <a:solidFill>
                <a:schemeClr val="dk1"/>
              </a:solidFill>
              <a:latin typeface="Calibri"/>
              <a:ea typeface="Calibri"/>
              <a:cs typeface="Calibri"/>
              <a:sym typeface="Calibri"/>
            </a:endParaRPr>
          </a:p>
        </p:txBody>
      </p:sp>
      <p:sp>
        <p:nvSpPr>
          <p:cNvPr id="256" name="Google Shape;256;p27"/>
          <p:cNvSpPr/>
          <p:nvPr/>
        </p:nvSpPr>
        <p:spPr>
          <a:xfrm>
            <a:off x="7005222" y="2640330"/>
            <a:ext cx="1439258"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4F6FA"/>
              </a:buClr>
              <a:buSzPts val="1100"/>
              <a:buFont typeface="Arial"/>
              <a:buNone/>
            </a:pPr>
            <a:r>
              <a:rPr b="1" i="0" lang="en" sz="1100" u="none" cap="none" strike="noStrike">
                <a:solidFill>
                  <a:srgbClr val="F4F6FA"/>
                </a:solidFill>
                <a:latin typeface="Arial"/>
                <a:ea typeface="Arial"/>
                <a:cs typeface="Arial"/>
                <a:sym typeface="Arial"/>
              </a:rPr>
              <a:t>Iterate or kill</a:t>
            </a:r>
            <a:endParaRPr b="0" i="0" sz="1100" u="none" cap="none" strike="noStrike">
              <a:solidFill>
                <a:schemeClr val="dk1"/>
              </a:solidFill>
              <a:latin typeface="Calibri"/>
              <a:ea typeface="Calibri"/>
              <a:cs typeface="Calibri"/>
              <a:sym typeface="Calibri"/>
            </a:endParaRPr>
          </a:p>
        </p:txBody>
      </p:sp>
      <p:sp>
        <p:nvSpPr>
          <p:cNvPr id="257" name="Google Shape;257;p27"/>
          <p:cNvSpPr/>
          <p:nvPr/>
        </p:nvSpPr>
        <p:spPr>
          <a:xfrm>
            <a:off x="7039513" y="3202686"/>
            <a:ext cx="1370677" cy="960120"/>
          </a:xfrm>
          <a:prstGeom prst="rect">
            <a:avLst/>
          </a:prstGeom>
          <a:noFill/>
          <a:ln>
            <a:noFill/>
          </a:ln>
        </p:spPr>
        <p:txBody>
          <a:bodyPr anchorCtr="0" anchor="ctr" bIns="34275" lIns="68575" spcFirstLastPara="1" rIns="68575" wrap="square" tIns="34275">
            <a:noAutofit/>
          </a:bodyPr>
          <a:lstStyle/>
          <a:p>
            <a:pPr indent="0" lvl="0" marL="0" marR="0" rtl="0" algn="ctr">
              <a:lnSpc>
                <a:spcPct val="130434"/>
              </a:lnSpc>
              <a:spcBef>
                <a:spcPts val="0"/>
              </a:spcBef>
              <a:spcAft>
                <a:spcPts val="0"/>
              </a:spcAft>
              <a:buClr>
                <a:srgbClr val="AEB6C4"/>
              </a:buClr>
              <a:buSzPts val="900"/>
              <a:buFont typeface="Arial"/>
              <a:buNone/>
            </a:pPr>
            <a:r>
              <a:rPr b="0" i="0" lang="en" sz="900" u="none" cap="none" strike="noStrike">
                <a:solidFill>
                  <a:srgbClr val="AEB6C4"/>
                </a:solidFill>
                <a:latin typeface="Arial"/>
                <a:ea typeface="Arial"/>
                <a:cs typeface="Arial"/>
                <a:sym typeface="Arial"/>
              </a:rPr>
              <a:t>Double down on what works. Deleting features you loved is part of the job.</a:t>
            </a:r>
            <a:endParaRPr b="0" i="0" sz="900" u="none" cap="none" strike="noStrike">
              <a:solidFill>
                <a:schemeClr val="dk1"/>
              </a:solidFill>
              <a:latin typeface="Calibri"/>
              <a:ea typeface="Calibri"/>
              <a:cs typeface="Calibri"/>
              <a:sym typeface="Calibri"/>
            </a:endParaRPr>
          </a:p>
        </p:txBody>
      </p:sp>
      <p:sp>
        <p:nvSpPr>
          <p:cNvPr id="258" name="Google Shape;258;p27"/>
          <p:cNvSpPr/>
          <p:nvPr/>
        </p:nvSpPr>
        <p:spPr>
          <a:xfrm>
            <a:off x="630953" y="4149090"/>
            <a:ext cx="7882109" cy="48006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6B7382"/>
              </a:buClr>
              <a:buSzPts val="1200"/>
              <a:buFont typeface="Arial"/>
              <a:buNone/>
            </a:pPr>
            <a:r>
              <a:rPr b="0" i="1" lang="en" sz="1200" u="none" cap="none" strike="noStrike">
                <a:solidFill>
                  <a:srgbClr val="6B7382"/>
                </a:solidFill>
                <a:latin typeface="Arial"/>
                <a:ea typeface="Arial"/>
                <a:cs typeface="Arial"/>
                <a:sym typeface="Arial"/>
              </a:rPr>
              <a:t>This loop never ends. Product work is never 'done';  that's the job.</a:t>
            </a:r>
            <a:endParaRPr b="0" i="0" sz="1200" u="none" cap="none" strike="noStrike">
              <a:solidFill>
                <a:schemeClr val="dk1"/>
              </a:solidFill>
              <a:latin typeface="Calibri"/>
              <a:ea typeface="Calibri"/>
              <a:cs typeface="Calibri"/>
              <a:sym typeface="Calibri"/>
            </a:endParaRPr>
          </a:p>
        </p:txBody>
      </p:sp>
      <p:sp>
        <p:nvSpPr>
          <p:cNvPr id="259" name="Google Shape;259;p27"/>
          <p:cNvSpPr/>
          <p:nvPr/>
        </p:nvSpPr>
        <p:spPr>
          <a:xfrm>
            <a:off x="630953" y="4800600"/>
            <a:ext cx="411491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FROM CAMPUS TO STARTUP</a:t>
            </a:r>
            <a:endParaRPr b="0" i="0" sz="700" u="none" cap="none" strike="noStrike">
              <a:solidFill>
                <a:schemeClr val="dk1"/>
              </a:solidFill>
              <a:latin typeface="Calibri"/>
              <a:ea typeface="Calibri"/>
              <a:cs typeface="Calibri"/>
              <a:sym typeface="Calibri"/>
            </a:endParaRPr>
          </a:p>
        </p:txBody>
      </p:sp>
      <p:sp>
        <p:nvSpPr>
          <p:cNvPr id="260" name="Google Shape;260;p27"/>
          <p:cNvSpPr/>
          <p:nvPr/>
        </p:nvSpPr>
        <p:spPr>
          <a:xfrm>
            <a:off x="7964407" y="4800600"/>
            <a:ext cx="548655"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08</a:t>
            </a:r>
            <a:endParaRPr b="0" i="0" sz="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500"/>
                                        <p:tgtEl>
                                          <p:spTgt spid="248"/>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500"/>
                                        <p:tgtEl>
                                          <p:spTgt spid="249"/>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500"/>
                                        <p:tgtEl>
                                          <p:spTgt spid="251"/>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500"/>
                                        <p:tgtEl>
                                          <p:spTgt spid="252"/>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500"/>
                                        <p:tgtEl>
                                          <p:spTgt spid="253"/>
                                        </p:tgtEl>
                                      </p:cBhvr>
                                    </p:animEffect>
                                  </p:childTnLst>
                                </p:cTn>
                              </p:par>
                            </p:childTnLst>
                          </p:cTn>
                        </p:par>
                        <p:par>
                          <p:cTn fill="hold">
                            <p:stCondLst>
                              <p:cond delay="7500"/>
                            </p:stCondLst>
                            <p:childTnLst>
                              <p:par>
                                <p:cTn fill="hold" nodeType="after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500"/>
                                        <p:tgtEl>
                                          <p:spTgt spid="255"/>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500"/>
                                        <p:tgtEl>
                                          <p:spTgt spid="256"/>
                                        </p:tgtEl>
                                      </p:cBhvr>
                                    </p:animEffect>
                                  </p:childTnLst>
                                </p:cTn>
                              </p:par>
                            </p:childTnLst>
                          </p:cTn>
                        </p:par>
                        <p:par>
                          <p:cTn fill="hold">
                            <p:stCondLst>
                              <p:cond delay="8500"/>
                            </p:stCondLst>
                            <p:childTnLst>
                              <p:par>
                                <p:cTn fill="hold" nodeType="after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500"/>
                                        <p:tgtEl>
                                          <p:spTgt spid="257"/>
                                        </p:tgtEl>
                                      </p:cBhvr>
                                    </p:animEffect>
                                  </p:childTnLst>
                                </p:cTn>
                              </p:par>
                            </p:childTnLst>
                          </p:cTn>
                        </p:par>
                        <p:par>
                          <p:cTn fill="hold">
                            <p:stCondLst>
                              <p:cond delay="9000"/>
                            </p:stCondLst>
                            <p:childTnLst>
                              <p:par>
                                <p:cTn fill="hold" nodeType="after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childTnLst>
                          </p:cTn>
                        </p:par>
                        <p:par>
                          <p:cTn fill="hold">
                            <p:stCondLst>
                              <p:cond delay="9500"/>
                            </p:stCondLst>
                            <p:childTnLst>
                              <p:par>
                                <p:cTn fill="hold" nodeType="after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childTnLst>
                          </p:cTn>
                        </p:par>
                        <p:par>
                          <p:cTn fill="hold">
                            <p:stCondLst>
                              <p:cond delay="10000"/>
                            </p:stCondLst>
                            <p:childTnLst>
                              <p:par>
                                <p:cTn fill="hold" nodeType="after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B10"/>
        </a:solidFill>
      </p:bgPr>
    </p:bg>
    <p:spTree>
      <p:nvGrpSpPr>
        <p:cNvPr id="265" name="Shape 265"/>
        <p:cNvGrpSpPr/>
        <p:nvPr/>
      </p:nvGrpSpPr>
      <p:grpSpPr>
        <a:xfrm>
          <a:off x="0" y="0"/>
          <a:ext cx="0" cy="0"/>
          <a:chOff x="0" y="0"/>
          <a:chExt cx="0" cy="0"/>
        </a:xfrm>
      </p:grpSpPr>
      <p:sp>
        <p:nvSpPr>
          <p:cNvPr id="266" name="Google Shape;266;p28"/>
          <p:cNvSpPr/>
          <p:nvPr/>
        </p:nvSpPr>
        <p:spPr>
          <a:xfrm>
            <a:off x="-1783128" y="2263139"/>
            <a:ext cx="4800728" cy="480060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7" name="Google Shape;267;p28"/>
          <p:cNvSpPr/>
          <p:nvPr/>
        </p:nvSpPr>
        <p:spPr>
          <a:xfrm>
            <a:off x="-1111026" y="2935224"/>
            <a:ext cx="3456524" cy="3456432"/>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8" name="Google Shape;268;p28"/>
          <p:cNvSpPr/>
          <p:nvPr/>
        </p:nvSpPr>
        <p:spPr>
          <a:xfrm>
            <a:off x="630953" y="788670"/>
            <a:ext cx="2057455" cy="16459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430"/>
              </a:buClr>
              <a:buSzPts val="11300"/>
              <a:buFont typeface="Arial"/>
              <a:buNone/>
            </a:pPr>
            <a:r>
              <a:rPr b="1" i="0" lang="en" sz="11300" u="none" cap="none" strike="noStrike">
                <a:solidFill>
                  <a:srgbClr val="1F2430"/>
                </a:solidFill>
                <a:latin typeface="Arial"/>
                <a:ea typeface="Arial"/>
                <a:cs typeface="Arial"/>
                <a:sym typeface="Arial"/>
              </a:rPr>
              <a:t>05</a:t>
            </a:r>
            <a:endParaRPr b="0" i="0" sz="11300" u="none" cap="none" strike="noStrike">
              <a:solidFill>
                <a:schemeClr val="dk1"/>
              </a:solidFill>
              <a:latin typeface="Calibri"/>
              <a:ea typeface="Calibri"/>
              <a:cs typeface="Calibri"/>
              <a:sym typeface="Calibri"/>
            </a:endParaRPr>
          </a:p>
        </p:txBody>
      </p:sp>
      <p:sp>
        <p:nvSpPr>
          <p:cNvPr id="269" name="Google Shape;269;p28"/>
          <p:cNvSpPr/>
          <p:nvPr/>
        </p:nvSpPr>
        <p:spPr>
          <a:xfrm>
            <a:off x="658386" y="2482595"/>
            <a:ext cx="6858183"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CASE STUDY · POWERPLAY</a:t>
            </a:r>
            <a:endParaRPr b="0" i="0" sz="1000" u="none" cap="none" strike="noStrike">
              <a:solidFill>
                <a:schemeClr val="dk1"/>
              </a:solidFill>
              <a:latin typeface="Calibri"/>
              <a:ea typeface="Calibri"/>
              <a:cs typeface="Calibri"/>
              <a:sym typeface="Calibri"/>
            </a:endParaRPr>
          </a:p>
        </p:txBody>
      </p:sp>
      <p:sp>
        <p:nvSpPr>
          <p:cNvPr id="270" name="Google Shape;270;p28"/>
          <p:cNvSpPr/>
          <p:nvPr/>
        </p:nvSpPr>
        <p:spPr>
          <a:xfrm>
            <a:off x="630953" y="2729484"/>
            <a:ext cx="7269674" cy="1392174"/>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4F6FA"/>
              </a:buClr>
              <a:buSzPts val="3200"/>
              <a:buFont typeface="Arial"/>
              <a:buNone/>
            </a:pPr>
            <a:r>
              <a:rPr b="1" i="0" lang="en" sz="3200" u="none" cap="none" strike="noStrike">
                <a:solidFill>
                  <a:srgbClr val="F4F6FA"/>
                </a:solidFill>
                <a:latin typeface="Arial"/>
                <a:ea typeface="Arial"/>
                <a:cs typeface="Arial"/>
                <a:sym typeface="Arial"/>
              </a:rPr>
              <a:t>Unglamorous</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4F6FA"/>
              </a:buClr>
              <a:buSzPts val="3200"/>
              <a:buFont typeface="Arial"/>
              <a:buNone/>
            </a:pPr>
            <a:r>
              <a:rPr b="1" i="0" lang="en" sz="3200" u="none" cap="none" strike="noStrike">
                <a:solidFill>
                  <a:srgbClr val="F4F6FA"/>
                </a:solidFill>
                <a:latin typeface="Arial"/>
                <a:ea typeface="Arial"/>
                <a:cs typeface="Arial"/>
                <a:sym typeface="Arial"/>
              </a:rPr>
              <a:t>problems are</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4F6FA"/>
              </a:buClr>
              <a:buSzPts val="3200"/>
              <a:buFont typeface="Arial"/>
              <a:buNone/>
            </a:pPr>
            <a:r>
              <a:rPr b="1" i="0" lang="en" sz="3200" u="none" cap="none" strike="noStrike">
                <a:solidFill>
                  <a:srgbClr val="F4F6FA"/>
                </a:solidFill>
                <a:latin typeface="Arial"/>
                <a:ea typeface="Arial"/>
                <a:cs typeface="Arial"/>
                <a:sym typeface="Arial"/>
              </a:rPr>
              <a:t>gold mines</a:t>
            </a:r>
            <a:endParaRPr b="0" i="0" sz="3200" u="none" cap="none" strike="noStrike">
              <a:solidFill>
                <a:schemeClr val="dk1"/>
              </a:solidFill>
              <a:latin typeface="Calibri"/>
              <a:ea typeface="Calibri"/>
              <a:cs typeface="Calibri"/>
              <a:sym typeface="Calibri"/>
            </a:endParaRPr>
          </a:p>
        </p:txBody>
      </p:sp>
      <p:sp>
        <p:nvSpPr>
          <p:cNvPr id="271" name="Google Shape;271;p28"/>
          <p:cNvSpPr/>
          <p:nvPr/>
        </p:nvSpPr>
        <p:spPr>
          <a:xfrm>
            <a:off x="630953" y="4203954"/>
            <a:ext cx="6721019"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44444"/>
              </a:lnSpc>
              <a:spcBef>
                <a:spcPts val="0"/>
              </a:spcBef>
              <a:spcAft>
                <a:spcPts val="0"/>
              </a:spcAft>
              <a:buClr>
                <a:srgbClr val="AEB6C4"/>
              </a:buClr>
              <a:buSzPts val="1400"/>
              <a:buFont typeface="Arial"/>
              <a:buNone/>
            </a:pPr>
            <a:r>
              <a:rPr b="0" i="0" lang="en" sz="1400" u="none" cap="none" strike="noStrike">
                <a:solidFill>
                  <a:srgbClr val="AEB6C4"/>
                </a:solidFill>
                <a:latin typeface="Arial"/>
                <a:ea typeface="Arial"/>
                <a:cs typeface="Arial"/>
                <a:sym typeface="Arial"/>
              </a:rPr>
              <a:t>The biggest opportunities hide in huge, offline industries that technology skipped.</a:t>
            </a:r>
            <a:endParaRPr b="0" i="0" sz="14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500"/>
                                        <p:tgtEl>
                                          <p:spTgt spid="26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500"/>
                                        <p:tgtEl>
                                          <p:spTgt spid="26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500"/>
                                        <p:tgtEl>
                                          <p:spTgt spid="270"/>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500"/>
                                        <p:tgtEl>
                                          <p:spTgt spid="2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117"/>
        </a:solidFill>
      </p:bgPr>
    </p:bg>
    <p:spTree>
      <p:nvGrpSpPr>
        <p:cNvPr id="276" name="Shape 276"/>
        <p:cNvGrpSpPr/>
        <p:nvPr/>
      </p:nvGrpSpPr>
      <p:grpSpPr>
        <a:xfrm>
          <a:off x="0" y="0"/>
          <a:ext cx="0" cy="0"/>
          <a:chOff x="0" y="0"/>
          <a:chExt cx="0" cy="0"/>
        </a:xfrm>
      </p:grpSpPr>
      <p:sp>
        <p:nvSpPr>
          <p:cNvPr id="277" name="Google Shape;277;p29"/>
          <p:cNvSpPr/>
          <p:nvPr/>
        </p:nvSpPr>
        <p:spPr>
          <a:xfrm>
            <a:off x="7223724" y="-1303020"/>
            <a:ext cx="3429091" cy="342900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8" name="Google Shape;278;p29"/>
          <p:cNvSpPr/>
          <p:nvPr/>
        </p:nvSpPr>
        <p:spPr>
          <a:xfrm>
            <a:off x="7703797" y="-822960"/>
            <a:ext cx="2468946" cy="2468880"/>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9" name="Google Shape;279;p29"/>
          <p:cNvSpPr/>
          <p:nvPr/>
        </p:nvSpPr>
        <p:spPr>
          <a:xfrm>
            <a:off x="630953" y="493776"/>
            <a:ext cx="7882109" cy="23317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THE PROBLEM WORTH SOLVING</a:t>
            </a:r>
            <a:endParaRPr b="0" i="0" sz="1000" u="none" cap="none" strike="noStrike">
              <a:solidFill>
                <a:schemeClr val="dk1"/>
              </a:solidFill>
              <a:latin typeface="Calibri"/>
              <a:ea typeface="Calibri"/>
              <a:cs typeface="Calibri"/>
              <a:sym typeface="Calibri"/>
            </a:endParaRPr>
          </a:p>
        </p:txBody>
      </p:sp>
      <p:sp>
        <p:nvSpPr>
          <p:cNvPr id="280" name="Google Shape;280;p29"/>
          <p:cNvSpPr/>
          <p:nvPr/>
        </p:nvSpPr>
        <p:spPr>
          <a:xfrm>
            <a:off x="630953" y="768096"/>
            <a:ext cx="7882109"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2600"/>
              <a:buFont typeface="Arial"/>
              <a:buNone/>
            </a:pPr>
            <a:r>
              <a:rPr b="1" i="0" lang="en" sz="2600" u="none" cap="none" strike="noStrike">
                <a:solidFill>
                  <a:srgbClr val="F4F6FA"/>
                </a:solidFill>
                <a:latin typeface="Arial"/>
                <a:ea typeface="Arial"/>
                <a:cs typeface="Arial"/>
                <a:sym typeface="Arial"/>
              </a:rPr>
              <a:t>India builds. Most of it runs on paper.</a:t>
            </a:r>
            <a:endParaRPr b="0" i="0" sz="2600" u="none" cap="none" strike="noStrike">
              <a:solidFill>
                <a:schemeClr val="dk1"/>
              </a:solidFill>
              <a:latin typeface="Calibri"/>
              <a:ea typeface="Calibri"/>
              <a:cs typeface="Calibri"/>
              <a:sym typeface="Calibri"/>
            </a:endParaRPr>
          </a:p>
        </p:txBody>
      </p:sp>
      <p:sp>
        <p:nvSpPr>
          <p:cNvPr id="281" name="Google Shape;281;p29"/>
          <p:cNvSpPr/>
          <p:nvPr/>
        </p:nvSpPr>
        <p:spPr>
          <a:xfrm>
            <a:off x="630953" y="1748790"/>
            <a:ext cx="2398763" cy="1885950"/>
          </a:xfrm>
          <a:prstGeom prst="roundRect">
            <a:avLst>
              <a:gd fmla="val 4364"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2" name="Google Shape;282;p29"/>
          <p:cNvSpPr/>
          <p:nvPr/>
        </p:nvSpPr>
        <p:spPr>
          <a:xfrm>
            <a:off x="665244" y="1988820"/>
            <a:ext cx="2330182" cy="78867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4400"/>
              <a:buFont typeface="Arial"/>
              <a:buNone/>
            </a:pPr>
            <a:r>
              <a:rPr b="1" i="0" lang="en" sz="4400" u="none" cap="none" strike="noStrike">
                <a:solidFill>
                  <a:srgbClr val="F59E0B"/>
                </a:solidFill>
                <a:latin typeface="Arial"/>
                <a:ea typeface="Arial"/>
                <a:cs typeface="Arial"/>
                <a:sym typeface="Arial"/>
              </a:rPr>
              <a:t>~70 Mn</a:t>
            </a:r>
            <a:endParaRPr b="0" i="0" sz="4400" u="none" cap="none" strike="noStrike">
              <a:solidFill>
                <a:schemeClr val="dk1"/>
              </a:solidFill>
              <a:latin typeface="Calibri"/>
              <a:ea typeface="Calibri"/>
              <a:cs typeface="Calibri"/>
              <a:sym typeface="Calibri"/>
            </a:endParaRPr>
          </a:p>
        </p:txBody>
      </p:sp>
      <p:sp>
        <p:nvSpPr>
          <p:cNvPr id="283" name="Google Shape;283;p29"/>
          <p:cNvSpPr/>
          <p:nvPr/>
        </p:nvSpPr>
        <p:spPr>
          <a:xfrm>
            <a:off x="870989" y="2846070"/>
            <a:ext cx="1918691" cy="651510"/>
          </a:xfrm>
          <a:prstGeom prst="rect">
            <a:avLst/>
          </a:prstGeom>
          <a:noFill/>
          <a:ln>
            <a:noFill/>
          </a:ln>
        </p:spPr>
        <p:txBody>
          <a:bodyPr anchorCtr="0" anchor="ctr" bIns="34275" lIns="68575" spcFirstLastPara="1" rIns="68575" wrap="square" tIns="34275">
            <a:noAutofit/>
          </a:bodyPr>
          <a:lstStyle/>
          <a:p>
            <a:pPr indent="0" lvl="0" marL="0" marR="0" rtl="0" algn="ctr">
              <a:lnSpc>
                <a:spcPct val="133333"/>
              </a:lnSpc>
              <a:spcBef>
                <a:spcPts val="0"/>
              </a:spcBef>
              <a:spcAft>
                <a:spcPts val="0"/>
              </a:spcAft>
              <a:buClr>
                <a:srgbClr val="AEB6C4"/>
              </a:buClr>
              <a:buSzPts val="1100"/>
              <a:buFont typeface="Arial"/>
              <a:buNone/>
            </a:pPr>
            <a:r>
              <a:rPr b="0" i="0" lang="en" sz="1100" u="none" cap="none" strike="noStrike">
                <a:solidFill>
                  <a:srgbClr val="AEB6C4"/>
                </a:solidFill>
                <a:latin typeface="Arial"/>
                <a:ea typeface="Arial"/>
                <a:cs typeface="Arial"/>
                <a:sym typeface="Arial"/>
              </a:rPr>
              <a:t>people work in construction - one of India's largest employers</a:t>
            </a:r>
            <a:endParaRPr b="0" i="0" sz="1100" u="none" cap="none" strike="noStrike">
              <a:solidFill>
                <a:schemeClr val="dk1"/>
              </a:solidFill>
              <a:latin typeface="Calibri"/>
              <a:ea typeface="Calibri"/>
              <a:cs typeface="Calibri"/>
              <a:sym typeface="Calibri"/>
            </a:endParaRPr>
          </a:p>
        </p:txBody>
      </p:sp>
      <p:sp>
        <p:nvSpPr>
          <p:cNvPr id="284" name="Google Shape;284;p29"/>
          <p:cNvSpPr/>
          <p:nvPr/>
        </p:nvSpPr>
        <p:spPr>
          <a:xfrm>
            <a:off x="3372625" y="1748790"/>
            <a:ext cx="2398763" cy="1885950"/>
          </a:xfrm>
          <a:prstGeom prst="roundRect">
            <a:avLst>
              <a:gd fmla="val 4364"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5" name="Google Shape;285;p29"/>
          <p:cNvSpPr/>
          <p:nvPr/>
        </p:nvSpPr>
        <p:spPr>
          <a:xfrm>
            <a:off x="3406916" y="1988820"/>
            <a:ext cx="2330182" cy="78867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4400"/>
              <a:buFont typeface="Arial"/>
              <a:buNone/>
            </a:pPr>
            <a:r>
              <a:rPr b="1" i="0" lang="en" sz="4400" u="none" cap="none" strike="noStrike">
                <a:solidFill>
                  <a:srgbClr val="F59E0B"/>
                </a:solidFill>
                <a:latin typeface="Arial"/>
                <a:ea typeface="Arial"/>
                <a:cs typeface="Arial"/>
                <a:sym typeface="Arial"/>
              </a:rPr>
              <a:t>~9%</a:t>
            </a:r>
            <a:endParaRPr b="0" i="0" sz="4400" u="none" cap="none" strike="noStrike">
              <a:solidFill>
                <a:schemeClr val="dk1"/>
              </a:solidFill>
              <a:latin typeface="Calibri"/>
              <a:ea typeface="Calibri"/>
              <a:cs typeface="Calibri"/>
              <a:sym typeface="Calibri"/>
            </a:endParaRPr>
          </a:p>
        </p:txBody>
      </p:sp>
      <p:sp>
        <p:nvSpPr>
          <p:cNvPr id="286" name="Google Shape;286;p29"/>
          <p:cNvSpPr/>
          <p:nvPr/>
        </p:nvSpPr>
        <p:spPr>
          <a:xfrm>
            <a:off x="3612662" y="2846070"/>
            <a:ext cx="1918691" cy="651510"/>
          </a:xfrm>
          <a:prstGeom prst="rect">
            <a:avLst/>
          </a:prstGeom>
          <a:noFill/>
          <a:ln>
            <a:noFill/>
          </a:ln>
        </p:spPr>
        <p:txBody>
          <a:bodyPr anchorCtr="0" anchor="ctr" bIns="34275" lIns="68575" spcFirstLastPara="1" rIns="68575" wrap="square" tIns="34275">
            <a:noAutofit/>
          </a:bodyPr>
          <a:lstStyle/>
          <a:p>
            <a:pPr indent="0" lvl="0" marL="0" marR="0" rtl="0" algn="ctr">
              <a:lnSpc>
                <a:spcPct val="133333"/>
              </a:lnSpc>
              <a:spcBef>
                <a:spcPts val="0"/>
              </a:spcBef>
              <a:spcAft>
                <a:spcPts val="0"/>
              </a:spcAft>
              <a:buClr>
                <a:srgbClr val="AEB6C4"/>
              </a:buClr>
              <a:buSzPts val="1100"/>
              <a:buFont typeface="Arial"/>
              <a:buNone/>
            </a:pPr>
            <a:r>
              <a:rPr b="0" i="0" lang="en" sz="1100" u="none" cap="none" strike="noStrike">
                <a:solidFill>
                  <a:srgbClr val="AEB6C4"/>
                </a:solidFill>
                <a:latin typeface="Arial"/>
                <a:ea typeface="Arial"/>
                <a:cs typeface="Arial"/>
                <a:sym typeface="Arial"/>
              </a:rPr>
              <a:t>of India's GDP comes from construction &amp; real estate</a:t>
            </a:r>
            <a:endParaRPr b="0" i="0" sz="1100" u="none" cap="none" strike="noStrike">
              <a:solidFill>
                <a:schemeClr val="dk1"/>
              </a:solidFill>
              <a:latin typeface="Calibri"/>
              <a:ea typeface="Calibri"/>
              <a:cs typeface="Calibri"/>
              <a:sym typeface="Calibri"/>
            </a:endParaRPr>
          </a:p>
        </p:txBody>
      </p:sp>
      <p:sp>
        <p:nvSpPr>
          <p:cNvPr id="287" name="Google Shape;287;p29"/>
          <p:cNvSpPr/>
          <p:nvPr/>
        </p:nvSpPr>
        <p:spPr>
          <a:xfrm>
            <a:off x="6114299" y="1748790"/>
            <a:ext cx="2398763" cy="1885950"/>
          </a:xfrm>
          <a:prstGeom prst="roundRect">
            <a:avLst>
              <a:gd fmla="val 4364"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8" name="Google Shape;288;p29"/>
          <p:cNvSpPr/>
          <p:nvPr/>
        </p:nvSpPr>
        <p:spPr>
          <a:xfrm>
            <a:off x="6148589" y="1988820"/>
            <a:ext cx="2330182" cy="78867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4400"/>
              <a:buFont typeface="Arial"/>
              <a:buNone/>
            </a:pPr>
            <a:r>
              <a:rPr b="1" i="0" lang="en" sz="4400" u="none" cap="none" strike="noStrike">
                <a:solidFill>
                  <a:srgbClr val="F59E0B"/>
                </a:solidFill>
                <a:latin typeface="Arial"/>
                <a:ea typeface="Arial"/>
                <a:cs typeface="Arial"/>
                <a:sym typeface="Arial"/>
              </a:rPr>
              <a:t>Lowest</a:t>
            </a:r>
            <a:endParaRPr b="0" i="0" sz="4400" u="none" cap="none" strike="noStrike">
              <a:solidFill>
                <a:schemeClr val="dk1"/>
              </a:solidFill>
              <a:latin typeface="Calibri"/>
              <a:ea typeface="Calibri"/>
              <a:cs typeface="Calibri"/>
              <a:sym typeface="Calibri"/>
            </a:endParaRPr>
          </a:p>
        </p:txBody>
      </p:sp>
      <p:sp>
        <p:nvSpPr>
          <p:cNvPr id="289" name="Google Shape;289;p29"/>
          <p:cNvSpPr/>
          <p:nvPr/>
        </p:nvSpPr>
        <p:spPr>
          <a:xfrm>
            <a:off x="6354335" y="2846070"/>
            <a:ext cx="1918691" cy="651510"/>
          </a:xfrm>
          <a:prstGeom prst="rect">
            <a:avLst/>
          </a:prstGeom>
          <a:noFill/>
          <a:ln>
            <a:noFill/>
          </a:ln>
        </p:spPr>
        <p:txBody>
          <a:bodyPr anchorCtr="0" anchor="ctr" bIns="34275" lIns="68575" spcFirstLastPara="1" rIns="68575" wrap="square" tIns="34275">
            <a:noAutofit/>
          </a:bodyPr>
          <a:lstStyle/>
          <a:p>
            <a:pPr indent="0" lvl="0" marL="0" marR="0" rtl="0" algn="ctr">
              <a:lnSpc>
                <a:spcPct val="133333"/>
              </a:lnSpc>
              <a:spcBef>
                <a:spcPts val="0"/>
              </a:spcBef>
              <a:spcAft>
                <a:spcPts val="0"/>
              </a:spcAft>
              <a:buClr>
                <a:srgbClr val="AEB6C4"/>
              </a:buClr>
              <a:buSzPts val="1100"/>
              <a:buFont typeface="Arial"/>
              <a:buNone/>
            </a:pPr>
            <a:r>
              <a:rPr b="0" i="0" lang="en" sz="1100" u="none" cap="none" strike="noStrike">
                <a:solidFill>
                  <a:srgbClr val="AEB6C4"/>
                </a:solidFill>
                <a:latin typeface="Arial"/>
                <a:ea typeface="Arial"/>
                <a:cs typeface="Arial"/>
                <a:sym typeface="Arial"/>
              </a:rPr>
              <a:t>digitisation of almost any major industry; pen, paper, phone calls</a:t>
            </a:r>
            <a:endParaRPr b="0" i="0" sz="1100" u="none" cap="none" strike="noStrike">
              <a:solidFill>
                <a:schemeClr val="dk1"/>
              </a:solidFill>
              <a:latin typeface="Calibri"/>
              <a:ea typeface="Calibri"/>
              <a:cs typeface="Calibri"/>
              <a:sym typeface="Calibri"/>
            </a:endParaRPr>
          </a:p>
        </p:txBody>
      </p:sp>
      <p:sp>
        <p:nvSpPr>
          <p:cNvPr id="290" name="Google Shape;290;p29"/>
          <p:cNvSpPr/>
          <p:nvPr/>
        </p:nvSpPr>
        <p:spPr>
          <a:xfrm>
            <a:off x="630953" y="3909060"/>
            <a:ext cx="7882109" cy="617220"/>
          </a:xfrm>
          <a:prstGeom prst="rect">
            <a:avLst/>
          </a:prstGeom>
          <a:noFill/>
          <a:ln>
            <a:noFill/>
          </a:ln>
        </p:spPr>
        <p:txBody>
          <a:bodyPr anchorCtr="0" anchor="ctr" bIns="34275" lIns="68575" spcFirstLastPara="1" rIns="68575" wrap="square" tIns="34275">
            <a:noAutofit/>
          </a:bodyPr>
          <a:lstStyle/>
          <a:p>
            <a:pPr indent="0" lvl="0" marL="0" marR="0" rtl="0" algn="ctr">
              <a:lnSpc>
                <a:spcPct val="141176"/>
              </a:lnSpc>
              <a:spcBef>
                <a:spcPts val="0"/>
              </a:spcBef>
              <a:spcAft>
                <a:spcPts val="0"/>
              </a:spcAft>
              <a:buClr>
                <a:srgbClr val="6B7382"/>
              </a:buClr>
              <a:buSzPts val="1300"/>
              <a:buFont typeface="Arial"/>
              <a:buNone/>
            </a:pPr>
            <a:r>
              <a:rPr b="0" i="1" lang="en" sz="1300" u="none" cap="none" strike="noStrike">
                <a:solidFill>
                  <a:srgbClr val="6B7382"/>
                </a:solidFill>
                <a:latin typeface="Arial"/>
                <a:ea typeface="Arial"/>
                <a:cs typeface="Arial"/>
                <a:sym typeface="Arial"/>
              </a:rPr>
              <a:t>Delays, material leakage and rework are the norm not because people are careless, but because the tools never arrived.</a:t>
            </a:r>
            <a:endParaRPr b="0" i="0" sz="1300" u="none" cap="none" strike="noStrike">
              <a:solidFill>
                <a:schemeClr val="dk1"/>
              </a:solidFill>
              <a:latin typeface="Calibri"/>
              <a:ea typeface="Calibri"/>
              <a:cs typeface="Calibri"/>
              <a:sym typeface="Calibri"/>
            </a:endParaRPr>
          </a:p>
        </p:txBody>
      </p:sp>
      <p:sp>
        <p:nvSpPr>
          <p:cNvPr id="291" name="Google Shape;291;p29"/>
          <p:cNvSpPr/>
          <p:nvPr/>
        </p:nvSpPr>
        <p:spPr>
          <a:xfrm>
            <a:off x="630953" y="4800600"/>
            <a:ext cx="411491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FROM CAMPUS TO STARTUP</a:t>
            </a:r>
            <a:endParaRPr b="0" i="0" sz="700" u="none" cap="none" strike="noStrike">
              <a:solidFill>
                <a:schemeClr val="dk1"/>
              </a:solidFill>
              <a:latin typeface="Calibri"/>
              <a:ea typeface="Calibri"/>
              <a:cs typeface="Calibri"/>
              <a:sym typeface="Calibri"/>
            </a:endParaRPr>
          </a:p>
        </p:txBody>
      </p:sp>
      <p:sp>
        <p:nvSpPr>
          <p:cNvPr id="292" name="Google Shape;292;p29"/>
          <p:cNvSpPr/>
          <p:nvPr/>
        </p:nvSpPr>
        <p:spPr>
          <a:xfrm>
            <a:off x="7964407" y="4800600"/>
            <a:ext cx="548655"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09</a:t>
            </a:r>
            <a:endParaRPr b="0" i="0" sz="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500"/>
                                        <p:tgtEl>
                                          <p:spTgt spid="27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500"/>
                                        <p:tgtEl>
                                          <p:spTgt spid="28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500"/>
                                        <p:tgtEl>
                                          <p:spTgt spid="28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500"/>
                                        <p:tgtEl>
                                          <p:spTgt spid="283"/>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500"/>
                                        <p:tgtEl>
                                          <p:spTgt spid="28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500"/>
                                        <p:tgtEl>
                                          <p:spTgt spid="285"/>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500"/>
                                        <p:tgtEl>
                                          <p:spTgt spid="286"/>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500"/>
                                        <p:tgtEl>
                                          <p:spTgt spid="287"/>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500"/>
                                        <p:tgtEl>
                                          <p:spTgt spid="288"/>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500"/>
                                        <p:tgtEl>
                                          <p:spTgt spid="289"/>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500"/>
                                        <p:tgtEl>
                                          <p:spTgt spid="290"/>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500"/>
                                        <p:tgtEl>
                                          <p:spTgt spid="291"/>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500"/>
                                        <p:tgtEl>
                                          <p:spTgt spid="2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117"/>
        </a:solidFill>
      </p:bgPr>
    </p:bg>
    <p:spTree>
      <p:nvGrpSpPr>
        <p:cNvPr id="297" name="Shape 297"/>
        <p:cNvGrpSpPr/>
        <p:nvPr/>
      </p:nvGrpSpPr>
      <p:grpSpPr>
        <a:xfrm>
          <a:off x="0" y="0"/>
          <a:ext cx="0" cy="0"/>
          <a:chOff x="0" y="0"/>
          <a:chExt cx="0" cy="0"/>
        </a:xfrm>
      </p:grpSpPr>
      <p:sp>
        <p:nvSpPr>
          <p:cNvPr id="298" name="Google Shape;298;p30"/>
          <p:cNvSpPr/>
          <p:nvPr/>
        </p:nvSpPr>
        <p:spPr>
          <a:xfrm>
            <a:off x="7086559" y="-1234440"/>
            <a:ext cx="3703419" cy="370332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9" name="Google Shape;299;p30"/>
          <p:cNvSpPr/>
          <p:nvPr/>
        </p:nvSpPr>
        <p:spPr>
          <a:xfrm>
            <a:off x="7605039" y="-715975"/>
            <a:ext cx="2666461" cy="2666390"/>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0" name="Google Shape;300;p30"/>
          <p:cNvSpPr/>
          <p:nvPr/>
        </p:nvSpPr>
        <p:spPr>
          <a:xfrm>
            <a:off x="630953" y="617220"/>
            <a:ext cx="7882109" cy="23317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THE PRODUCT</a:t>
            </a:r>
            <a:endParaRPr b="0" i="0" sz="1000" u="none" cap="none" strike="noStrike">
              <a:solidFill>
                <a:schemeClr val="dk1"/>
              </a:solidFill>
              <a:latin typeface="Calibri"/>
              <a:ea typeface="Calibri"/>
              <a:cs typeface="Calibri"/>
              <a:sym typeface="Calibri"/>
            </a:endParaRPr>
          </a:p>
        </p:txBody>
      </p:sp>
      <p:sp>
        <p:nvSpPr>
          <p:cNvPr id="301" name="Google Shape;301;p30"/>
          <p:cNvSpPr/>
          <p:nvPr/>
        </p:nvSpPr>
        <p:spPr>
          <a:xfrm>
            <a:off x="630953" y="1371600"/>
            <a:ext cx="7607782" cy="2297430"/>
          </a:xfrm>
          <a:prstGeom prst="rect">
            <a:avLst/>
          </a:prstGeom>
          <a:noFill/>
          <a:ln>
            <a:noFill/>
          </a:ln>
        </p:spPr>
        <p:txBody>
          <a:bodyPr anchorCtr="0" anchor="t" bIns="34275" lIns="68575" spcFirstLastPara="1" rIns="68575" wrap="square" tIns="34275">
            <a:noAutofit/>
          </a:bodyPr>
          <a:lstStyle/>
          <a:p>
            <a:pPr indent="0" lvl="0" marL="0" marR="0" rtl="0" algn="l">
              <a:lnSpc>
                <a:spcPct val="108000"/>
              </a:lnSpc>
              <a:spcBef>
                <a:spcPts val="0"/>
              </a:spcBef>
              <a:spcAft>
                <a:spcPts val="0"/>
              </a:spcAft>
              <a:buClr>
                <a:srgbClr val="F4F6FA"/>
              </a:buClr>
              <a:buSzPts val="3800"/>
              <a:buFont typeface="Arial"/>
              <a:buNone/>
            </a:pPr>
            <a:r>
              <a:rPr b="1" i="0" lang="en" sz="3800" u="none" cap="none" strike="noStrike">
                <a:solidFill>
                  <a:srgbClr val="F4F6FA"/>
                </a:solidFill>
                <a:latin typeface="Arial"/>
                <a:ea typeface="Arial"/>
                <a:cs typeface="Arial"/>
                <a:sym typeface="Arial"/>
              </a:rPr>
              <a:t>Built for a low-end phone,</a:t>
            </a:r>
            <a:br>
              <a:rPr b="1" i="0" lang="en" sz="3800" u="none" cap="none" strike="noStrike">
                <a:solidFill>
                  <a:srgbClr val="F4F6FA"/>
                </a:solidFill>
                <a:latin typeface="Arial"/>
                <a:ea typeface="Arial"/>
                <a:cs typeface="Arial"/>
                <a:sym typeface="Arial"/>
              </a:rPr>
            </a:br>
            <a:r>
              <a:rPr b="1" i="0" lang="en" sz="3800" u="none" cap="none" strike="noStrike">
                <a:solidFill>
                  <a:srgbClr val="F4F6FA"/>
                </a:solidFill>
                <a:latin typeface="Arial"/>
                <a:ea typeface="Arial"/>
                <a:cs typeface="Arial"/>
                <a:sym typeface="Arial"/>
              </a:rPr>
              <a:t>a patchy network,</a:t>
            </a:r>
            <a:br>
              <a:rPr b="1" i="0" lang="en" sz="3800" u="none" cap="none" strike="noStrike">
                <a:solidFill>
                  <a:srgbClr val="F4F6FA"/>
                </a:solidFill>
                <a:latin typeface="Arial"/>
                <a:ea typeface="Arial"/>
                <a:cs typeface="Arial"/>
                <a:sym typeface="Arial"/>
              </a:rPr>
            </a:br>
            <a:r>
              <a:rPr b="1" i="0" lang="en" sz="3800" u="none" cap="none" strike="noStrike">
                <a:solidFill>
                  <a:srgbClr val="F59E0B"/>
                </a:solidFill>
                <a:latin typeface="Arial"/>
                <a:ea typeface="Arial"/>
                <a:cs typeface="Arial"/>
                <a:sym typeface="Arial"/>
              </a:rPr>
              <a:t>and a real job site.</a:t>
            </a:r>
            <a:endParaRPr b="0" i="0" sz="3800" u="none" cap="none" strike="noStrike">
              <a:solidFill>
                <a:schemeClr val="dk1"/>
              </a:solidFill>
              <a:latin typeface="Calibri"/>
              <a:ea typeface="Calibri"/>
              <a:cs typeface="Calibri"/>
              <a:sym typeface="Calibri"/>
            </a:endParaRPr>
          </a:p>
        </p:txBody>
      </p:sp>
      <p:sp>
        <p:nvSpPr>
          <p:cNvPr id="302" name="Google Shape;302;p30"/>
          <p:cNvSpPr/>
          <p:nvPr/>
        </p:nvSpPr>
        <p:spPr>
          <a:xfrm>
            <a:off x="630953" y="3840480"/>
            <a:ext cx="6721019" cy="754380"/>
          </a:xfrm>
          <a:prstGeom prst="rect">
            <a:avLst/>
          </a:prstGeom>
          <a:noFill/>
          <a:ln>
            <a:noFill/>
          </a:ln>
        </p:spPr>
        <p:txBody>
          <a:bodyPr anchorCtr="0" anchor="ctr" bIns="34275" lIns="68575" spcFirstLastPara="1" rIns="68575" wrap="square" tIns="34275">
            <a:noAutofit/>
          </a:bodyPr>
          <a:lstStyle/>
          <a:p>
            <a:pPr indent="0" lvl="0" marL="0" marR="0" rtl="0" algn="l">
              <a:lnSpc>
                <a:spcPct val="142105"/>
              </a:lnSpc>
              <a:spcBef>
                <a:spcPts val="0"/>
              </a:spcBef>
              <a:spcAft>
                <a:spcPts val="0"/>
              </a:spcAft>
              <a:buClr>
                <a:srgbClr val="AEB6C4"/>
              </a:buClr>
              <a:buSzPts val="1400"/>
              <a:buFont typeface="Arial"/>
              <a:buNone/>
            </a:pPr>
            <a:r>
              <a:rPr b="0" i="0" lang="en" sz="1400" u="none" cap="none" strike="noStrike">
                <a:solidFill>
                  <a:srgbClr val="AEB6C4"/>
                </a:solidFill>
                <a:latin typeface="Arial"/>
                <a:ea typeface="Arial"/>
                <a:cs typeface="Arial"/>
                <a:sym typeface="Arial"/>
              </a:rPr>
              <a:t>Powerplay is a mobile-first app where site teams and contractors track progress, materials, labour and money in their own language.</a:t>
            </a:r>
            <a:endParaRPr b="0" i="0" sz="1400" u="none" cap="none" strike="noStrike">
              <a:solidFill>
                <a:schemeClr val="dk1"/>
              </a:solidFill>
              <a:latin typeface="Calibri"/>
              <a:ea typeface="Calibri"/>
              <a:cs typeface="Calibri"/>
              <a:sym typeface="Calibri"/>
            </a:endParaRPr>
          </a:p>
        </p:txBody>
      </p:sp>
      <p:sp>
        <p:nvSpPr>
          <p:cNvPr id="303" name="Google Shape;303;p30"/>
          <p:cNvSpPr/>
          <p:nvPr/>
        </p:nvSpPr>
        <p:spPr>
          <a:xfrm>
            <a:off x="630953" y="4800600"/>
            <a:ext cx="411491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FROM CAMPUS TO STARTUP</a:t>
            </a:r>
            <a:endParaRPr b="0" i="0" sz="700" u="none" cap="none" strike="noStrike">
              <a:solidFill>
                <a:schemeClr val="dk1"/>
              </a:solidFill>
              <a:latin typeface="Calibri"/>
              <a:ea typeface="Calibri"/>
              <a:cs typeface="Calibri"/>
              <a:sym typeface="Calibri"/>
            </a:endParaRPr>
          </a:p>
        </p:txBody>
      </p:sp>
      <p:sp>
        <p:nvSpPr>
          <p:cNvPr id="304" name="Google Shape;304;p30"/>
          <p:cNvSpPr/>
          <p:nvPr/>
        </p:nvSpPr>
        <p:spPr>
          <a:xfrm>
            <a:off x="7964407" y="4800600"/>
            <a:ext cx="548655"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10</a:t>
            </a:r>
            <a:endParaRPr b="0" i="0" sz="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500"/>
                                        <p:tgtEl>
                                          <p:spTgt spid="30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500"/>
                                        <p:tgtEl>
                                          <p:spTgt spid="30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500"/>
                                        <p:tgtEl>
                                          <p:spTgt spid="30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500"/>
                                        <p:tgtEl>
                                          <p:spTgt spid="30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500"/>
                                        <p:tgtEl>
                                          <p:spTgt spid="3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117"/>
        </a:solidFill>
      </p:bgPr>
    </p:bg>
    <p:spTree>
      <p:nvGrpSpPr>
        <p:cNvPr id="309" name="Shape 309"/>
        <p:cNvGrpSpPr/>
        <p:nvPr/>
      </p:nvGrpSpPr>
      <p:grpSpPr>
        <a:xfrm>
          <a:off x="0" y="0"/>
          <a:ext cx="0" cy="0"/>
          <a:chOff x="0" y="0"/>
          <a:chExt cx="0" cy="0"/>
        </a:xfrm>
      </p:grpSpPr>
      <p:sp>
        <p:nvSpPr>
          <p:cNvPr id="310" name="Google Shape;310;p31"/>
          <p:cNvSpPr/>
          <p:nvPr/>
        </p:nvSpPr>
        <p:spPr>
          <a:xfrm>
            <a:off x="7086559" y="-1234440"/>
            <a:ext cx="3703419" cy="370332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1" name="Google Shape;311;p31"/>
          <p:cNvSpPr/>
          <p:nvPr/>
        </p:nvSpPr>
        <p:spPr>
          <a:xfrm>
            <a:off x="7605039" y="-715975"/>
            <a:ext cx="2666461" cy="2666390"/>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2" name="Google Shape;312;p31"/>
          <p:cNvSpPr/>
          <p:nvPr/>
        </p:nvSpPr>
        <p:spPr>
          <a:xfrm>
            <a:off x="630953" y="617220"/>
            <a:ext cx="7882109" cy="23317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THE LESSON FOR YOU</a:t>
            </a:r>
            <a:endParaRPr b="0" i="0" sz="1000" u="none" cap="none" strike="noStrike">
              <a:solidFill>
                <a:schemeClr val="dk1"/>
              </a:solidFill>
              <a:latin typeface="Calibri"/>
              <a:ea typeface="Calibri"/>
              <a:cs typeface="Calibri"/>
              <a:sym typeface="Calibri"/>
            </a:endParaRPr>
          </a:p>
        </p:txBody>
      </p:sp>
      <p:sp>
        <p:nvSpPr>
          <p:cNvPr id="313" name="Google Shape;313;p31"/>
          <p:cNvSpPr/>
          <p:nvPr/>
        </p:nvSpPr>
        <p:spPr>
          <a:xfrm>
            <a:off x="630953" y="1371600"/>
            <a:ext cx="7607782" cy="2297430"/>
          </a:xfrm>
          <a:prstGeom prst="rect">
            <a:avLst/>
          </a:prstGeom>
          <a:noFill/>
          <a:ln>
            <a:noFill/>
          </a:ln>
        </p:spPr>
        <p:txBody>
          <a:bodyPr anchorCtr="0" anchor="t" bIns="34275" lIns="68575" spcFirstLastPara="1" rIns="68575" wrap="square" tIns="34275">
            <a:noAutofit/>
          </a:bodyPr>
          <a:lstStyle/>
          <a:p>
            <a:pPr indent="0" lvl="0" marL="0" marR="0" rtl="0" algn="l">
              <a:lnSpc>
                <a:spcPct val="109523"/>
              </a:lnSpc>
              <a:spcBef>
                <a:spcPts val="0"/>
              </a:spcBef>
              <a:spcAft>
                <a:spcPts val="0"/>
              </a:spcAft>
              <a:buClr>
                <a:srgbClr val="F4F6FA"/>
              </a:buClr>
              <a:buSzPts val="3200"/>
              <a:buFont typeface="Arial"/>
              <a:buNone/>
            </a:pPr>
            <a:r>
              <a:rPr b="1" i="0" lang="en" sz="3200" u="none" cap="none" strike="noStrike">
                <a:solidFill>
                  <a:srgbClr val="F4F6FA"/>
                </a:solidFill>
                <a:latin typeface="Arial"/>
                <a:ea typeface="Arial"/>
                <a:cs typeface="Arial"/>
                <a:sym typeface="Arial"/>
              </a:rPr>
              <a:t>Everyone chases</a:t>
            </a:r>
            <a:br>
              <a:rPr b="1" i="0" lang="en" sz="3200" u="none" cap="none" strike="noStrike">
                <a:solidFill>
                  <a:srgbClr val="F4F6FA"/>
                </a:solidFill>
                <a:latin typeface="Arial"/>
                <a:ea typeface="Arial"/>
                <a:cs typeface="Arial"/>
                <a:sym typeface="Arial"/>
              </a:rPr>
            </a:br>
            <a:r>
              <a:rPr b="1" i="0" lang="en" sz="3200" u="none" cap="none" strike="noStrike">
                <a:solidFill>
                  <a:srgbClr val="F4F6FA"/>
                </a:solidFill>
                <a:latin typeface="Arial"/>
                <a:ea typeface="Arial"/>
                <a:cs typeface="Arial"/>
                <a:sym typeface="Arial"/>
              </a:rPr>
              <a:t>fashionable ideas.</a:t>
            </a:r>
            <a:br>
              <a:rPr b="1" i="0" lang="en" sz="3200" u="none" cap="none" strike="noStrike">
                <a:solidFill>
                  <a:srgbClr val="F4F6FA"/>
                </a:solidFill>
                <a:latin typeface="Arial"/>
                <a:ea typeface="Arial"/>
                <a:cs typeface="Arial"/>
                <a:sym typeface="Arial"/>
              </a:rPr>
            </a:br>
            <a:r>
              <a:rPr b="1" i="0" lang="en" sz="3200" u="none" cap="none" strike="noStrike">
                <a:solidFill>
                  <a:srgbClr val="F4F6FA"/>
                </a:solidFill>
                <a:latin typeface="Arial"/>
                <a:ea typeface="Arial"/>
                <a:cs typeface="Arial"/>
                <a:sym typeface="Arial"/>
              </a:rPr>
              <a:t>The gold is in the</a:t>
            </a:r>
            <a:br>
              <a:rPr b="1" i="0" lang="en" sz="3200" u="none" cap="none" strike="noStrike">
                <a:solidFill>
                  <a:srgbClr val="F4F6FA"/>
                </a:solidFill>
                <a:latin typeface="Arial"/>
                <a:ea typeface="Arial"/>
                <a:cs typeface="Arial"/>
                <a:sym typeface="Arial"/>
              </a:rPr>
            </a:br>
            <a:r>
              <a:rPr b="1" i="0" lang="en" sz="3200" u="none" cap="none" strike="noStrike">
                <a:solidFill>
                  <a:srgbClr val="F59E0B"/>
                </a:solidFill>
                <a:latin typeface="Arial"/>
                <a:ea typeface="Arial"/>
                <a:cs typeface="Arial"/>
                <a:sym typeface="Arial"/>
              </a:rPr>
              <a:t>'boring' ones.</a:t>
            </a:r>
            <a:endParaRPr b="0" i="0" sz="3200" u="none" cap="none" strike="noStrike">
              <a:solidFill>
                <a:schemeClr val="dk1"/>
              </a:solidFill>
              <a:latin typeface="Calibri"/>
              <a:ea typeface="Calibri"/>
              <a:cs typeface="Calibri"/>
              <a:sym typeface="Calibri"/>
            </a:endParaRPr>
          </a:p>
        </p:txBody>
      </p:sp>
      <p:sp>
        <p:nvSpPr>
          <p:cNvPr id="314" name="Google Shape;314;p31"/>
          <p:cNvSpPr/>
          <p:nvPr/>
        </p:nvSpPr>
        <p:spPr>
          <a:xfrm>
            <a:off x="630953" y="3840480"/>
            <a:ext cx="6721019" cy="754380"/>
          </a:xfrm>
          <a:prstGeom prst="rect">
            <a:avLst/>
          </a:prstGeom>
          <a:noFill/>
          <a:ln>
            <a:noFill/>
          </a:ln>
        </p:spPr>
        <p:txBody>
          <a:bodyPr anchorCtr="0" anchor="ctr" bIns="34275" lIns="68575" spcFirstLastPara="1" rIns="68575" wrap="square" tIns="34275">
            <a:noAutofit/>
          </a:bodyPr>
          <a:lstStyle/>
          <a:p>
            <a:pPr indent="0" lvl="0" marL="0" marR="0" rtl="0" algn="l">
              <a:lnSpc>
                <a:spcPct val="142105"/>
              </a:lnSpc>
              <a:spcBef>
                <a:spcPts val="0"/>
              </a:spcBef>
              <a:spcAft>
                <a:spcPts val="0"/>
              </a:spcAft>
              <a:buClr>
                <a:srgbClr val="AEB6C4"/>
              </a:buClr>
              <a:buSzPts val="1400"/>
              <a:buFont typeface="Arial"/>
              <a:buNone/>
            </a:pPr>
            <a:r>
              <a:rPr b="0" i="0" lang="en" sz="1400" u="none" cap="none" strike="noStrike">
                <a:solidFill>
                  <a:srgbClr val="AEB6C4"/>
                </a:solidFill>
                <a:latin typeface="Arial"/>
                <a:ea typeface="Arial"/>
                <a:cs typeface="Arial"/>
                <a:sym typeface="Arial"/>
              </a:rPr>
              <a:t>The biggest opportunities hide in huge, offline industries technology has skipped  and </a:t>
            </a:r>
            <a:r>
              <a:rPr b="0" i="1" lang="en" sz="1400" u="sng" cap="none" strike="noStrike">
                <a:solidFill>
                  <a:schemeClr val="lt1"/>
                </a:solidFill>
                <a:latin typeface="Arial"/>
                <a:ea typeface="Arial"/>
                <a:cs typeface="Arial"/>
                <a:sym typeface="Arial"/>
              </a:rPr>
              <a:t>India is full of them!</a:t>
            </a:r>
            <a:endParaRPr b="0" i="1" sz="1400" u="sng" cap="none" strike="noStrike">
              <a:solidFill>
                <a:schemeClr val="dk1"/>
              </a:solidFill>
              <a:latin typeface="Calibri"/>
              <a:ea typeface="Calibri"/>
              <a:cs typeface="Calibri"/>
              <a:sym typeface="Calibri"/>
            </a:endParaRPr>
          </a:p>
        </p:txBody>
      </p:sp>
      <p:sp>
        <p:nvSpPr>
          <p:cNvPr id="315" name="Google Shape;315;p31"/>
          <p:cNvSpPr/>
          <p:nvPr/>
        </p:nvSpPr>
        <p:spPr>
          <a:xfrm>
            <a:off x="630953" y="4800600"/>
            <a:ext cx="411491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FROM CAMPUS TO STARTUP</a:t>
            </a:r>
            <a:endParaRPr b="0" i="0" sz="700" u="none" cap="none" strike="noStrike">
              <a:solidFill>
                <a:schemeClr val="dk1"/>
              </a:solidFill>
              <a:latin typeface="Calibri"/>
              <a:ea typeface="Calibri"/>
              <a:cs typeface="Calibri"/>
              <a:sym typeface="Calibri"/>
            </a:endParaRPr>
          </a:p>
        </p:txBody>
      </p:sp>
      <p:sp>
        <p:nvSpPr>
          <p:cNvPr id="316" name="Google Shape;316;p31"/>
          <p:cNvSpPr/>
          <p:nvPr/>
        </p:nvSpPr>
        <p:spPr>
          <a:xfrm>
            <a:off x="7964407" y="4800600"/>
            <a:ext cx="548655"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11</a:t>
            </a:r>
            <a:endParaRPr b="0" i="0" sz="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500"/>
                                        <p:tgtEl>
                                          <p:spTgt spid="31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500"/>
                                        <p:tgtEl>
                                          <p:spTgt spid="31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500"/>
                                        <p:tgtEl>
                                          <p:spTgt spid="314"/>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500"/>
                                        <p:tgtEl>
                                          <p:spTgt spid="31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500"/>
                                        <p:tgtEl>
                                          <p:spTgt spid="3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B10"/>
        </a:solidFill>
      </p:bgPr>
    </p:bg>
    <p:spTree>
      <p:nvGrpSpPr>
        <p:cNvPr id="321" name="Shape 321"/>
        <p:cNvGrpSpPr/>
        <p:nvPr/>
      </p:nvGrpSpPr>
      <p:grpSpPr>
        <a:xfrm>
          <a:off x="0" y="0"/>
          <a:ext cx="0" cy="0"/>
          <a:chOff x="0" y="0"/>
          <a:chExt cx="0" cy="0"/>
        </a:xfrm>
      </p:grpSpPr>
      <p:sp>
        <p:nvSpPr>
          <p:cNvPr id="322" name="Google Shape;322;p32"/>
          <p:cNvSpPr/>
          <p:nvPr/>
        </p:nvSpPr>
        <p:spPr>
          <a:xfrm>
            <a:off x="-1783128" y="2263139"/>
            <a:ext cx="4800728" cy="480060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3" name="Google Shape;323;p32"/>
          <p:cNvSpPr/>
          <p:nvPr/>
        </p:nvSpPr>
        <p:spPr>
          <a:xfrm>
            <a:off x="-1111026" y="2935224"/>
            <a:ext cx="3456524" cy="3456432"/>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4" name="Google Shape;324;p32"/>
          <p:cNvSpPr/>
          <p:nvPr/>
        </p:nvSpPr>
        <p:spPr>
          <a:xfrm>
            <a:off x="630953" y="788670"/>
            <a:ext cx="2057455" cy="16459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430"/>
              </a:buClr>
              <a:buSzPts val="11300"/>
              <a:buFont typeface="Arial"/>
              <a:buNone/>
            </a:pPr>
            <a:r>
              <a:rPr b="1" i="0" lang="en" sz="11300" u="none" cap="none" strike="noStrike">
                <a:solidFill>
                  <a:srgbClr val="1F2430"/>
                </a:solidFill>
                <a:latin typeface="Arial"/>
                <a:ea typeface="Arial"/>
                <a:cs typeface="Arial"/>
                <a:sym typeface="Arial"/>
              </a:rPr>
              <a:t>06</a:t>
            </a:r>
            <a:endParaRPr b="0" i="0" sz="11300" u="none" cap="none" strike="noStrike">
              <a:solidFill>
                <a:schemeClr val="dk1"/>
              </a:solidFill>
              <a:latin typeface="Calibri"/>
              <a:ea typeface="Calibri"/>
              <a:cs typeface="Calibri"/>
              <a:sym typeface="Calibri"/>
            </a:endParaRPr>
          </a:p>
        </p:txBody>
      </p:sp>
      <p:sp>
        <p:nvSpPr>
          <p:cNvPr id="325" name="Google Shape;325;p32"/>
          <p:cNvSpPr/>
          <p:nvPr/>
        </p:nvSpPr>
        <p:spPr>
          <a:xfrm>
            <a:off x="658386" y="2482595"/>
            <a:ext cx="6858183"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FROM TORNADO &amp; POWERPLAY</a:t>
            </a:r>
            <a:endParaRPr b="0" i="0" sz="1000" u="none" cap="none" strike="noStrike">
              <a:solidFill>
                <a:schemeClr val="dk1"/>
              </a:solidFill>
              <a:latin typeface="Calibri"/>
              <a:ea typeface="Calibri"/>
              <a:cs typeface="Calibri"/>
              <a:sym typeface="Calibri"/>
            </a:endParaRPr>
          </a:p>
        </p:txBody>
      </p:sp>
      <p:sp>
        <p:nvSpPr>
          <p:cNvPr id="326" name="Google Shape;326;p32"/>
          <p:cNvSpPr/>
          <p:nvPr/>
        </p:nvSpPr>
        <p:spPr>
          <a:xfrm>
            <a:off x="630953" y="2729484"/>
            <a:ext cx="7269674" cy="1068324"/>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4F6FA"/>
              </a:buClr>
              <a:buSzPts val="3500"/>
              <a:buFont typeface="Arial"/>
              <a:buNone/>
            </a:pPr>
            <a:r>
              <a:rPr b="1" i="0" lang="en" sz="3500" u="none" cap="none" strike="noStrike">
                <a:solidFill>
                  <a:srgbClr val="F4F6FA"/>
                </a:solidFill>
                <a:latin typeface="Arial"/>
                <a:ea typeface="Arial"/>
                <a:cs typeface="Arial"/>
                <a:sym typeface="Arial"/>
              </a:rPr>
              <a:t>Four lessons</a:t>
            </a:r>
            <a:endParaRPr b="0" i="0" sz="3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4F6FA"/>
              </a:buClr>
              <a:buSzPts val="3500"/>
              <a:buFont typeface="Arial"/>
              <a:buNone/>
            </a:pPr>
            <a:r>
              <a:rPr b="1" i="0" lang="en" sz="3500" u="none" cap="none" strike="noStrike">
                <a:solidFill>
                  <a:srgbClr val="F4F6FA"/>
                </a:solidFill>
                <a:latin typeface="Arial"/>
                <a:ea typeface="Arial"/>
                <a:cs typeface="Arial"/>
                <a:sym typeface="Arial"/>
              </a:rPr>
              <a:t>from the CTO seat</a:t>
            </a:r>
            <a:endParaRPr b="0" i="0" sz="3500" u="none" cap="none" strike="noStrike">
              <a:solidFill>
                <a:schemeClr val="dk1"/>
              </a:solidFill>
              <a:latin typeface="Calibri"/>
              <a:ea typeface="Calibri"/>
              <a:cs typeface="Calibri"/>
              <a:sym typeface="Calibri"/>
            </a:endParaRPr>
          </a:p>
        </p:txBody>
      </p:sp>
      <p:sp>
        <p:nvSpPr>
          <p:cNvPr id="327" name="Google Shape;327;p32"/>
          <p:cNvSpPr/>
          <p:nvPr/>
        </p:nvSpPr>
        <p:spPr>
          <a:xfrm>
            <a:off x="630953" y="3880104"/>
            <a:ext cx="6721019"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44444"/>
              </a:lnSpc>
              <a:spcBef>
                <a:spcPts val="0"/>
              </a:spcBef>
              <a:spcAft>
                <a:spcPts val="0"/>
              </a:spcAft>
              <a:buClr>
                <a:srgbClr val="AEB6C4"/>
              </a:buClr>
              <a:buSzPts val="1400"/>
              <a:buFont typeface="Arial"/>
              <a:buNone/>
            </a:pPr>
            <a:r>
              <a:rPr b="0" i="0" lang="en" sz="1400" u="none" cap="none" strike="noStrike">
                <a:solidFill>
                  <a:srgbClr val="AEB6C4"/>
                </a:solidFill>
                <a:latin typeface="Arial"/>
                <a:ea typeface="Arial"/>
                <a:cs typeface="Arial"/>
                <a:sym typeface="Arial"/>
              </a:rPr>
              <a:t>Leadership isn't a title you receive. It's a set of habits you can start in your first-year project team.</a:t>
            </a:r>
            <a:endParaRPr b="0" i="0" sz="14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500"/>
                                        <p:tgtEl>
                                          <p:spTgt spid="32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500"/>
                                        <p:tgtEl>
                                          <p:spTgt spid="32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500"/>
                                        <p:tgtEl>
                                          <p:spTgt spid="32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500"/>
                                        <p:tgtEl>
                                          <p:spTgt spid="3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117"/>
        </a:solidFill>
      </p:bgPr>
    </p:bg>
    <p:spTree>
      <p:nvGrpSpPr>
        <p:cNvPr id="332" name="Shape 332"/>
        <p:cNvGrpSpPr/>
        <p:nvPr/>
      </p:nvGrpSpPr>
      <p:grpSpPr>
        <a:xfrm>
          <a:off x="0" y="0"/>
          <a:ext cx="0" cy="0"/>
          <a:chOff x="0" y="0"/>
          <a:chExt cx="0" cy="0"/>
        </a:xfrm>
      </p:grpSpPr>
      <p:sp>
        <p:nvSpPr>
          <p:cNvPr id="333" name="Google Shape;333;p33"/>
          <p:cNvSpPr/>
          <p:nvPr/>
        </p:nvSpPr>
        <p:spPr>
          <a:xfrm>
            <a:off x="630953" y="425196"/>
            <a:ext cx="7882109" cy="23317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THE CTO SEAT</a:t>
            </a:r>
            <a:endParaRPr b="0" i="0" sz="1000" u="none" cap="none" strike="noStrike">
              <a:solidFill>
                <a:schemeClr val="dk1"/>
              </a:solidFill>
              <a:latin typeface="Calibri"/>
              <a:ea typeface="Calibri"/>
              <a:cs typeface="Calibri"/>
              <a:sym typeface="Calibri"/>
            </a:endParaRPr>
          </a:p>
        </p:txBody>
      </p:sp>
      <p:sp>
        <p:nvSpPr>
          <p:cNvPr id="334" name="Google Shape;334;p33"/>
          <p:cNvSpPr/>
          <p:nvPr/>
        </p:nvSpPr>
        <p:spPr>
          <a:xfrm>
            <a:off x="630953" y="685800"/>
            <a:ext cx="7882109" cy="5829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2300"/>
              <a:buFont typeface="Arial"/>
              <a:buNone/>
            </a:pPr>
            <a:r>
              <a:rPr b="1" i="0" lang="en" sz="2300" u="none" cap="none" strike="noStrike">
                <a:solidFill>
                  <a:srgbClr val="F4F6FA"/>
                </a:solidFill>
                <a:latin typeface="Arial"/>
                <a:ea typeface="Arial"/>
                <a:cs typeface="Arial"/>
                <a:sym typeface="Arial"/>
              </a:rPr>
              <a:t>What actually moves the needle</a:t>
            </a:r>
            <a:endParaRPr b="0" i="0" sz="2300" u="none" cap="none" strike="noStrike">
              <a:solidFill>
                <a:schemeClr val="dk1"/>
              </a:solidFill>
              <a:latin typeface="Calibri"/>
              <a:ea typeface="Calibri"/>
              <a:cs typeface="Calibri"/>
              <a:sym typeface="Calibri"/>
            </a:endParaRPr>
          </a:p>
        </p:txBody>
      </p:sp>
      <p:sp>
        <p:nvSpPr>
          <p:cNvPr id="335" name="Google Shape;335;p33"/>
          <p:cNvSpPr/>
          <p:nvPr/>
        </p:nvSpPr>
        <p:spPr>
          <a:xfrm>
            <a:off x="630953" y="1316736"/>
            <a:ext cx="3786746" cy="1261872"/>
          </a:xfrm>
          <a:prstGeom prst="roundRect">
            <a:avLst>
              <a:gd fmla="val 5435"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6" name="Google Shape;336;p33"/>
          <p:cNvSpPr/>
          <p:nvPr/>
        </p:nvSpPr>
        <p:spPr>
          <a:xfrm>
            <a:off x="836698" y="1522476"/>
            <a:ext cx="397775" cy="397764"/>
          </a:xfrm>
          <a:prstGeom prst="ellipse">
            <a:avLst/>
          </a:prstGeom>
          <a:solidFill>
            <a:srgbClr val="3A2A12"/>
          </a:solidFill>
          <a:ln cap="flat" cmpd="sng" w="12700">
            <a:solidFill>
              <a:srgbClr val="B4530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7" name="Google Shape;337;p33"/>
          <p:cNvSpPr/>
          <p:nvPr/>
        </p:nvSpPr>
        <p:spPr>
          <a:xfrm>
            <a:off x="836698" y="1522476"/>
            <a:ext cx="397775" cy="39776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01</a:t>
            </a:r>
            <a:endParaRPr b="0" i="0" sz="1000" u="none" cap="none" strike="noStrike">
              <a:solidFill>
                <a:schemeClr val="dk1"/>
              </a:solidFill>
              <a:latin typeface="Calibri"/>
              <a:ea typeface="Calibri"/>
              <a:cs typeface="Calibri"/>
              <a:sym typeface="Calibri"/>
            </a:endParaRPr>
          </a:p>
        </p:txBody>
      </p:sp>
      <p:sp>
        <p:nvSpPr>
          <p:cNvPr id="338" name="Google Shape;338;p33"/>
          <p:cNvSpPr/>
          <p:nvPr/>
        </p:nvSpPr>
        <p:spPr>
          <a:xfrm>
            <a:off x="1357920" y="1508760"/>
            <a:ext cx="2936331" cy="42519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1200"/>
              <a:buFont typeface="Arial"/>
              <a:buNone/>
            </a:pPr>
            <a:r>
              <a:rPr b="1" i="0" lang="en" sz="1200" u="none" cap="none" strike="noStrike">
                <a:solidFill>
                  <a:srgbClr val="F4F6FA"/>
                </a:solidFill>
                <a:latin typeface="Arial"/>
                <a:ea typeface="Arial"/>
                <a:cs typeface="Arial"/>
                <a:sym typeface="Arial"/>
              </a:rPr>
              <a:t>People are the real system</a:t>
            </a:r>
            <a:endParaRPr b="0" i="0" sz="1200" u="none" cap="none" strike="noStrike">
              <a:solidFill>
                <a:schemeClr val="dk1"/>
              </a:solidFill>
              <a:latin typeface="Calibri"/>
              <a:ea typeface="Calibri"/>
              <a:cs typeface="Calibri"/>
              <a:sym typeface="Calibri"/>
            </a:endParaRPr>
          </a:p>
        </p:txBody>
      </p:sp>
      <p:sp>
        <p:nvSpPr>
          <p:cNvPr id="339" name="Google Shape;339;p33"/>
          <p:cNvSpPr/>
          <p:nvPr/>
        </p:nvSpPr>
        <p:spPr>
          <a:xfrm>
            <a:off x="864131" y="1988820"/>
            <a:ext cx="3320390" cy="493776"/>
          </a:xfrm>
          <a:prstGeom prst="rect">
            <a:avLst/>
          </a:prstGeom>
          <a:noFill/>
          <a:ln>
            <a:noFill/>
          </a:ln>
        </p:spPr>
        <p:txBody>
          <a:bodyPr anchorCtr="0" anchor="t" bIns="34275" lIns="68575" spcFirstLastPara="1" rIns="68575" wrap="square" tIns="34275">
            <a:noAutofit/>
          </a:bodyPr>
          <a:lstStyle/>
          <a:p>
            <a:pPr indent="0" lvl="0" marL="0" marR="0" rtl="0" algn="l">
              <a:lnSpc>
                <a:spcPct val="138461"/>
              </a:lnSpc>
              <a:spcBef>
                <a:spcPts val="0"/>
              </a:spcBef>
              <a:spcAft>
                <a:spcPts val="0"/>
              </a:spcAft>
              <a:buClr>
                <a:srgbClr val="AEB6C4"/>
              </a:buClr>
              <a:buSzPts val="1000"/>
              <a:buFont typeface="Arial"/>
              <a:buNone/>
            </a:pPr>
            <a:r>
              <a:rPr b="0" i="0" lang="en" sz="1000" u="none" cap="none" strike="noStrike">
                <a:solidFill>
                  <a:srgbClr val="AEB6C4"/>
                </a:solidFill>
                <a:latin typeface="Arial"/>
                <a:ea typeface="Arial"/>
                <a:cs typeface="Arial"/>
                <a:sym typeface="Arial"/>
              </a:rPr>
              <a:t>A CTO's output is the team's output. Hiring well, giving context and unblocking others beats writing heroic code yourself.</a:t>
            </a:r>
            <a:endParaRPr b="0" i="0" sz="1000" u="none" cap="none" strike="noStrike">
              <a:solidFill>
                <a:schemeClr val="dk1"/>
              </a:solidFill>
              <a:latin typeface="Calibri"/>
              <a:ea typeface="Calibri"/>
              <a:cs typeface="Calibri"/>
              <a:sym typeface="Calibri"/>
            </a:endParaRPr>
          </a:p>
        </p:txBody>
      </p:sp>
      <p:sp>
        <p:nvSpPr>
          <p:cNvPr id="340" name="Google Shape;340;p33"/>
          <p:cNvSpPr/>
          <p:nvPr/>
        </p:nvSpPr>
        <p:spPr>
          <a:xfrm>
            <a:off x="4726317" y="1316736"/>
            <a:ext cx="3786746" cy="1261872"/>
          </a:xfrm>
          <a:prstGeom prst="roundRect">
            <a:avLst>
              <a:gd fmla="val 5435"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1" name="Google Shape;341;p33"/>
          <p:cNvSpPr/>
          <p:nvPr/>
        </p:nvSpPr>
        <p:spPr>
          <a:xfrm>
            <a:off x="4932062" y="1522476"/>
            <a:ext cx="397775" cy="397764"/>
          </a:xfrm>
          <a:prstGeom prst="ellipse">
            <a:avLst/>
          </a:prstGeom>
          <a:solidFill>
            <a:srgbClr val="3A2A12"/>
          </a:solidFill>
          <a:ln cap="flat" cmpd="sng" w="12700">
            <a:solidFill>
              <a:srgbClr val="B4530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2" name="Google Shape;342;p33"/>
          <p:cNvSpPr/>
          <p:nvPr/>
        </p:nvSpPr>
        <p:spPr>
          <a:xfrm>
            <a:off x="4932062" y="1522476"/>
            <a:ext cx="397775" cy="39776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02</a:t>
            </a:r>
            <a:endParaRPr b="0" i="0" sz="1000" u="none" cap="none" strike="noStrike">
              <a:solidFill>
                <a:schemeClr val="dk1"/>
              </a:solidFill>
              <a:latin typeface="Calibri"/>
              <a:ea typeface="Calibri"/>
              <a:cs typeface="Calibri"/>
              <a:sym typeface="Calibri"/>
            </a:endParaRPr>
          </a:p>
        </p:txBody>
      </p:sp>
      <p:sp>
        <p:nvSpPr>
          <p:cNvPr id="343" name="Google Shape;343;p33"/>
          <p:cNvSpPr/>
          <p:nvPr/>
        </p:nvSpPr>
        <p:spPr>
          <a:xfrm>
            <a:off x="5453284" y="1508760"/>
            <a:ext cx="2936331" cy="42519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1200"/>
              <a:buFont typeface="Arial"/>
              <a:buNone/>
            </a:pPr>
            <a:r>
              <a:rPr b="1" i="0" lang="en" sz="1200" u="none" cap="none" strike="noStrike">
                <a:solidFill>
                  <a:srgbClr val="F4F6FA"/>
                </a:solidFill>
                <a:latin typeface="Arial"/>
                <a:ea typeface="Arial"/>
                <a:cs typeface="Arial"/>
                <a:sym typeface="Arial"/>
              </a:rPr>
              <a:t>Simple beats clever</a:t>
            </a:r>
            <a:endParaRPr b="0" i="0" sz="1200" u="none" cap="none" strike="noStrike">
              <a:solidFill>
                <a:schemeClr val="dk1"/>
              </a:solidFill>
              <a:latin typeface="Calibri"/>
              <a:ea typeface="Calibri"/>
              <a:cs typeface="Calibri"/>
              <a:sym typeface="Calibri"/>
            </a:endParaRPr>
          </a:p>
        </p:txBody>
      </p:sp>
      <p:sp>
        <p:nvSpPr>
          <p:cNvPr id="344" name="Google Shape;344;p33"/>
          <p:cNvSpPr/>
          <p:nvPr/>
        </p:nvSpPr>
        <p:spPr>
          <a:xfrm>
            <a:off x="4959495" y="1988820"/>
            <a:ext cx="3320390" cy="493776"/>
          </a:xfrm>
          <a:prstGeom prst="rect">
            <a:avLst/>
          </a:prstGeom>
          <a:noFill/>
          <a:ln>
            <a:noFill/>
          </a:ln>
        </p:spPr>
        <p:txBody>
          <a:bodyPr anchorCtr="0" anchor="t" bIns="34275" lIns="68575" spcFirstLastPara="1" rIns="68575" wrap="square" tIns="34275">
            <a:noAutofit/>
          </a:bodyPr>
          <a:lstStyle/>
          <a:p>
            <a:pPr indent="0" lvl="0" marL="0" marR="0" rtl="0" algn="l">
              <a:lnSpc>
                <a:spcPct val="138461"/>
              </a:lnSpc>
              <a:spcBef>
                <a:spcPts val="0"/>
              </a:spcBef>
              <a:spcAft>
                <a:spcPts val="0"/>
              </a:spcAft>
              <a:buClr>
                <a:srgbClr val="AEB6C4"/>
              </a:buClr>
              <a:buSzPts val="1000"/>
              <a:buFont typeface="Arial"/>
              <a:buNone/>
            </a:pPr>
            <a:r>
              <a:rPr b="0" i="0" lang="en" sz="1000" u="none" cap="none" strike="noStrike">
                <a:solidFill>
                  <a:srgbClr val="AEB6C4"/>
                </a:solidFill>
                <a:latin typeface="Arial"/>
                <a:ea typeface="Arial"/>
                <a:cs typeface="Arial"/>
                <a:sym typeface="Arial"/>
              </a:rPr>
              <a:t>Clever architecture impresses engineers; simple architecture survives 2 a.m. outages, new hires and pivots. Optimise for being understood.</a:t>
            </a:r>
            <a:endParaRPr b="0" i="0" sz="1000" u="none" cap="none" strike="noStrike">
              <a:solidFill>
                <a:schemeClr val="dk1"/>
              </a:solidFill>
              <a:latin typeface="Calibri"/>
              <a:ea typeface="Calibri"/>
              <a:cs typeface="Calibri"/>
              <a:sym typeface="Calibri"/>
            </a:endParaRPr>
          </a:p>
        </p:txBody>
      </p:sp>
      <p:sp>
        <p:nvSpPr>
          <p:cNvPr id="345" name="Google Shape;345;p33"/>
          <p:cNvSpPr/>
          <p:nvPr/>
        </p:nvSpPr>
        <p:spPr>
          <a:xfrm>
            <a:off x="630953" y="2839212"/>
            <a:ext cx="3786746" cy="1261872"/>
          </a:xfrm>
          <a:prstGeom prst="roundRect">
            <a:avLst>
              <a:gd fmla="val 5435"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6" name="Google Shape;346;p33"/>
          <p:cNvSpPr/>
          <p:nvPr/>
        </p:nvSpPr>
        <p:spPr>
          <a:xfrm>
            <a:off x="836698" y="3044952"/>
            <a:ext cx="397775" cy="397764"/>
          </a:xfrm>
          <a:prstGeom prst="ellipse">
            <a:avLst/>
          </a:prstGeom>
          <a:solidFill>
            <a:srgbClr val="3A2A12"/>
          </a:solidFill>
          <a:ln cap="flat" cmpd="sng" w="12700">
            <a:solidFill>
              <a:srgbClr val="B4530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7" name="Google Shape;347;p33"/>
          <p:cNvSpPr/>
          <p:nvPr/>
        </p:nvSpPr>
        <p:spPr>
          <a:xfrm>
            <a:off x="836698" y="3044952"/>
            <a:ext cx="397775" cy="39776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03</a:t>
            </a:r>
            <a:endParaRPr b="0" i="0" sz="1000" u="none" cap="none" strike="noStrike">
              <a:solidFill>
                <a:schemeClr val="dk1"/>
              </a:solidFill>
              <a:latin typeface="Calibri"/>
              <a:ea typeface="Calibri"/>
              <a:cs typeface="Calibri"/>
              <a:sym typeface="Calibri"/>
            </a:endParaRPr>
          </a:p>
        </p:txBody>
      </p:sp>
      <p:sp>
        <p:nvSpPr>
          <p:cNvPr id="348" name="Google Shape;348;p33"/>
          <p:cNvSpPr/>
          <p:nvPr/>
        </p:nvSpPr>
        <p:spPr>
          <a:xfrm>
            <a:off x="1357920" y="3031236"/>
            <a:ext cx="2936331" cy="42519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1200"/>
              <a:buFont typeface="Arial"/>
              <a:buNone/>
            </a:pPr>
            <a:r>
              <a:rPr b="1" i="0" lang="en" sz="1200" u="none" cap="none" strike="noStrike">
                <a:solidFill>
                  <a:srgbClr val="F4F6FA"/>
                </a:solidFill>
                <a:latin typeface="Arial"/>
                <a:ea typeface="Arial"/>
                <a:cs typeface="Arial"/>
                <a:sym typeface="Arial"/>
              </a:rPr>
              <a:t>Speed is a feature</a:t>
            </a:r>
            <a:endParaRPr b="0" i="0" sz="1200" u="none" cap="none" strike="noStrike">
              <a:solidFill>
                <a:schemeClr val="dk1"/>
              </a:solidFill>
              <a:latin typeface="Calibri"/>
              <a:ea typeface="Calibri"/>
              <a:cs typeface="Calibri"/>
              <a:sym typeface="Calibri"/>
            </a:endParaRPr>
          </a:p>
        </p:txBody>
      </p:sp>
      <p:sp>
        <p:nvSpPr>
          <p:cNvPr id="349" name="Google Shape;349;p33"/>
          <p:cNvSpPr/>
          <p:nvPr/>
        </p:nvSpPr>
        <p:spPr>
          <a:xfrm>
            <a:off x="864131" y="3511296"/>
            <a:ext cx="3320390" cy="493776"/>
          </a:xfrm>
          <a:prstGeom prst="rect">
            <a:avLst/>
          </a:prstGeom>
          <a:noFill/>
          <a:ln>
            <a:noFill/>
          </a:ln>
        </p:spPr>
        <p:txBody>
          <a:bodyPr anchorCtr="0" anchor="t" bIns="34275" lIns="68575" spcFirstLastPara="1" rIns="68575" wrap="square" tIns="34275">
            <a:noAutofit/>
          </a:bodyPr>
          <a:lstStyle/>
          <a:p>
            <a:pPr indent="0" lvl="0" marL="0" marR="0" rtl="0" algn="l">
              <a:lnSpc>
                <a:spcPct val="138461"/>
              </a:lnSpc>
              <a:spcBef>
                <a:spcPts val="0"/>
              </a:spcBef>
              <a:spcAft>
                <a:spcPts val="0"/>
              </a:spcAft>
              <a:buClr>
                <a:srgbClr val="AEB6C4"/>
              </a:buClr>
              <a:buSzPts val="1000"/>
              <a:buFont typeface="Arial"/>
              <a:buNone/>
            </a:pPr>
            <a:r>
              <a:rPr b="0" i="0" lang="en" sz="1000" u="none" cap="none" strike="noStrike">
                <a:solidFill>
                  <a:srgbClr val="AEB6C4"/>
                </a:solidFill>
                <a:latin typeface="Arial"/>
                <a:ea typeface="Arial"/>
                <a:cs typeface="Arial"/>
                <a:sym typeface="Arial"/>
              </a:rPr>
              <a:t>In a startup the biggest risk is building the wrong thing slowly. Short feedback loops beat long-term perfection almost every time.</a:t>
            </a:r>
            <a:endParaRPr b="0" i="0" sz="1000" u="none" cap="none" strike="noStrike">
              <a:solidFill>
                <a:schemeClr val="dk1"/>
              </a:solidFill>
              <a:latin typeface="Calibri"/>
              <a:ea typeface="Calibri"/>
              <a:cs typeface="Calibri"/>
              <a:sym typeface="Calibri"/>
            </a:endParaRPr>
          </a:p>
        </p:txBody>
      </p:sp>
      <p:sp>
        <p:nvSpPr>
          <p:cNvPr id="350" name="Google Shape;350;p33"/>
          <p:cNvSpPr/>
          <p:nvPr/>
        </p:nvSpPr>
        <p:spPr>
          <a:xfrm>
            <a:off x="4726317" y="2839212"/>
            <a:ext cx="3786746" cy="1261872"/>
          </a:xfrm>
          <a:prstGeom prst="roundRect">
            <a:avLst>
              <a:gd fmla="val 5435"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1" name="Google Shape;351;p33"/>
          <p:cNvSpPr/>
          <p:nvPr/>
        </p:nvSpPr>
        <p:spPr>
          <a:xfrm>
            <a:off x="4932062" y="3044952"/>
            <a:ext cx="397775" cy="397764"/>
          </a:xfrm>
          <a:prstGeom prst="ellipse">
            <a:avLst/>
          </a:prstGeom>
          <a:solidFill>
            <a:srgbClr val="3A2A12"/>
          </a:solidFill>
          <a:ln cap="flat" cmpd="sng" w="12700">
            <a:solidFill>
              <a:srgbClr val="B4530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2" name="Google Shape;352;p33"/>
          <p:cNvSpPr/>
          <p:nvPr/>
        </p:nvSpPr>
        <p:spPr>
          <a:xfrm>
            <a:off x="4932062" y="3044952"/>
            <a:ext cx="397775" cy="39776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04</a:t>
            </a:r>
            <a:endParaRPr b="0" i="0" sz="1000" u="none" cap="none" strike="noStrike">
              <a:solidFill>
                <a:schemeClr val="dk1"/>
              </a:solidFill>
              <a:latin typeface="Calibri"/>
              <a:ea typeface="Calibri"/>
              <a:cs typeface="Calibri"/>
              <a:sym typeface="Calibri"/>
            </a:endParaRPr>
          </a:p>
        </p:txBody>
      </p:sp>
      <p:sp>
        <p:nvSpPr>
          <p:cNvPr id="353" name="Google Shape;353;p33"/>
          <p:cNvSpPr/>
          <p:nvPr/>
        </p:nvSpPr>
        <p:spPr>
          <a:xfrm>
            <a:off x="5453284" y="3031236"/>
            <a:ext cx="2936331" cy="42519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1200"/>
              <a:buFont typeface="Arial"/>
              <a:buNone/>
            </a:pPr>
            <a:r>
              <a:rPr b="1" i="0" lang="en" sz="1200" u="none" cap="none" strike="noStrike">
                <a:solidFill>
                  <a:srgbClr val="F4F6FA"/>
                </a:solidFill>
                <a:latin typeface="Arial"/>
                <a:ea typeface="Arial"/>
                <a:cs typeface="Arial"/>
                <a:sym typeface="Arial"/>
              </a:rPr>
              <a:t>Stay close to users</a:t>
            </a:r>
            <a:endParaRPr b="0" i="0" sz="1200" u="none" cap="none" strike="noStrike">
              <a:solidFill>
                <a:schemeClr val="dk1"/>
              </a:solidFill>
              <a:latin typeface="Calibri"/>
              <a:ea typeface="Calibri"/>
              <a:cs typeface="Calibri"/>
              <a:sym typeface="Calibri"/>
            </a:endParaRPr>
          </a:p>
        </p:txBody>
      </p:sp>
      <p:sp>
        <p:nvSpPr>
          <p:cNvPr id="354" name="Google Shape;354;p33"/>
          <p:cNvSpPr/>
          <p:nvPr/>
        </p:nvSpPr>
        <p:spPr>
          <a:xfrm>
            <a:off x="4959495" y="3511296"/>
            <a:ext cx="3320390" cy="493776"/>
          </a:xfrm>
          <a:prstGeom prst="rect">
            <a:avLst/>
          </a:prstGeom>
          <a:noFill/>
          <a:ln>
            <a:noFill/>
          </a:ln>
        </p:spPr>
        <p:txBody>
          <a:bodyPr anchorCtr="0" anchor="t" bIns="34275" lIns="68575" spcFirstLastPara="1" rIns="68575" wrap="square" tIns="34275">
            <a:noAutofit/>
          </a:bodyPr>
          <a:lstStyle/>
          <a:p>
            <a:pPr indent="0" lvl="0" marL="0" marR="0" rtl="0" algn="l">
              <a:lnSpc>
                <a:spcPct val="138461"/>
              </a:lnSpc>
              <a:spcBef>
                <a:spcPts val="0"/>
              </a:spcBef>
              <a:spcAft>
                <a:spcPts val="0"/>
              </a:spcAft>
              <a:buClr>
                <a:srgbClr val="AEB6C4"/>
              </a:buClr>
              <a:buSzPts val="1000"/>
              <a:buFont typeface="Arial"/>
              <a:buNone/>
            </a:pPr>
            <a:r>
              <a:rPr b="0" i="0" lang="en" sz="1000" u="none" cap="none" strike="noStrike">
                <a:solidFill>
                  <a:srgbClr val="AEB6C4"/>
                </a:solidFill>
                <a:latin typeface="Arial"/>
                <a:ea typeface="Arial"/>
                <a:cs typeface="Arial"/>
                <a:sym typeface="Arial"/>
              </a:rPr>
              <a:t>The moment leaders stop talking to customers, the product drifts. Titles change; that habit shouldn't.</a:t>
            </a:r>
            <a:endParaRPr b="0" i="0" sz="1000" u="none" cap="none" strike="noStrike">
              <a:solidFill>
                <a:schemeClr val="dk1"/>
              </a:solidFill>
              <a:latin typeface="Calibri"/>
              <a:ea typeface="Calibri"/>
              <a:cs typeface="Calibri"/>
              <a:sym typeface="Calibri"/>
            </a:endParaRPr>
          </a:p>
        </p:txBody>
      </p:sp>
      <p:sp>
        <p:nvSpPr>
          <p:cNvPr id="355" name="Google Shape;355;p33"/>
          <p:cNvSpPr/>
          <p:nvPr/>
        </p:nvSpPr>
        <p:spPr>
          <a:xfrm>
            <a:off x="630953" y="4217670"/>
            <a:ext cx="7882109" cy="411480"/>
          </a:xfrm>
          <a:prstGeom prst="rect">
            <a:avLst/>
          </a:prstGeom>
          <a:noFill/>
          <a:ln>
            <a:noFill/>
          </a:ln>
        </p:spPr>
        <p:txBody>
          <a:bodyPr anchorCtr="0" anchor="ctr" bIns="34275" lIns="68575" spcFirstLastPara="1" rIns="68575" wrap="square" tIns="34275">
            <a:noAutofit/>
          </a:bodyPr>
          <a:lstStyle/>
          <a:p>
            <a:pPr indent="0" lvl="0" marL="0" marR="0" rtl="0" algn="ctr">
              <a:lnSpc>
                <a:spcPct val="133333"/>
              </a:lnSpc>
              <a:spcBef>
                <a:spcPts val="0"/>
              </a:spcBef>
              <a:spcAft>
                <a:spcPts val="0"/>
              </a:spcAft>
              <a:buClr>
                <a:srgbClr val="6B7382"/>
              </a:buClr>
              <a:buSzPts val="1100"/>
              <a:buFont typeface="Arial"/>
              <a:buNone/>
            </a:pPr>
            <a:r>
              <a:rPr b="0" i="1" lang="en" sz="1100" u="none" cap="none" strike="noStrike">
                <a:solidFill>
                  <a:srgbClr val="6B7382"/>
                </a:solidFill>
                <a:latin typeface="Arial"/>
                <a:ea typeface="Arial"/>
                <a:cs typeface="Arial"/>
                <a:sym typeface="Arial"/>
              </a:rPr>
              <a:t>You can practise all four this year in a club, a team project, a hackathon.</a:t>
            </a:r>
            <a:endParaRPr b="0" i="0" sz="1100" u="none" cap="none" strike="noStrike">
              <a:solidFill>
                <a:schemeClr val="dk1"/>
              </a:solidFill>
              <a:latin typeface="Calibri"/>
              <a:ea typeface="Calibri"/>
              <a:cs typeface="Calibri"/>
              <a:sym typeface="Calibri"/>
            </a:endParaRPr>
          </a:p>
        </p:txBody>
      </p:sp>
      <p:sp>
        <p:nvSpPr>
          <p:cNvPr id="356" name="Google Shape;356;p33"/>
          <p:cNvSpPr/>
          <p:nvPr/>
        </p:nvSpPr>
        <p:spPr>
          <a:xfrm>
            <a:off x="630953" y="4800600"/>
            <a:ext cx="411491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FROM CAMPUS TO STARTUP</a:t>
            </a:r>
            <a:endParaRPr b="0" i="0" sz="700" u="none" cap="none" strike="noStrike">
              <a:solidFill>
                <a:schemeClr val="dk1"/>
              </a:solidFill>
              <a:latin typeface="Calibri"/>
              <a:ea typeface="Calibri"/>
              <a:cs typeface="Calibri"/>
              <a:sym typeface="Calibri"/>
            </a:endParaRPr>
          </a:p>
        </p:txBody>
      </p:sp>
      <p:sp>
        <p:nvSpPr>
          <p:cNvPr id="357" name="Google Shape;357;p33"/>
          <p:cNvSpPr/>
          <p:nvPr/>
        </p:nvSpPr>
        <p:spPr>
          <a:xfrm>
            <a:off x="7964407" y="4800600"/>
            <a:ext cx="548655"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12</a:t>
            </a:r>
            <a:endParaRPr b="0" i="0" sz="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500"/>
                                        <p:tgtEl>
                                          <p:spTgt spid="33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500"/>
                                        <p:tgtEl>
                                          <p:spTgt spid="33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500"/>
                                        <p:tgtEl>
                                          <p:spTgt spid="33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500"/>
                                        <p:tgtEl>
                                          <p:spTgt spid="33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500"/>
                                        <p:tgtEl>
                                          <p:spTgt spid="338"/>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500"/>
                                        <p:tgtEl>
                                          <p:spTgt spid="33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500"/>
                                        <p:tgtEl>
                                          <p:spTgt spid="340"/>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500"/>
                                        <p:tgtEl>
                                          <p:spTgt spid="342"/>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500"/>
                                        <p:tgtEl>
                                          <p:spTgt spid="343"/>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500"/>
                                        <p:tgtEl>
                                          <p:spTgt spid="344"/>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500"/>
                                        <p:tgtEl>
                                          <p:spTgt spid="345"/>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500"/>
                                        <p:tgtEl>
                                          <p:spTgt spid="347"/>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500"/>
                                        <p:tgtEl>
                                          <p:spTgt spid="348"/>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500"/>
                                        <p:tgtEl>
                                          <p:spTgt spid="349"/>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500"/>
                                        <p:tgtEl>
                                          <p:spTgt spid="350"/>
                                        </p:tgtEl>
                                      </p:cBhvr>
                                    </p:animEffect>
                                  </p:childTnLst>
                                </p:cTn>
                              </p:par>
                            </p:childTnLst>
                          </p:cTn>
                        </p:par>
                        <p:par>
                          <p:cTn fill="hold">
                            <p:stCondLst>
                              <p:cond delay="7500"/>
                            </p:stCondLst>
                            <p:childTnLst>
                              <p:par>
                                <p:cTn fill="hold" nodeType="after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500"/>
                                        <p:tgtEl>
                                          <p:spTgt spid="352"/>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500"/>
                                        <p:tgtEl>
                                          <p:spTgt spid="353"/>
                                        </p:tgtEl>
                                      </p:cBhvr>
                                    </p:animEffect>
                                  </p:childTnLst>
                                </p:cTn>
                              </p:par>
                            </p:childTnLst>
                          </p:cTn>
                        </p:par>
                        <p:par>
                          <p:cTn fill="hold">
                            <p:stCondLst>
                              <p:cond delay="8500"/>
                            </p:stCondLst>
                            <p:childTnLst>
                              <p:par>
                                <p:cTn fill="hold" nodeType="after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500"/>
                                        <p:tgtEl>
                                          <p:spTgt spid="354"/>
                                        </p:tgtEl>
                                      </p:cBhvr>
                                    </p:animEffect>
                                  </p:childTnLst>
                                </p:cTn>
                              </p:par>
                            </p:childTnLst>
                          </p:cTn>
                        </p:par>
                        <p:par>
                          <p:cTn fill="hold">
                            <p:stCondLst>
                              <p:cond delay="9000"/>
                            </p:stCondLst>
                            <p:childTnLst>
                              <p:par>
                                <p:cTn fill="hold" nodeType="after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500"/>
                                        <p:tgtEl>
                                          <p:spTgt spid="355"/>
                                        </p:tgtEl>
                                      </p:cBhvr>
                                    </p:animEffect>
                                  </p:childTnLst>
                                </p:cTn>
                              </p:par>
                            </p:childTnLst>
                          </p:cTn>
                        </p:par>
                        <p:par>
                          <p:cTn fill="hold">
                            <p:stCondLst>
                              <p:cond delay="9500"/>
                            </p:stCondLst>
                            <p:childTnLst>
                              <p:par>
                                <p:cTn fill="hold" nodeType="after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500"/>
                                        <p:tgtEl>
                                          <p:spTgt spid="356"/>
                                        </p:tgtEl>
                                      </p:cBhvr>
                                    </p:animEffect>
                                  </p:childTnLst>
                                </p:cTn>
                              </p:par>
                            </p:childTnLst>
                          </p:cTn>
                        </p:par>
                        <p:par>
                          <p:cTn fill="hold">
                            <p:stCondLst>
                              <p:cond delay="10000"/>
                            </p:stCondLst>
                            <p:childTnLst>
                              <p:par>
                                <p:cTn fill="hold" nodeType="after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500"/>
                                        <p:tgtEl>
                                          <p:spTgt spid="3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B10"/>
        </a:solidFill>
      </p:bgPr>
    </p:bg>
    <p:spTree>
      <p:nvGrpSpPr>
        <p:cNvPr id="362" name="Shape 362"/>
        <p:cNvGrpSpPr/>
        <p:nvPr/>
      </p:nvGrpSpPr>
      <p:grpSpPr>
        <a:xfrm>
          <a:off x="0" y="0"/>
          <a:ext cx="0" cy="0"/>
          <a:chOff x="0" y="0"/>
          <a:chExt cx="0" cy="0"/>
        </a:xfrm>
      </p:grpSpPr>
      <p:sp>
        <p:nvSpPr>
          <p:cNvPr id="363" name="Google Shape;363;p34"/>
          <p:cNvSpPr/>
          <p:nvPr/>
        </p:nvSpPr>
        <p:spPr>
          <a:xfrm>
            <a:off x="-1783128" y="2263139"/>
            <a:ext cx="4800728" cy="480060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4" name="Google Shape;364;p34"/>
          <p:cNvSpPr/>
          <p:nvPr/>
        </p:nvSpPr>
        <p:spPr>
          <a:xfrm>
            <a:off x="-1111026" y="2935224"/>
            <a:ext cx="3456524" cy="3456432"/>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5" name="Google Shape;365;p34"/>
          <p:cNvSpPr/>
          <p:nvPr/>
        </p:nvSpPr>
        <p:spPr>
          <a:xfrm>
            <a:off x="630953" y="788670"/>
            <a:ext cx="2057455" cy="16459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430"/>
              </a:buClr>
              <a:buSzPts val="11300"/>
              <a:buFont typeface="Arial"/>
              <a:buNone/>
            </a:pPr>
            <a:r>
              <a:rPr b="1" i="0" lang="en" sz="11300" u="none" cap="none" strike="noStrike">
                <a:solidFill>
                  <a:srgbClr val="1F2430"/>
                </a:solidFill>
                <a:latin typeface="Arial"/>
                <a:ea typeface="Arial"/>
                <a:cs typeface="Arial"/>
                <a:sym typeface="Arial"/>
              </a:rPr>
              <a:t>07</a:t>
            </a:r>
            <a:endParaRPr b="0" i="0" sz="11300" u="none" cap="none" strike="noStrike">
              <a:solidFill>
                <a:schemeClr val="dk1"/>
              </a:solidFill>
              <a:latin typeface="Calibri"/>
              <a:ea typeface="Calibri"/>
              <a:cs typeface="Calibri"/>
              <a:sym typeface="Calibri"/>
            </a:endParaRPr>
          </a:p>
        </p:txBody>
      </p:sp>
      <p:sp>
        <p:nvSpPr>
          <p:cNvPr id="366" name="Google Shape;366;p34"/>
          <p:cNvSpPr/>
          <p:nvPr/>
        </p:nvSpPr>
        <p:spPr>
          <a:xfrm>
            <a:off x="658386" y="2482595"/>
            <a:ext cx="6858183"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THE ECOSYSTEM YOU'RE ENTERING</a:t>
            </a:r>
            <a:endParaRPr b="0" i="0" sz="1000" u="none" cap="none" strike="noStrike">
              <a:solidFill>
                <a:schemeClr val="dk1"/>
              </a:solidFill>
              <a:latin typeface="Calibri"/>
              <a:ea typeface="Calibri"/>
              <a:cs typeface="Calibri"/>
              <a:sym typeface="Calibri"/>
            </a:endParaRPr>
          </a:p>
        </p:txBody>
      </p:sp>
      <p:sp>
        <p:nvSpPr>
          <p:cNvPr id="367" name="Google Shape;367;p34"/>
          <p:cNvSpPr/>
          <p:nvPr/>
        </p:nvSpPr>
        <p:spPr>
          <a:xfrm>
            <a:off x="630953" y="2729484"/>
            <a:ext cx="7269674" cy="1068324"/>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4F6FA"/>
              </a:buClr>
              <a:buSzPts val="3500"/>
              <a:buFont typeface="Arial"/>
              <a:buNone/>
            </a:pPr>
            <a:r>
              <a:rPr b="1" i="0" lang="en" sz="3500" u="none" cap="none" strike="noStrike">
                <a:solidFill>
                  <a:srgbClr val="F4F6FA"/>
                </a:solidFill>
                <a:latin typeface="Arial"/>
                <a:ea typeface="Arial"/>
                <a:cs typeface="Arial"/>
                <a:sym typeface="Arial"/>
              </a:rPr>
              <a:t>Why India,</a:t>
            </a:r>
            <a:endParaRPr b="0" i="0" sz="3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4F6FA"/>
              </a:buClr>
              <a:buSzPts val="3500"/>
              <a:buFont typeface="Arial"/>
              <a:buNone/>
            </a:pPr>
            <a:r>
              <a:rPr b="1" i="0" lang="en" sz="3500" u="none" cap="none" strike="noStrike">
                <a:solidFill>
                  <a:srgbClr val="F4F6FA"/>
                </a:solidFill>
                <a:latin typeface="Arial"/>
                <a:ea typeface="Arial"/>
                <a:cs typeface="Arial"/>
                <a:sym typeface="Arial"/>
              </a:rPr>
              <a:t>why now</a:t>
            </a:r>
            <a:endParaRPr b="0" i="0" sz="3500" u="none" cap="none" strike="noStrike">
              <a:solidFill>
                <a:schemeClr val="dk1"/>
              </a:solidFill>
              <a:latin typeface="Calibri"/>
              <a:ea typeface="Calibri"/>
              <a:cs typeface="Calibri"/>
              <a:sym typeface="Calibri"/>
            </a:endParaRPr>
          </a:p>
        </p:txBody>
      </p:sp>
      <p:sp>
        <p:nvSpPr>
          <p:cNvPr id="368" name="Google Shape;368;p34"/>
          <p:cNvSpPr/>
          <p:nvPr/>
        </p:nvSpPr>
        <p:spPr>
          <a:xfrm>
            <a:off x="630953" y="3880104"/>
            <a:ext cx="6721019"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44444"/>
              </a:lnSpc>
              <a:spcBef>
                <a:spcPts val="0"/>
              </a:spcBef>
              <a:spcAft>
                <a:spcPts val="0"/>
              </a:spcAft>
              <a:buClr>
                <a:srgbClr val="AEB6C4"/>
              </a:buClr>
              <a:buSzPts val="1400"/>
              <a:buFont typeface="Arial"/>
              <a:buNone/>
            </a:pPr>
            <a:r>
              <a:rPr b="0" i="0" lang="en" sz="1400" u="none" cap="none" strike="noStrike">
                <a:solidFill>
                  <a:srgbClr val="AEB6C4"/>
                </a:solidFill>
                <a:latin typeface="Arial"/>
                <a:ea typeface="Arial"/>
                <a:cs typeface="Arial"/>
                <a:sym typeface="Arial"/>
              </a:rPr>
              <a:t>You are starting college at the single best time in history to build in this country. I mean that literally.</a:t>
            </a:r>
            <a:endParaRPr b="0" i="0" sz="14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500"/>
                                        <p:tgtEl>
                                          <p:spTgt spid="36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66"/>
                                        </p:tgtEl>
                                        <p:attrNameLst>
                                          <p:attrName>style.visibility</p:attrName>
                                        </p:attrNameLst>
                                      </p:cBhvr>
                                      <p:to>
                                        <p:strVal val="visible"/>
                                      </p:to>
                                    </p:set>
                                    <p:animEffect filter="fade" transition="in">
                                      <p:cBhvr>
                                        <p:cTn dur="500"/>
                                        <p:tgtEl>
                                          <p:spTgt spid="36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67"/>
                                        </p:tgtEl>
                                        <p:attrNameLst>
                                          <p:attrName>style.visibility</p:attrName>
                                        </p:attrNameLst>
                                      </p:cBhvr>
                                      <p:to>
                                        <p:strVal val="visible"/>
                                      </p:to>
                                    </p:set>
                                    <p:animEffect filter="fade" transition="in">
                                      <p:cBhvr>
                                        <p:cTn dur="500"/>
                                        <p:tgtEl>
                                          <p:spTgt spid="36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500"/>
                                        <p:tgtEl>
                                          <p:spTgt spid="3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117"/>
        </a:solidFill>
      </p:bgPr>
    </p:bg>
    <p:spTree>
      <p:nvGrpSpPr>
        <p:cNvPr id="373" name="Shape 373"/>
        <p:cNvGrpSpPr/>
        <p:nvPr/>
      </p:nvGrpSpPr>
      <p:grpSpPr>
        <a:xfrm>
          <a:off x="0" y="0"/>
          <a:ext cx="0" cy="0"/>
          <a:chOff x="0" y="0"/>
          <a:chExt cx="0" cy="0"/>
        </a:xfrm>
      </p:grpSpPr>
      <p:sp>
        <p:nvSpPr>
          <p:cNvPr id="374" name="Google Shape;374;p35"/>
          <p:cNvSpPr/>
          <p:nvPr/>
        </p:nvSpPr>
        <p:spPr>
          <a:xfrm>
            <a:off x="7223724" y="-1303020"/>
            <a:ext cx="3429091" cy="342900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5" name="Google Shape;375;p35"/>
          <p:cNvSpPr/>
          <p:nvPr/>
        </p:nvSpPr>
        <p:spPr>
          <a:xfrm>
            <a:off x="7703797" y="-822960"/>
            <a:ext cx="2468946" cy="2468880"/>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6" name="Google Shape;376;p35"/>
          <p:cNvSpPr/>
          <p:nvPr/>
        </p:nvSpPr>
        <p:spPr>
          <a:xfrm>
            <a:off x="630953" y="493776"/>
            <a:ext cx="7882109" cy="23317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THE SCALE OF THE MOMENT</a:t>
            </a:r>
            <a:endParaRPr b="0" i="0" sz="1000" u="none" cap="none" strike="noStrike">
              <a:solidFill>
                <a:schemeClr val="dk1"/>
              </a:solidFill>
              <a:latin typeface="Calibri"/>
              <a:ea typeface="Calibri"/>
              <a:cs typeface="Calibri"/>
              <a:sym typeface="Calibri"/>
            </a:endParaRPr>
          </a:p>
        </p:txBody>
      </p:sp>
      <p:sp>
        <p:nvSpPr>
          <p:cNvPr id="377" name="Google Shape;377;p35"/>
          <p:cNvSpPr/>
          <p:nvPr/>
        </p:nvSpPr>
        <p:spPr>
          <a:xfrm>
            <a:off x="630953" y="768096"/>
            <a:ext cx="7882109"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2600"/>
              <a:buFont typeface="Arial"/>
              <a:buNone/>
            </a:pPr>
            <a:r>
              <a:rPr b="1" i="0" lang="en" sz="2600" u="none" cap="none" strike="noStrike">
                <a:solidFill>
                  <a:srgbClr val="F4F6FA"/>
                </a:solidFill>
                <a:latin typeface="Arial"/>
                <a:ea typeface="Arial"/>
                <a:cs typeface="Arial"/>
                <a:sym typeface="Arial"/>
              </a:rPr>
              <a:t>This didn't exist when I graduated</a:t>
            </a:r>
            <a:endParaRPr b="0" i="0" sz="2600" u="none" cap="none" strike="noStrike">
              <a:solidFill>
                <a:schemeClr val="dk1"/>
              </a:solidFill>
              <a:latin typeface="Calibri"/>
              <a:ea typeface="Calibri"/>
              <a:cs typeface="Calibri"/>
              <a:sym typeface="Calibri"/>
            </a:endParaRPr>
          </a:p>
        </p:txBody>
      </p:sp>
      <p:sp>
        <p:nvSpPr>
          <p:cNvPr id="378" name="Google Shape;378;p35"/>
          <p:cNvSpPr/>
          <p:nvPr/>
        </p:nvSpPr>
        <p:spPr>
          <a:xfrm>
            <a:off x="630953" y="1748790"/>
            <a:ext cx="2398763" cy="1885950"/>
          </a:xfrm>
          <a:prstGeom prst="roundRect">
            <a:avLst>
              <a:gd fmla="val 4364"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9" name="Google Shape;379;p35"/>
          <p:cNvSpPr/>
          <p:nvPr/>
        </p:nvSpPr>
        <p:spPr>
          <a:xfrm>
            <a:off x="665244" y="1988820"/>
            <a:ext cx="2330182" cy="78867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4400"/>
              <a:buFont typeface="Arial"/>
              <a:buNone/>
            </a:pPr>
            <a:r>
              <a:rPr b="1" i="0" lang="en" sz="4400" u="none" cap="none" strike="noStrike">
                <a:solidFill>
                  <a:srgbClr val="F59E0B"/>
                </a:solidFill>
                <a:latin typeface="Arial"/>
                <a:ea typeface="Arial"/>
                <a:cs typeface="Arial"/>
                <a:sym typeface="Arial"/>
              </a:rPr>
              <a:t>3rd</a:t>
            </a:r>
            <a:endParaRPr b="0" i="0" sz="4400" u="none" cap="none" strike="noStrike">
              <a:solidFill>
                <a:schemeClr val="dk1"/>
              </a:solidFill>
              <a:latin typeface="Calibri"/>
              <a:ea typeface="Calibri"/>
              <a:cs typeface="Calibri"/>
              <a:sym typeface="Calibri"/>
            </a:endParaRPr>
          </a:p>
        </p:txBody>
      </p:sp>
      <p:sp>
        <p:nvSpPr>
          <p:cNvPr id="380" name="Google Shape;380;p35"/>
          <p:cNvSpPr/>
          <p:nvPr/>
        </p:nvSpPr>
        <p:spPr>
          <a:xfrm>
            <a:off x="870989" y="2846070"/>
            <a:ext cx="1918691" cy="651510"/>
          </a:xfrm>
          <a:prstGeom prst="rect">
            <a:avLst/>
          </a:prstGeom>
          <a:noFill/>
          <a:ln>
            <a:noFill/>
          </a:ln>
        </p:spPr>
        <p:txBody>
          <a:bodyPr anchorCtr="0" anchor="ctr" bIns="34275" lIns="68575" spcFirstLastPara="1" rIns="68575" wrap="square" tIns="34275">
            <a:noAutofit/>
          </a:bodyPr>
          <a:lstStyle/>
          <a:p>
            <a:pPr indent="0" lvl="0" marL="0" marR="0" rtl="0" algn="ctr">
              <a:lnSpc>
                <a:spcPct val="133333"/>
              </a:lnSpc>
              <a:spcBef>
                <a:spcPts val="0"/>
              </a:spcBef>
              <a:spcAft>
                <a:spcPts val="0"/>
              </a:spcAft>
              <a:buClr>
                <a:srgbClr val="AEB6C4"/>
              </a:buClr>
              <a:buSzPts val="1100"/>
              <a:buFont typeface="Arial"/>
              <a:buNone/>
            </a:pPr>
            <a:r>
              <a:rPr b="0" i="0" lang="en" sz="1100" u="none" cap="none" strike="noStrike">
                <a:solidFill>
                  <a:srgbClr val="AEB6C4"/>
                </a:solidFill>
                <a:latin typeface="Arial"/>
                <a:ea typeface="Arial"/>
                <a:cs typeface="Arial"/>
                <a:sym typeface="Arial"/>
              </a:rPr>
              <a:t>largest startup ecosystem in the world</a:t>
            </a:r>
            <a:endParaRPr b="0" i="0" sz="1100" u="none" cap="none" strike="noStrike">
              <a:solidFill>
                <a:schemeClr val="dk1"/>
              </a:solidFill>
              <a:latin typeface="Calibri"/>
              <a:ea typeface="Calibri"/>
              <a:cs typeface="Calibri"/>
              <a:sym typeface="Calibri"/>
            </a:endParaRPr>
          </a:p>
        </p:txBody>
      </p:sp>
      <p:sp>
        <p:nvSpPr>
          <p:cNvPr id="381" name="Google Shape;381;p35"/>
          <p:cNvSpPr/>
          <p:nvPr/>
        </p:nvSpPr>
        <p:spPr>
          <a:xfrm>
            <a:off x="3372625" y="1748790"/>
            <a:ext cx="2398763" cy="1885950"/>
          </a:xfrm>
          <a:prstGeom prst="roundRect">
            <a:avLst>
              <a:gd fmla="val 4364"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2" name="Google Shape;382;p35"/>
          <p:cNvSpPr/>
          <p:nvPr/>
        </p:nvSpPr>
        <p:spPr>
          <a:xfrm>
            <a:off x="3406916" y="1988820"/>
            <a:ext cx="2330182" cy="78867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4400"/>
              <a:buFont typeface="Arial"/>
              <a:buNone/>
            </a:pPr>
            <a:r>
              <a:rPr b="1" i="0" lang="en" sz="4400" u="none" cap="none" strike="noStrike">
                <a:solidFill>
                  <a:srgbClr val="F59E0B"/>
                </a:solidFill>
                <a:latin typeface="Arial"/>
                <a:ea typeface="Arial"/>
                <a:cs typeface="Arial"/>
                <a:sym typeface="Arial"/>
              </a:rPr>
              <a:t>100+</a:t>
            </a:r>
            <a:endParaRPr b="0" i="0" sz="4400" u="none" cap="none" strike="noStrike">
              <a:solidFill>
                <a:schemeClr val="dk1"/>
              </a:solidFill>
              <a:latin typeface="Calibri"/>
              <a:ea typeface="Calibri"/>
              <a:cs typeface="Calibri"/>
              <a:sym typeface="Calibri"/>
            </a:endParaRPr>
          </a:p>
        </p:txBody>
      </p:sp>
      <p:sp>
        <p:nvSpPr>
          <p:cNvPr id="383" name="Google Shape;383;p35"/>
          <p:cNvSpPr/>
          <p:nvPr/>
        </p:nvSpPr>
        <p:spPr>
          <a:xfrm>
            <a:off x="3612662" y="2846070"/>
            <a:ext cx="1918691" cy="651510"/>
          </a:xfrm>
          <a:prstGeom prst="rect">
            <a:avLst/>
          </a:prstGeom>
          <a:noFill/>
          <a:ln>
            <a:noFill/>
          </a:ln>
        </p:spPr>
        <p:txBody>
          <a:bodyPr anchorCtr="0" anchor="ctr" bIns="34275" lIns="68575" spcFirstLastPara="1" rIns="68575" wrap="square" tIns="34275">
            <a:noAutofit/>
          </a:bodyPr>
          <a:lstStyle/>
          <a:p>
            <a:pPr indent="0" lvl="0" marL="0" marR="0" rtl="0" algn="ctr">
              <a:lnSpc>
                <a:spcPct val="133333"/>
              </a:lnSpc>
              <a:spcBef>
                <a:spcPts val="0"/>
              </a:spcBef>
              <a:spcAft>
                <a:spcPts val="0"/>
              </a:spcAft>
              <a:buClr>
                <a:srgbClr val="AEB6C4"/>
              </a:buClr>
              <a:buSzPts val="1100"/>
              <a:buFont typeface="Arial"/>
              <a:buNone/>
            </a:pPr>
            <a:r>
              <a:rPr b="0" i="0" lang="en" sz="1100" u="none" cap="none" strike="noStrike">
                <a:solidFill>
                  <a:srgbClr val="AEB6C4"/>
                </a:solidFill>
                <a:latin typeface="Arial"/>
                <a:ea typeface="Arial"/>
                <a:cs typeface="Arial"/>
                <a:sym typeface="Arial"/>
              </a:rPr>
              <a:t>unicorns built in India, most in the last decade</a:t>
            </a:r>
            <a:endParaRPr b="0" i="0" sz="1100" u="none" cap="none" strike="noStrike">
              <a:solidFill>
                <a:schemeClr val="dk1"/>
              </a:solidFill>
              <a:latin typeface="Calibri"/>
              <a:ea typeface="Calibri"/>
              <a:cs typeface="Calibri"/>
              <a:sym typeface="Calibri"/>
            </a:endParaRPr>
          </a:p>
        </p:txBody>
      </p:sp>
      <p:sp>
        <p:nvSpPr>
          <p:cNvPr id="384" name="Google Shape;384;p35"/>
          <p:cNvSpPr/>
          <p:nvPr/>
        </p:nvSpPr>
        <p:spPr>
          <a:xfrm>
            <a:off x="6114299" y="1748790"/>
            <a:ext cx="2398763" cy="1885950"/>
          </a:xfrm>
          <a:prstGeom prst="roundRect">
            <a:avLst>
              <a:gd fmla="val 4364"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5" name="Google Shape;385;p35"/>
          <p:cNvSpPr/>
          <p:nvPr/>
        </p:nvSpPr>
        <p:spPr>
          <a:xfrm>
            <a:off x="6148589" y="1988820"/>
            <a:ext cx="2330182" cy="78867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4400"/>
              <a:buFont typeface="Arial"/>
              <a:buNone/>
            </a:pPr>
            <a:r>
              <a:rPr b="1" i="0" lang="en" sz="4400" u="none" cap="none" strike="noStrike">
                <a:solidFill>
                  <a:srgbClr val="F59E0B"/>
                </a:solidFill>
                <a:latin typeface="Arial"/>
                <a:ea typeface="Arial"/>
                <a:cs typeface="Arial"/>
                <a:sym typeface="Arial"/>
              </a:rPr>
              <a:t>1.5 L+</a:t>
            </a:r>
            <a:endParaRPr b="0" i="0" sz="4400" u="none" cap="none" strike="noStrike">
              <a:solidFill>
                <a:schemeClr val="dk1"/>
              </a:solidFill>
              <a:latin typeface="Calibri"/>
              <a:ea typeface="Calibri"/>
              <a:cs typeface="Calibri"/>
              <a:sym typeface="Calibri"/>
            </a:endParaRPr>
          </a:p>
        </p:txBody>
      </p:sp>
      <p:sp>
        <p:nvSpPr>
          <p:cNvPr id="386" name="Google Shape;386;p35"/>
          <p:cNvSpPr/>
          <p:nvPr/>
        </p:nvSpPr>
        <p:spPr>
          <a:xfrm>
            <a:off x="6354335" y="2846070"/>
            <a:ext cx="1918691" cy="651510"/>
          </a:xfrm>
          <a:prstGeom prst="rect">
            <a:avLst/>
          </a:prstGeom>
          <a:noFill/>
          <a:ln>
            <a:noFill/>
          </a:ln>
        </p:spPr>
        <p:txBody>
          <a:bodyPr anchorCtr="0" anchor="ctr" bIns="34275" lIns="68575" spcFirstLastPara="1" rIns="68575" wrap="square" tIns="34275">
            <a:noAutofit/>
          </a:bodyPr>
          <a:lstStyle/>
          <a:p>
            <a:pPr indent="0" lvl="0" marL="0" marR="0" rtl="0" algn="ctr">
              <a:lnSpc>
                <a:spcPct val="133333"/>
              </a:lnSpc>
              <a:spcBef>
                <a:spcPts val="0"/>
              </a:spcBef>
              <a:spcAft>
                <a:spcPts val="0"/>
              </a:spcAft>
              <a:buClr>
                <a:srgbClr val="AEB6C4"/>
              </a:buClr>
              <a:buSzPts val="1100"/>
              <a:buFont typeface="Arial"/>
              <a:buNone/>
            </a:pPr>
            <a:r>
              <a:rPr b="0" i="0" lang="en" sz="1100" u="none" cap="none" strike="noStrike">
                <a:solidFill>
                  <a:srgbClr val="AEB6C4"/>
                </a:solidFill>
                <a:latin typeface="Arial"/>
                <a:ea typeface="Arial"/>
                <a:cs typeface="Arial"/>
                <a:sym typeface="Arial"/>
              </a:rPr>
              <a:t>DPIIT-recognised startups across 750+ districts</a:t>
            </a:r>
            <a:endParaRPr b="0" i="0" sz="1100" u="none" cap="none" strike="noStrike">
              <a:solidFill>
                <a:schemeClr val="dk1"/>
              </a:solidFill>
              <a:latin typeface="Calibri"/>
              <a:ea typeface="Calibri"/>
              <a:cs typeface="Calibri"/>
              <a:sym typeface="Calibri"/>
            </a:endParaRPr>
          </a:p>
        </p:txBody>
      </p:sp>
      <p:sp>
        <p:nvSpPr>
          <p:cNvPr id="387" name="Google Shape;387;p35"/>
          <p:cNvSpPr/>
          <p:nvPr/>
        </p:nvSpPr>
        <p:spPr>
          <a:xfrm>
            <a:off x="630953" y="3909060"/>
            <a:ext cx="7882109" cy="617220"/>
          </a:xfrm>
          <a:prstGeom prst="rect">
            <a:avLst/>
          </a:prstGeom>
          <a:noFill/>
          <a:ln>
            <a:noFill/>
          </a:ln>
        </p:spPr>
        <p:txBody>
          <a:bodyPr anchorCtr="0" anchor="ctr" bIns="34275" lIns="68575" spcFirstLastPara="1" rIns="68575" wrap="square" tIns="34275">
            <a:noAutofit/>
          </a:bodyPr>
          <a:lstStyle/>
          <a:p>
            <a:pPr indent="0" lvl="0" marL="0" marR="0" rtl="0" algn="ctr">
              <a:lnSpc>
                <a:spcPct val="141176"/>
              </a:lnSpc>
              <a:spcBef>
                <a:spcPts val="0"/>
              </a:spcBef>
              <a:spcAft>
                <a:spcPts val="0"/>
              </a:spcAft>
              <a:buClr>
                <a:srgbClr val="6B7382"/>
              </a:buClr>
              <a:buSzPts val="1300"/>
              <a:buFont typeface="Arial"/>
              <a:buNone/>
            </a:pPr>
            <a:r>
              <a:rPr b="0" i="1" lang="en" sz="1300" u="none" cap="none" strike="noStrike">
                <a:solidFill>
                  <a:srgbClr val="6B7382"/>
                </a:solidFill>
                <a:latin typeface="Arial"/>
                <a:ea typeface="Arial"/>
                <a:cs typeface="Arial"/>
                <a:sym typeface="Arial"/>
              </a:rPr>
              <a:t>Figures are ballpark for 2025–26. The point stands: the market, the capital, and the rails all arrived at once.</a:t>
            </a:r>
            <a:endParaRPr b="0" i="0" sz="1300" u="none" cap="none" strike="noStrike">
              <a:solidFill>
                <a:schemeClr val="dk1"/>
              </a:solidFill>
              <a:latin typeface="Calibri"/>
              <a:ea typeface="Calibri"/>
              <a:cs typeface="Calibri"/>
              <a:sym typeface="Calibri"/>
            </a:endParaRPr>
          </a:p>
        </p:txBody>
      </p:sp>
      <p:sp>
        <p:nvSpPr>
          <p:cNvPr id="388" name="Google Shape;388;p35"/>
          <p:cNvSpPr/>
          <p:nvPr/>
        </p:nvSpPr>
        <p:spPr>
          <a:xfrm>
            <a:off x="630953" y="4800600"/>
            <a:ext cx="411491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FROM CAMPUS TO STARTUP</a:t>
            </a:r>
            <a:endParaRPr b="0" i="0" sz="700" u="none" cap="none" strike="noStrike">
              <a:solidFill>
                <a:schemeClr val="dk1"/>
              </a:solidFill>
              <a:latin typeface="Calibri"/>
              <a:ea typeface="Calibri"/>
              <a:cs typeface="Calibri"/>
              <a:sym typeface="Calibri"/>
            </a:endParaRPr>
          </a:p>
        </p:txBody>
      </p:sp>
      <p:sp>
        <p:nvSpPr>
          <p:cNvPr id="389" name="Google Shape;389;p35"/>
          <p:cNvSpPr/>
          <p:nvPr/>
        </p:nvSpPr>
        <p:spPr>
          <a:xfrm>
            <a:off x="7964407" y="4800600"/>
            <a:ext cx="548655"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13</a:t>
            </a:r>
            <a:endParaRPr b="0" i="0" sz="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500"/>
                                        <p:tgtEl>
                                          <p:spTgt spid="37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500"/>
                                        <p:tgtEl>
                                          <p:spTgt spid="37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500"/>
                                        <p:tgtEl>
                                          <p:spTgt spid="37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500"/>
                                        <p:tgtEl>
                                          <p:spTgt spid="37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80"/>
                                        </p:tgtEl>
                                        <p:attrNameLst>
                                          <p:attrName>style.visibility</p:attrName>
                                        </p:attrNameLst>
                                      </p:cBhvr>
                                      <p:to>
                                        <p:strVal val="visible"/>
                                      </p:to>
                                    </p:set>
                                    <p:animEffect filter="fade" transition="in">
                                      <p:cBhvr>
                                        <p:cTn dur="500"/>
                                        <p:tgtEl>
                                          <p:spTgt spid="380"/>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500"/>
                                        <p:tgtEl>
                                          <p:spTgt spid="381"/>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500"/>
                                        <p:tgtEl>
                                          <p:spTgt spid="382"/>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500"/>
                                        <p:tgtEl>
                                          <p:spTgt spid="383"/>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500"/>
                                        <p:tgtEl>
                                          <p:spTgt spid="384"/>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500"/>
                                        <p:tgtEl>
                                          <p:spTgt spid="385"/>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500"/>
                                        <p:tgtEl>
                                          <p:spTgt spid="386"/>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500"/>
                                        <p:tgtEl>
                                          <p:spTgt spid="387"/>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500"/>
                                        <p:tgtEl>
                                          <p:spTgt spid="388"/>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500"/>
                                        <p:tgtEl>
                                          <p:spTgt spid="3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117"/>
        </a:solidFill>
      </p:bgPr>
    </p:bg>
    <p:spTree>
      <p:nvGrpSpPr>
        <p:cNvPr id="394" name="Shape 394"/>
        <p:cNvGrpSpPr/>
        <p:nvPr/>
      </p:nvGrpSpPr>
      <p:grpSpPr>
        <a:xfrm>
          <a:off x="0" y="0"/>
          <a:ext cx="0" cy="0"/>
          <a:chOff x="0" y="0"/>
          <a:chExt cx="0" cy="0"/>
        </a:xfrm>
      </p:grpSpPr>
      <p:sp>
        <p:nvSpPr>
          <p:cNvPr id="395" name="Google Shape;395;p36"/>
          <p:cNvSpPr/>
          <p:nvPr/>
        </p:nvSpPr>
        <p:spPr>
          <a:xfrm>
            <a:off x="630953" y="425196"/>
            <a:ext cx="7882109" cy="23317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TAILWINDS YOU GET FOR FREE</a:t>
            </a:r>
            <a:endParaRPr b="0" i="0" sz="1000" u="none" cap="none" strike="noStrike">
              <a:solidFill>
                <a:schemeClr val="dk1"/>
              </a:solidFill>
              <a:latin typeface="Calibri"/>
              <a:ea typeface="Calibri"/>
              <a:cs typeface="Calibri"/>
              <a:sym typeface="Calibri"/>
            </a:endParaRPr>
          </a:p>
        </p:txBody>
      </p:sp>
      <p:sp>
        <p:nvSpPr>
          <p:cNvPr id="396" name="Google Shape;396;p36"/>
          <p:cNvSpPr/>
          <p:nvPr/>
        </p:nvSpPr>
        <p:spPr>
          <a:xfrm>
            <a:off x="630953" y="685800"/>
            <a:ext cx="7882109" cy="5829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2300"/>
              <a:buFont typeface="Arial"/>
              <a:buNone/>
            </a:pPr>
            <a:r>
              <a:rPr b="1" i="0" lang="en" sz="2300" u="none" cap="none" strike="noStrike">
                <a:solidFill>
                  <a:srgbClr val="F4F6FA"/>
                </a:solidFill>
                <a:latin typeface="Arial"/>
                <a:ea typeface="Arial"/>
                <a:cs typeface="Arial"/>
                <a:sym typeface="Arial"/>
              </a:rPr>
              <a:t>Three forces at your back</a:t>
            </a:r>
            <a:endParaRPr b="0" i="0" sz="2300" u="none" cap="none" strike="noStrike">
              <a:solidFill>
                <a:schemeClr val="dk1"/>
              </a:solidFill>
              <a:latin typeface="Calibri"/>
              <a:ea typeface="Calibri"/>
              <a:cs typeface="Calibri"/>
              <a:sym typeface="Calibri"/>
            </a:endParaRPr>
          </a:p>
        </p:txBody>
      </p:sp>
      <p:sp>
        <p:nvSpPr>
          <p:cNvPr id="397" name="Google Shape;397;p36"/>
          <p:cNvSpPr/>
          <p:nvPr/>
        </p:nvSpPr>
        <p:spPr>
          <a:xfrm>
            <a:off x="630953" y="1316736"/>
            <a:ext cx="2421624" cy="2784348"/>
          </a:xfrm>
          <a:prstGeom prst="roundRect">
            <a:avLst>
              <a:gd fmla="val 2832"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8" name="Google Shape;398;p36"/>
          <p:cNvSpPr/>
          <p:nvPr/>
        </p:nvSpPr>
        <p:spPr>
          <a:xfrm>
            <a:off x="836698" y="1522476"/>
            <a:ext cx="397775" cy="397764"/>
          </a:xfrm>
          <a:prstGeom prst="ellipse">
            <a:avLst/>
          </a:prstGeom>
          <a:solidFill>
            <a:srgbClr val="3A2A12"/>
          </a:solidFill>
          <a:ln cap="flat" cmpd="sng" w="12700">
            <a:solidFill>
              <a:srgbClr val="B4530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9" name="Google Shape;399;p36"/>
          <p:cNvSpPr/>
          <p:nvPr/>
        </p:nvSpPr>
        <p:spPr>
          <a:xfrm>
            <a:off x="836698" y="1522476"/>
            <a:ext cx="397775" cy="39776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01</a:t>
            </a:r>
            <a:endParaRPr b="0" i="0" sz="1000" u="none" cap="none" strike="noStrike">
              <a:solidFill>
                <a:schemeClr val="dk1"/>
              </a:solidFill>
              <a:latin typeface="Calibri"/>
              <a:ea typeface="Calibri"/>
              <a:cs typeface="Calibri"/>
              <a:sym typeface="Calibri"/>
            </a:endParaRPr>
          </a:p>
        </p:txBody>
      </p:sp>
      <p:sp>
        <p:nvSpPr>
          <p:cNvPr id="400" name="Google Shape;400;p36"/>
          <p:cNvSpPr/>
          <p:nvPr/>
        </p:nvSpPr>
        <p:spPr>
          <a:xfrm>
            <a:off x="1357920" y="1508760"/>
            <a:ext cx="1571209" cy="42519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1200"/>
              <a:buFont typeface="Arial"/>
              <a:buNone/>
            </a:pPr>
            <a:r>
              <a:rPr b="1" i="0" lang="en" sz="1200" u="none" cap="none" strike="noStrike">
                <a:solidFill>
                  <a:srgbClr val="F4F6FA"/>
                </a:solidFill>
                <a:latin typeface="Arial"/>
                <a:ea typeface="Arial"/>
                <a:cs typeface="Arial"/>
                <a:sym typeface="Arial"/>
              </a:rPr>
              <a:t>Digital public rails</a:t>
            </a:r>
            <a:endParaRPr b="0" i="0" sz="1200" u="none" cap="none" strike="noStrike">
              <a:solidFill>
                <a:schemeClr val="dk1"/>
              </a:solidFill>
              <a:latin typeface="Calibri"/>
              <a:ea typeface="Calibri"/>
              <a:cs typeface="Calibri"/>
              <a:sym typeface="Calibri"/>
            </a:endParaRPr>
          </a:p>
        </p:txBody>
      </p:sp>
      <p:sp>
        <p:nvSpPr>
          <p:cNvPr id="401" name="Google Shape;401;p36"/>
          <p:cNvSpPr/>
          <p:nvPr/>
        </p:nvSpPr>
        <p:spPr>
          <a:xfrm>
            <a:off x="864131" y="1988820"/>
            <a:ext cx="1955268" cy="2016252"/>
          </a:xfrm>
          <a:prstGeom prst="rect">
            <a:avLst/>
          </a:prstGeom>
          <a:noFill/>
          <a:ln>
            <a:noFill/>
          </a:ln>
        </p:spPr>
        <p:txBody>
          <a:bodyPr anchorCtr="0" anchor="t" bIns="34275" lIns="68575" spcFirstLastPara="1" rIns="68575" wrap="square" tIns="34275">
            <a:noAutofit/>
          </a:bodyPr>
          <a:lstStyle/>
          <a:p>
            <a:pPr indent="0" lvl="0" marL="0" marR="0" rtl="0" algn="l">
              <a:lnSpc>
                <a:spcPct val="138461"/>
              </a:lnSpc>
              <a:spcBef>
                <a:spcPts val="0"/>
              </a:spcBef>
              <a:spcAft>
                <a:spcPts val="0"/>
              </a:spcAft>
              <a:buClr>
                <a:srgbClr val="AEB6C4"/>
              </a:buClr>
              <a:buSzPts val="1000"/>
              <a:buFont typeface="Arial"/>
              <a:buNone/>
            </a:pPr>
            <a:r>
              <a:rPr b="0" i="0" lang="en" sz="1000" u="none" cap="none" strike="noStrike">
                <a:solidFill>
                  <a:srgbClr val="AEB6C4"/>
                </a:solidFill>
                <a:latin typeface="Arial"/>
                <a:ea typeface="Arial"/>
                <a:cs typeface="Arial"/>
                <a:sym typeface="Arial"/>
              </a:rPr>
              <a:t>UPI, Aadhaar, ONDC distribution and payments that took the West decades to build. You get them as a starting point.</a:t>
            </a:r>
            <a:endParaRPr b="0" i="0" sz="1000" u="none" cap="none" strike="noStrike">
              <a:solidFill>
                <a:schemeClr val="dk1"/>
              </a:solidFill>
              <a:latin typeface="Calibri"/>
              <a:ea typeface="Calibri"/>
              <a:cs typeface="Calibri"/>
              <a:sym typeface="Calibri"/>
            </a:endParaRPr>
          </a:p>
        </p:txBody>
      </p:sp>
      <p:sp>
        <p:nvSpPr>
          <p:cNvPr id="402" name="Google Shape;402;p36"/>
          <p:cNvSpPr/>
          <p:nvPr/>
        </p:nvSpPr>
        <p:spPr>
          <a:xfrm>
            <a:off x="3361195" y="1316736"/>
            <a:ext cx="2421624" cy="2784348"/>
          </a:xfrm>
          <a:prstGeom prst="roundRect">
            <a:avLst>
              <a:gd fmla="val 2832"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3" name="Google Shape;403;p36"/>
          <p:cNvSpPr/>
          <p:nvPr/>
        </p:nvSpPr>
        <p:spPr>
          <a:xfrm>
            <a:off x="3566941" y="1522476"/>
            <a:ext cx="397775" cy="397764"/>
          </a:xfrm>
          <a:prstGeom prst="ellipse">
            <a:avLst/>
          </a:prstGeom>
          <a:solidFill>
            <a:srgbClr val="3A2A12"/>
          </a:solidFill>
          <a:ln cap="flat" cmpd="sng" w="12700">
            <a:solidFill>
              <a:srgbClr val="B4530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4" name="Google Shape;404;p36"/>
          <p:cNvSpPr/>
          <p:nvPr/>
        </p:nvSpPr>
        <p:spPr>
          <a:xfrm>
            <a:off x="3566941" y="1522476"/>
            <a:ext cx="397775" cy="39776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02</a:t>
            </a:r>
            <a:endParaRPr b="0" i="0" sz="1000" u="none" cap="none" strike="noStrike">
              <a:solidFill>
                <a:schemeClr val="dk1"/>
              </a:solidFill>
              <a:latin typeface="Calibri"/>
              <a:ea typeface="Calibri"/>
              <a:cs typeface="Calibri"/>
              <a:sym typeface="Calibri"/>
            </a:endParaRPr>
          </a:p>
        </p:txBody>
      </p:sp>
      <p:sp>
        <p:nvSpPr>
          <p:cNvPr id="405" name="Google Shape;405;p36"/>
          <p:cNvSpPr/>
          <p:nvPr/>
        </p:nvSpPr>
        <p:spPr>
          <a:xfrm>
            <a:off x="4088162" y="1508760"/>
            <a:ext cx="1571209" cy="42519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1200"/>
              <a:buFont typeface="Arial"/>
              <a:buNone/>
            </a:pPr>
            <a:r>
              <a:rPr b="1" i="0" lang="en" sz="1200" u="none" cap="none" strike="noStrike">
                <a:solidFill>
                  <a:srgbClr val="F4F6FA"/>
                </a:solidFill>
                <a:latin typeface="Arial"/>
                <a:ea typeface="Arial"/>
                <a:cs typeface="Arial"/>
                <a:sym typeface="Arial"/>
              </a:rPr>
              <a:t>A billion-user market</a:t>
            </a:r>
            <a:endParaRPr b="0" i="0" sz="1200" u="none" cap="none" strike="noStrike">
              <a:solidFill>
                <a:schemeClr val="dk1"/>
              </a:solidFill>
              <a:latin typeface="Calibri"/>
              <a:ea typeface="Calibri"/>
              <a:cs typeface="Calibri"/>
              <a:sym typeface="Calibri"/>
            </a:endParaRPr>
          </a:p>
        </p:txBody>
      </p:sp>
      <p:sp>
        <p:nvSpPr>
          <p:cNvPr id="406" name="Google Shape;406;p36"/>
          <p:cNvSpPr/>
          <p:nvPr/>
        </p:nvSpPr>
        <p:spPr>
          <a:xfrm>
            <a:off x="3594373" y="1988820"/>
            <a:ext cx="1955268" cy="2016252"/>
          </a:xfrm>
          <a:prstGeom prst="rect">
            <a:avLst/>
          </a:prstGeom>
          <a:noFill/>
          <a:ln>
            <a:noFill/>
          </a:ln>
        </p:spPr>
        <p:txBody>
          <a:bodyPr anchorCtr="0" anchor="t" bIns="34275" lIns="68575" spcFirstLastPara="1" rIns="68575" wrap="square" tIns="34275">
            <a:noAutofit/>
          </a:bodyPr>
          <a:lstStyle/>
          <a:p>
            <a:pPr indent="0" lvl="0" marL="0" marR="0" rtl="0" algn="l">
              <a:lnSpc>
                <a:spcPct val="138461"/>
              </a:lnSpc>
              <a:spcBef>
                <a:spcPts val="0"/>
              </a:spcBef>
              <a:spcAft>
                <a:spcPts val="0"/>
              </a:spcAft>
              <a:buClr>
                <a:srgbClr val="AEB6C4"/>
              </a:buClr>
              <a:buSzPts val="1000"/>
              <a:buFont typeface="Arial"/>
              <a:buNone/>
            </a:pPr>
            <a:r>
              <a:rPr b="0" i="0" lang="en" sz="1000" u="none" cap="none" strike="noStrike">
                <a:solidFill>
                  <a:srgbClr val="AEB6C4"/>
                </a:solidFill>
                <a:latin typeface="Arial"/>
                <a:ea typeface="Arial"/>
                <a:cs typeface="Arial"/>
                <a:sym typeface="Arial"/>
              </a:rPr>
              <a:t>Real problems worth solving in every sector, in every language, at a scale that exists almost nowhere else.</a:t>
            </a:r>
            <a:endParaRPr b="0" i="0" sz="1000" u="none" cap="none" strike="noStrike">
              <a:solidFill>
                <a:schemeClr val="dk1"/>
              </a:solidFill>
              <a:latin typeface="Calibri"/>
              <a:ea typeface="Calibri"/>
              <a:cs typeface="Calibri"/>
              <a:sym typeface="Calibri"/>
            </a:endParaRPr>
          </a:p>
        </p:txBody>
      </p:sp>
      <p:sp>
        <p:nvSpPr>
          <p:cNvPr id="407" name="Google Shape;407;p36"/>
          <p:cNvSpPr/>
          <p:nvPr/>
        </p:nvSpPr>
        <p:spPr>
          <a:xfrm>
            <a:off x="6091438" y="1316736"/>
            <a:ext cx="2421624" cy="2784348"/>
          </a:xfrm>
          <a:prstGeom prst="roundRect">
            <a:avLst>
              <a:gd fmla="val 2832"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8" name="Google Shape;408;p36"/>
          <p:cNvSpPr/>
          <p:nvPr/>
        </p:nvSpPr>
        <p:spPr>
          <a:xfrm>
            <a:off x="6297184" y="1522476"/>
            <a:ext cx="397775" cy="397764"/>
          </a:xfrm>
          <a:prstGeom prst="ellipse">
            <a:avLst/>
          </a:prstGeom>
          <a:solidFill>
            <a:srgbClr val="3A2A12"/>
          </a:solidFill>
          <a:ln cap="flat" cmpd="sng" w="12700">
            <a:solidFill>
              <a:srgbClr val="B4530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9" name="Google Shape;409;p36"/>
          <p:cNvSpPr/>
          <p:nvPr/>
        </p:nvSpPr>
        <p:spPr>
          <a:xfrm>
            <a:off x="6297184" y="1522476"/>
            <a:ext cx="397775" cy="39776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03</a:t>
            </a:r>
            <a:endParaRPr b="0" i="0" sz="1000" u="none" cap="none" strike="noStrike">
              <a:solidFill>
                <a:schemeClr val="dk1"/>
              </a:solidFill>
              <a:latin typeface="Calibri"/>
              <a:ea typeface="Calibri"/>
              <a:cs typeface="Calibri"/>
              <a:sym typeface="Calibri"/>
            </a:endParaRPr>
          </a:p>
        </p:txBody>
      </p:sp>
      <p:sp>
        <p:nvSpPr>
          <p:cNvPr id="410" name="Google Shape;410;p36"/>
          <p:cNvSpPr/>
          <p:nvPr/>
        </p:nvSpPr>
        <p:spPr>
          <a:xfrm>
            <a:off x="6818406" y="1508760"/>
            <a:ext cx="1571209" cy="42519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1200"/>
              <a:buFont typeface="Arial"/>
              <a:buNone/>
            </a:pPr>
            <a:r>
              <a:rPr b="1" i="0" lang="en" sz="1200" u="none" cap="none" strike="noStrike">
                <a:solidFill>
                  <a:srgbClr val="F4F6FA"/>
                </a:solidFill>
                <a:latin typeface="Arial"/>
                <a:ea typeface="Arial"/>
                <a:cs typeface="Arial"/>
                <a:sym typeface="Arial"/>
              </a:rPr>
              <a:t>AI as a force multiplier</a:t>
            </a:r>
            <a:endParaRPr b="0" i="0" sz="1200" u="none" cap="none" strike="noStrike">
              <a:solidFill>
                <a:schemeClr val="dk1"/>
              </a:solidFill>
              <a:latin typeface="Calibri"/>
              <a:ea typeface="Calibri"/>
              <a:cs typeface="Calibri"/>
              <a:sym typeface="Calibri"/>
            </a:endParaRPr>
          </a:p>
        </p:txBody>
      </p:sp>
      <p:sp>
        <p:nvSpPr>
          <p:cNvPr id="411" name="Google Shape;411;p36"/>
          <p:cNvSpPr/>
          <p:nvPr/>
        </p:nvSpPr>
        <p:spPr>
          <a:xfrm>
            <a:off x="6324616" y="1988820"/>
            <a:ext cx="1955268" cy="2016252"/>
          </a:xfrm>
          <a:prstGeom prst="rect">
            <a:avLst/>
          </a:prstGeom>
          <a:noFill/>
          <a:ln>
            <a:noFill/>
          </a:ln>
        </p:spPr>
        <p:txBody>
          <a:bodyPr anchorCtr="0" anchor="t" bIns="34275" lIns="68575" spcFirstLastPara="1" rIns="68575" wrap="square" tIns="34275">
            <a:noAutofit/>
          </a:bodyPr>
          <a:lstStyle/>
          <a:p>
            <a:pPr indent="0" lvl="0" marL="0" marR="0" rtl="0" algn="l">
              <a:lnSpc>
                <a:spcPct val="138461"/>
              </a:lnSpc>
              <a:spcBef>
                <a:spcPts val="0"/>
              </a:spcBef>
              <a:spcAft>
                <a:spcPts val="0"/>
              </a:spcAft>
              <a:buClr>
                <a:srgbClr val="AEB6C4"/>
              </a:buClr>
              <a:buSzPts val="1000"/>
              <a:buFont typeface="Arial"/>
              <a:buNone/>
            </a:pPr>
            <a:r>
              <a:rPr b="0" i="0" lang="en" sz="1000" u="none" cap="none" strike="noStrike">
                <a:solidFill>
                  <a:srgbClr val="AEB6C4"/>
                </a:solidFill>
                <a:latin typeface="Arial"/>
                <a:ea typeface="Arial"/>
                <a:cs typeface="Arial"/>
                <a:sym typeface="Arial"/>
              </a:rPr>
              <a:t>Small teams now ship what needed fifty engineers five years ago. Leverage has never been this cheap.</a:t>
            </a:r>
            <a:endParaRPr b="0" i="0" sz="1000" u="none" cap="none" strike="noStrike">
              <a:solidFill>
                <a:schemeClr val="dk1"/>
              </a:solidFill>
              <a:latin typeface="Calibri"/>
              <a:ea typeface="Calibri"/>
              <a:cs typeface="Calibri"/>
              <a:sym typeface="Calibri"/>
            </a:endParaRPr>
          </a:p>
        </p:txBody>
      </p:sp>
      <p:sp>
        <p:nvSpPr>
          <p:cNvPr id="412" name="Google Shape;412;p36"/>
          <p:cNvSpPr/>
          <p:nvPr/>
        </p:nvSpPr>
        <p:spPr>
          <a:xfrm>
            <a:off x="630953" y="4217670"/>
            <a:ext cx="7882109" cy="411480"/>
          </a:xfrm>
          <a:prstGeom prst="rect">
            <a:avLst/>
          </a:prstGeom>
          <a:noFill/>
          <a:ln>
            <a:noFill/>
          </a:ln>
        </p:spPr>
        <p:txBody>
          <a:bodyPr anchorCtr="0" anchor="ctr" bIns="34275" lIns="68575" spcFirstLastPara="1" rIns="68575" wrap="square" tIns="34275">
            <a:noAutofit/>
          </a:bodyPr>
          <a:lstStyle/>
          <a:p>
            <a:pPr indent="0" lvl="0" marL="0" marR="0" rtl="0" algn="ctr">
              <a:lnSpc>
                <a:spcPct val="133333"/>
              </a:lnSpc>
              <a:spcBef>
                <a:spcPts val="0"/>
              </a:spcBef>
              <a:spcAft>
                <a:spcPts val="0"/>
              </a:spcAft>
              <a:buClr>
                <a:srgbClr val="6B7382"/>
              </a:buClr>
              <a:buSzPts val="1100"/>
              <a:buFont typeface="Arial"/>
              <a:buNone/>
            </a:pPr>
            <a:r>
              <a:rPr b="0" i="1" lang="en" sz="1100" u="none" cap="none" strike="noStrike">
                <a:solidFill>
                  <a:srgbClr val="6B7382"/>
                </a:solidFill>
                <a:latin typeface="Arial"/>
                <a:ea typeface="Arial"/>
                <a:cs typeface="Arial"/>
                <a:sym typeface="Arial"/>
              </a:rPr>
              <a:t>You are starting college at the single best time in history to build in India.</a:t>
            </a:r>
            <a:endParaRPr b="0" i="0" sz="1100" u="none" cap="none" strike="noStrike">
              <a:solidFill>
                <a:schemeClr val="dk1"/>
              </a:solidFill>
              <a:latin typeface="Calibri"/>
              <a:ea typeface="Calibri"/>
              <a:cs typeface="Calibri"/>
              <a:sym typeface="Calibri"/>
            </a:endParaRPr>
          </a:p>
        </p:txBody>
      </p:sp>
      <p:sp>
        <p:nvSpPr>
          <p:cNvPr id="413" name="Google Shape;413;p36"/>
          <p:cNvSpPr/>
          <p:nvPr/>
        </p:nvSpPr>
        <p:spPr>
          <a:xfrm>
            <a:off x="630953" y="4800600"/>
            <a:ext cx="411491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FROM CAMPUS TO STARTUP</a:t>
            </a:r>
            <a:endParaRPr b="0" i="0" sz="700" u="none" cap="none" strike="noStrike">
              <a:solidFill>
                <a:schemeClr val="dk1"/>
              </a:solidFill>
              <a:latin typeface="Calibri"/>
              <a:ea typeface="Calibri"/>
              <a:cs typeface="Calibri"/>
              <a:sym typeface="Calibri"/>
            </a:endParaRPr>
          </a:p>
        </p:txBody>
      </p:sp>
      <p:sp>
        <p:nvSpPr>
          <p:cNvPr id="414" name="Google Shape;414;p36"/>
          <p:cNvSpPr/>
          <p:nvPr/>
        </p:nvSpPr>
        <p:spPr>
          <a:xfrm>
            <a:off x="7964407" y="4800600"/>
            <a:ext cx="548655"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14</a:t>
            </a:r>
            <a:endParaRPr b="0" i="0" sz="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500"/>
                                        <p:tgtEl>
                                          <p:spTgt spid="39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500"/>
                                        <p:tgtEl>
                                          <p:spTgt spid="39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500"/>
                                        <p:tgtEl>
                                          <p:spTgt spid="39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500"/>
                                        <p:tgtEl>
                                          <p:spTgt spid="39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500"/>
                                        <p:tgtEl>
                                          <p:spTgt spid="400"/>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500"/>
                                        <p:tgtEl>
                                          <p:spTgt spid="401"/>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500"/>
                                        <p:tgtEl>
                                          <p:spTgt spid="402"/>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500"/>
                                        <p:tgtEl>
                                          <p:spTgt spid="404"/>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500"/>
                                        <p:tgtEl>
                                          <p:spTgt spid="405"/>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500"/>
                                        <p:tgtEl>
                                          <p:spTgt spid="406"/>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500"/>
                                        <p:tgtEl>
                                          <p:spTgt spid="407"/>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500"/>
                                        <p:tgtEl>
                                          <p:spTgt spid="409"/>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500"/>
                                        <p:tgtEl>
                                          <p:spTgt spid="410"/>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500"/>
                                        <p:tgtEl>
                                          <p:spTgt spid="411"/>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500"/>
                                        <p:tgtEl>
                                          <p:spTgt spid="412"/>
                                        </p:tgtEl>
                                      </p:cBhvr>
                                    </p:animEffect>
                                  </p:childTnLst>
                                </p:cTn>
                              </p:par>
                            </p:childTnLst>
                          </p:cTn>
                        </p:par>
                        <p:par>
                          <p:cTn fill="hold">
                            <p:stCondLst>
                              <p:cond delay="7500"/>
                            </p:stCondLst>
                            <p:childTnLst>
                              <p:par>
                                <p:cTn fill="hold" nodeType="after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500"/>
                                        <p:tgtEl>
                                          <p:spTgt spid="413"/>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500"/>
                                        <p:tgtEl>
                                          <p:spTgt spid="4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B10"/>
        </a:solidFill>
      </p:bgPr>
    </p:bg>
    <p:spTree>
      <p:nvGrpSpPr>
        <p:cNvPr id="419" name="Shape 419"/>
        <p:cNvGrpSpPr/>
        <p:nvPr/>
      </p:nvGrpSpPr>
      <p:grpSpPr>
        <a:xfrm>
          <a:off x="0" y="0"/>
          <a:ext cx="0" cy="0"/>
          <a:chOff x="0" y="0"/>
          <a:chExt cx="0" cy="0"/>
        </a:xfrm>
      </p:grpSpPr>
      <p:sp>
        <p:nvSpPr>
          <p:cNvPr id="420" name="Google Shape;420;p37"/>
          <p:cNvSpPr/>
          <p:nvPr/>
        </p:nvSpPr>
        <p:spPr>
          <a:xfrm>
            <a:off x="-1783128" y="2263139"/>
            <a:ext cx="4800728" cy="480060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1" name="Google Shape;421;p37"/>
          <p:cNvSpPr/>
          <p:nvPr/>
        </p:nvSpPr>
        <p:spPr>
          <a:xfrm>
            <a:off x="-1111026" y="2935224"/>
            <a:ext cx="3456524" cy="3456432"/>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2" name="Google Shape;422;p37"/>
          <p:cNvSpPr/>
          <p:nvPr/>
        </p:nvSpPr>
        <p:spPr>
          <a:xfrm>
            <a:off x="630953" y="788670"/>
            <a:ext cx="2057455" cy="16459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430"/>
              </a:buClr>
              <a:buSzPts val="11300"/>
              <a:buFont typeface="Arial"/>
              <a:buNone/>
            </a:pPr>
            <a:r>
              <a:rPr b="1" i="0" lang="en" sz="11300" u="none" cap="none" strike="noStrike">
                <a:solidFill>
                  <a:srgbClr val="1F2430"/>
                </a:solidFill>
                <a:latin typeface="Arial"/>
                <a:ea typeface="Arial"/>
                <a:cs typeface="Arial"/>
                <a:sym typeface="Arial"/>
              </a:rPr>
              <a:t>07</a:t>
            </a:r>
            <a:endParaRPr b="0" i="0" sz="11300" u="none" cap="none" strike="noStrike">
              <a:solidFill>
                <a:schemeClr val="dk1"/>
              </a:solidFill>
              <a:latin typeface="Calibri"/>
              <a:ea typeface="Calibri"/>
              <a:cs typeface="Calibri"/>
              <a:sym typeface="Calibri"/>
            </a:endParaRPr>
          </a:p>
        </p:txBody>
      </p:sp>
      <p:sp>
        <p:nvSpPr>
          <p:cNvPr id="423" name="Google Shape;423;p37"/>
          <p:cNvSpPr/>
          <p:nvPr/>
        </p:nvSpPr>
        <p:spPr>
          <a:xfrm>
            <a:off x="658386" y="2482595"/>
            <a:ext cx="6858183"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PROOF, NOT PROMISE</a:t>
            </a:r>
            <a:endParaRPr b="0" i="0" sz="1000" u="none" cap="none" strike="noStrike">
              <a:solidFill>
                <a:schemeClr val="dk1"/>
              </a:solidFill>
              <a:latin typeface="Calibri"/>
              <a:ea typeface="Calibri"/>
              <a:cs typeface="Calibri"/>
              <a:sym typeface="Calibri"/>
            </a:endParaRPr>
          </a:p>
        </p:txBody>
      </p:sp>
      <p:sp>
        <p:nvSpPr>
          <p:cNvPr id="424" name="Google Shape;424;p37"/>
          <p:cNvSpPr/>
          <p:nvPr/>
        </p:nvSpPr>
        <p:spPr>
          <a:xfrm>
            <a:off x="630953" y="2729484"/>
            <a:ext cx="7269674" cy="1068324"/>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4F6FA"/>
              </a:buClr>
              <a:buSzPts val="3500"/>
              <a:buFont typeface="Arial"/>
              <a:buNone/>
            </a:pPr>
            <a:r>
              <a:rPr b="1" i="0" lang="en" sz="3500" u="none" cap="none" strike="noStrike">
                <a:solidFill>
                  <a:srgbClr val="F4F6FA"/>
                </a:solidFill>
                <a:latin typeface="Arial"/>
                <a:ea typeface="Arial"/>
                <a:cs typeface="Arial"/>
                <a:sym typeface="Arial"/>
              </a:rPr>
              <a:t>India is</a:t>
            </a:r>
            <a:endParaRPr b="0" i="0" sz="3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4F6FA"/>
              </a:buClr>
              <a:buSzPts val="3500"/>
              <a:buFont typeface="Arial"/>
              <a:buNone/>
            </a:pPr>
            <a:r>
              <a:rPr b="1" i="0" lang="en" sz="3500" u="none" cap="none" strike="noStrike">
                <a:solidFill>
                  <a:srgbClr val="F4F6FA"/>
                </a:solidFill>
                <a:latin typeface="Arial"/>
                <a:ea typeface="Arial"/>
                <a:cs typeface="Arial"/>
                <a:sym typeface="Arial"/>
              </a:rPr>
              <a:t>already shipping</a:t>
            </a:r>
            <a:endParaRPr b="0" i="0" sz="3500" u="none" cap="none" strike="noStrike">
              <a:solidFill>
                <a:schemeClr val="dk1"/>
              </a:solidFill>
              <a:latin typeface="Calibri"/>
              <a:ea typeface="Calibri"/>
              <a:cs typeface="Calibri"/>
              <a:sym typeface="Calibri"/>
            </a:endParaRPr>
          </a:p>
        </p:txBody>
      </p:sp>
      <p:sp>
        <p:nvSpPr>
          <p:cNvPr id="425" name="Google Shape;425;p37"/>
          <p:cNvSpPr/>
          <p:nvPr/>
        </p:nvSpPr>
        <p:spPr>
          <a:xfrm>
            <a:off x="630953" y="3880104"/>
            <a:ext cx="6721019"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44444"/>
              </a:lnSpc>
              <a:spcBef>
                <a:spcPts val="0"/>
              </a:spcBef>
              <a:spcAft>
                <a:spcPts val="0"/>
              </a:spcAft>
              <a:buClr>
                <a:srgbClr val="AEB6C4"/>
              </a:buClr>
              <a:buSzPts val="1400"/>
              <a:buFont typeface="Arial"/>
              <a:buNone/>
            </a:pPr>
            <a:r>
              <a:rPr b="0" i="0" lang="en" sz="1400" u="none" cap="none" strike="noStrike">
                <a:solidFill>
                  <a:srgbClr val="AEB6C4"/>
                </a:solidFill>
                <a:latin typeface="Arial"/>
                <a:ea typeface="Arial"/>
                <a:cs typeface="Arial"/>
                <a:sym typeface="Arial"/>
              </a:rPr>
              <a:t>Not a forecast!</a:t>
            </a:r>
            <a:endParaRPr b="0" i="0" sz="14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500"/>
                                        <p:tgtEl>
                                          <p:spTgt spid="42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500"/>
                                        <p:tgtEl>
                                          <p:spTgt spid="42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500"/>
                                        <p:tgtEl>
                                          <p:spTgt spid="424"/>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25"/>
                                        </p:tgtEl>
                                        <p:attrNameLst>
                                          <p:attrName>style.visibility</p:attrName>
                                        </p:attrNameLst>
                                      </p:cBhvr>
                                      <p:to>
                                        <p:strVal val="visible"/>
                                      </p:to>
                                    </p:set>
                                    <p:animEffect filter="fade" transition="in">
                                      <p:cBhvr>
                                        <p:cTn dur="500"/>
                                        <p:tgtEl>
                                          <p:spTgt spid="4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117"/>
        </a:solidFill>
      </p:bgPr>
    </p:bg>
    <p:spTree>
      <p:nvGrpSpPr>
        <p:cNvPr id="430" name="Shape 430"/>
        <p:cNvGrpSpPr/>
        <p:nvPr/>
      </p:nvGrpSpPr>
      <p:grpSpPr>
        <a:xfrm>
          <a:off x="0" y="0"/>
          <a:ext cx="0" cy="0"/>
          <a:chOff x="0" y="0"/>
          <a:chExt cx="0" cy="0"/>
        </a:xfrm>
      </p:grpSpPr>
      <p:sp>
        <p:nvSpPr>
          <p:cNvPr id="431" name="Google Shape;431;p38"/>
          <p:cNvSpPr/>
          <p:nvPr/>
        </p:nvSpPr>
        <p:spPr>
          <a:xfrm>
            <a:off x="630953" y="425196"/>
            <a:ext cx="7882109" cy="23317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RECEIPTS · 2026</a:t>
            </a:r>
            <a:endParaRPr b="0" i="0" sz="1000" u="none" cap="none" strike="noStrike">
              <a:solidFill>
                <a:schemeClr val="dk1"/>
              </a:solidFill>
              <a:latin typeface="Calibri"/>
              <a:ea typeface="Calibri"/>
              <a:cs typeface="Calibri"/>
              <a:sym typeface="Calibri"/>
            </a:endParaRPr>
          </a:p>
        </p:txBody>
      </p:sp>
      <p:sp>
        <p:nvSpPr>
          <p:cNvPr id="432" name="Google Shape;432;p38"/>
          <p:cNvSpPr/>
          <p:nvPr/>
        </p:nvSpPr>
        <p:spPr>
          <a:xfrm>
            <a:off x="630953" y="685800"/>
            <a:ext cx="7882109" cy="5829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2300"/>
              <a:buFont typeface="Arial"/>
              <a:buNone/>
            </a:pPr>
            <a:r>
              <a:rPr b="1" i="0" lang="en" sz="2300" u="none" cap="none" strike="noStrike">
                <a:solidFill>
                  <a:srgbClr val="F4F6FA"/>
                </a:solidFill>
                <a:latin typeface="Arial"/>
                <a:ea typeface="Arial"/>
                <a:cs typeface="Arial"/>
                <a:sym typeface="Arial"/>
              </a:rPr>
              <a:t>Five breakthroughs, five sectors</a:t>
            </a:r>
            <a:endParaRPr b="0" i="0" sz="2300" u="none" cap="none" strike="noStrike">
              <a:solidFill>
                <a:schemeClr val="dk1"/>
              </a:solidFill>
              <a:latin typeface="Calibri"/>
              <a:ea typeface="Calibri"/>
              <a:cs typeface="Calibri"/>
              <a:sym typeface="Calibri"/>
            </a:endParaRPr>
          </a:p>
        </p:txBody>
      </p:sp>
      <p:sp>
        <p:nvSpPr>
          <p:cNvPr id="433" name="Google Shape;433;p38"/>
          <p:cNvSpPr/>
          <p:nvPr/>
        </p:nvSpPr>
        <p:spPr>
          <a:xfrm>
            <a:off x="630950" y="1316724"/>
            <a:ext cx="2421600" cy="1349400"/>
          </a:xfrm>
          <a:prstGeom prst="roundRect">
            <a:avLst>
              <a:gd fmla="val 5435"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4" name="Google Shape;434;p38"/>
          <p:cNvSpPr/>
          <p:nvPr/>
        </p:nvSpPr>
        <p:spPr>
          <a:xfrm>
            <a:off x="836698" y="1522476"/>
            <a:ext cx="397775" cy="397764"/>
          </a:xfrm>
          <a:prstGeom prst="ellipse">
            <a:avLst/>
          </a:prstGeom>
          <a:solidFill>
            <a:srgbClr val="3A2A12"/>
          </a:solidFill>
          <a:ln cap="flat" cmpd="sng" w="12700">
            <a:solidFill>
              <a:srgbClr val="B4530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5" name="Google Shape;435;p38"/>
          <p:cNvSpPr/>
          <p:nvPr/>
        </p:nvSpPr>
        <p:spPr>
          <a:xfrm>
            <a:off x="836698" y="1522476"/>
            <a:ext cx="397775" cy="39776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NU</a:t>
            </a:r>
            <a:endParaRPr b="0" i="0" sz="1000" u="none" cap="none" strike="noStrike">
              <a:solidFill>
                <a:schemeClr val="dk1"/>
              </a:solidFill>
              <a:latin typeface="Calibri"/>
              <a:ea typeface="Calibri"/>
              <a:cs typeface="Calibri"/>
              <a:sym typeface="Calibri"/>
            </a:endParaRPr>
          </a:p>
        </p:txBody>
      </p:sp>
      <p:sp>
        <p:nvSpPr>
          <p:cNvPr id="436" name="Google Shape;436;p38"/>
          <p:cNvSpPr/>
          <p:nvPr/>
        </p:nvSpPr>
        <p:spPr>
          <a:xfrm>
            <a:off x="1357920" y="1508760"/>
            <a:ext cx="1571209" cy="42519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1200"/>
              <a:buFont typeface="Arial"/>
              <a:buNone/>
            </a:pPr>
            <a:r>
              <a:rPr b="1" i="0" lang="en" sz="1200" u="none" cap="none" strike="noStrike">
                <a:solidFill>
                  <a:srgbClr val="F4F6FA"/>
                </a:solidFill>
                <a:latin typeface="Arial"/>
                <a:ea typeface="Arial"/>
                <a:cs typeface="Arial"/>
                <a:sym typeface="Arial"/>
              </a:rPr>
              <a:t>Nuclear:  PFBR</a:t>
            </a:r>
            <a:endParaRPr b="0" i="0" sz="1200" u="none" cap="none" strike="noStrike">
              <a:solidFill>
                <a:schemeClr val="dk1"/>
              </a:solidFill>
              <a:latin typeface="Calibri"/>
              <a:ea typeface="Calibri"/>
              <a:cs typeface="Calibri"/>
              <a:sym typeface="Calibri"/>
            </a:endParaRPr>
          </a:p>
        </p:txBody>
      </p:sp>
      <p:sp>
        <p:nvSpPr>
          <p:cNvPr id="437" name="Google Shape;437;p38"/>
          <p:cNvSpPr/>
          <p:nvPr/>
        </p:nvSpPr>
        <p:spPr>
          <a:xfrm>
            <a:off x="864131" y="1988820"/>
            <a:ext cx="1955268" cy="493776"/>
          </a:xfrm>
          <a:prstGeom prst="rect">
            <a:avLst/>
          </a:prstGeom>
          <a:noFill/>
          <a:ln>
            <a:noFill/>
          </a:ln>
        </p:spPr>
        <p:txBody>
          <a:bodyPr anchorCtr="0" anchor="t" bIns="34275" lIns="68575" spcFirstLastPara="1" rIns="68575" wrap="square" tIns="34275">
            <a:noAutofit/>
          </a:bodyPr>
          <a:lstStyle/>
          <a:p>
            <a:pPr indent="0" lvl="0" marL="0" marR="0" rtl="0" algn="l">
              <a:lnSpc>
                <a:spcPct val="138461"/>
              </a:lnSpc>
              <a:spcBef>
                <a:spcPts val="0"/>
              </a:spcBef>
              <a:spcAft>
                <a:spcPts val="0"/>
              </a:spcAft>
              <a:buClr>
                <a:srgbClr val="AEB6C4"/>
              </a:buClr>
              <a:buSzPts val="1000"/>
              <a:buFont typeface="Arial"/>
              <a:buNone/>
            </a:pPr>
            <a:r>
              <a:rPr b="0" i="0" lang="en" sz="1000" u="none" cap="none" strike="noStrike">
                <a:solidFill>
                  <a:srgbClr val="AEB6C4"/>
                </a:solidFill>
                <a:latin typeface="Arial"/>
                <a:ea typeface="Arial"/>
                <a:cs typeface="Arial"/>
                <a:sym typeface="Arial"/>
              </a:rPr>
              <a:t>Indigenously built fast breeder reactor at Kalpakkam hit first criticality.  </a:t>
            </a:r>
            <a:r>
              <a:rPr b="1" i="0" lang="en" sz="1000" u="none" cap="none" strike="noStrike">
                <a:solidFill>
                  <a:srgbClr val="AEB6C4"/>
                </a:solidFill>
                <a:latin typeface="Arial"/>
                <a:ea typeface="Arial"/>
                <a:cs typeface="Arial"/>
                <a:sym typeface="Arial"/>
              </a:rPr>
              <a:t>6 Apr 2026</a:t>
            </a:r>
            <a:endParaRPr b="1" i="0" sz="1000" u="none" cap="none" strike="noStrike">
              <a:solidFill>
                <a:schemeClr val="dk1"/>
              </a:solidFill>
              <a:latin typeface="Calibri"/>
              <a:ea typeface="Calibri"/>
              <a:cs typeface="Calibri"/>
              <a:sym typeface="Calibri"/>
            </a:endParaRPr>
          </a:p>
        </p:txBody>
      </p:sp>
      <p:sp>
        <p:nvSpPr>
          <p:cNvPr id="438" name="Google Shape;438;p38"/>
          <p:cNvSpPr/>
          <p:nvPr/>
        </p:nvSpPr>
        <p:spPr>
          <a:xfrm>
            <a:off x="3361200" y="1316724"/>
            <a:ext cx="2421600" cy="1349400"/>
          </a:xfrm>
          <a:prstGeom prst="roundRect">
            <a:avLst>
              <a:gd fmla="val 5435"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9" name="Google Shape;439;p38"/>
          <p:cNvSpPr/>
          <p:nvPr/>
        </p:nvSpPr>
        <p:spPr>
          <a:xfrm>
            <a:off x="3566941" y="1522476"/>
            <a:ext cx="397775" cy="397764"/>
          </a:xfrm>
          <a:prstGeom prst="ellipse">
            <a:avLst/>
          </a:prstGeom>
          <a:solidFill>
            <a:srgbClr val="3A2A12"/>
          </a:solidFill>
          <a:ln cap="flat" cmpd="sng" w="12700">
            <a:solidFill>
              <a:srgbClr val="B4530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0" name="Google Shape;440;p38"/>
          <p:cNvSpPr/>
          <p:nvPr/>
        </p:nvSpPr>
        <p:spPr>
          <a:xfrm>
            <a:off x="3566941" y="1522476"/>
            <a:ext cx="397775" cy="39776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SP</a:t>
            </a:r>
            <a:endParaRPr b="0" i="0" sz="1000" u="none" cap="none" strike="noStrike">
              <a:solidFill>
                <a:schemeClr val="dk1"/>
              </a:solidFill>
              <a:latin typeface="Calibri"/>
              <a:ea typeface="Calibri"/>
              <a:cs typeface="Calibri"/>
              <a:sym typeface="Calibri"/>
            </a:endParaRPr>
          </a:p>
        </p:txBody>
      </p:sp>
      <p:sp>
        <p:nvSpPr>
          <p:cNvPr id="441" name="Google Shape;441;p38"/>
          <p:cNvSpPr/>
          <p:nvPr/>
        </p:nvSpPr>
        <p:spPr>
          <a:xfrm>
            <a:off x="4088162" y="1508760"/>
            <a:ext cx="1571209" cy="42519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1200"/>
              <a:buFont typeface="Arial"/>
              <a:buNone/>
            </a:pPr>
            <a:r>
              <a:rPr b="1" i="0" lang="en" sz="1200" u="none" cap="none" strike="noStrike">
                <a:solidFill>
                  <a:srgbClr val="F4F6FA"/>
                </a:solidFill>
                <a:latin typeface="Arial"/>
                <a:ea typeface="Arial"/>
                <a:cs typeface="Arial"/>
                <a:sym typeface="Arial"/>
              </a:rPr>
              <a:t>Space: Vikram-1</a:t>
            </a:r>
            <a:endParaRPr b="0" i="0" sz="1200" u="none" cap="none" strike="noStrike">
              <a:solidFill>
                <a:schemeClr val="dk1"/>
              </a:solidFill>
              <a:latin typeface="Calibri"/>
              <a:ea typeface="Calibri"/>
              <a:cs typeface="Calibri"/>
              <a:sym typeface="Calibri"/>
            </a:endParaRPr>
          </a:p>
        </p:txBody>
      </p:sp>
      <p:sp>
        <p:nvSpPr>
          <p:cNvPr id="442" name="Google Shape;442;p38"/>
          <p:cNvSpPr/>
          <p:nvPr/>
        </p:nvSpPr>
        <p:spPr>
          <a:xfrm>
            <a:off x="3409376" y="1988819"/>
            <a:ext cx="2326883" cy="493776"/>
          </a:xfrm>
          <a:prstGeom prst="rect">
            <a:avLst/>
          </a:prstGeom>
          <a:noFill/>
          <a:ln>
            <a:noFill/>
          </a:ln>
        </p:spPr>
        <p:txBody>
          <a:bodyPr anchorCtr="0" anchor="t" bIns="34275" lIns="68575" spcFirstLastPara="1" rIns="68575" wrap="square" tIns="34275">
            <a:noAutofit/>
          </a:bodyPr>
          <a:lstStyle/>
          <a:p>
            <a:pPr indent="0" lvl="0" marL="0" marR="0" rtl="0" algn="l">
              <a:lnSpc>
                <a:spcPct val="138461"/>
              </a:lnSpc>
              <a:spcBef>
                <a:spcPts val="0"/>
              </a:spcBef>
              <a:spcAft>
                <a:spcPts val="0"/>
              </a:spcAft>
              <a:buClr>
                <a:srgbClr val="AEB6C4"/>
              </a:buClr>
              <a:buSzPts val="1000"/>
              <a:buFont typeface="Arial"/>
              <a:buNone/>
            </a:pPr>
            <a:r>
              <a:rPr b="0" i="0" lang="en" sz="1000" u="none" cap="none" strike="noStrike">
                <a:solidFill>
                  <a:srgbClr val="AEB6C4"/>
                </a:solidFill>
                <a:latin typeface="Arial"/>
                <a:ea typeface="Arial"/>
                <a:cs typeface="Arial"/>
                <a:sym typeface="Arial"/>
              </a:rPr>
              <a:t>Skyroot's launches India's first privately built orbital rocket.  </a:t>
            </a:r>
            <a:r>
              <a:rPr b="1" i="0" lang="en" sz="1000" u="none" cap="none" strike="noStrike">
                <a:solidFill>
                  <a:srgbClr val="AEB6C4"/>
                </a:solidFill>
                <a:latin typeface="Arial"/>
                <a:ea typeface="Arial"/>
                <a:cs typeface="Arial"/>
                <a:sym typeface="Arial"/>
              </a:rPr>
              <a:t>18 Jul 2026</a:t>
            </a:r>
            <a:endParaRPr b="1" i="0" sz="1000" u="none" cap="none" strike="noStrike">
              <a:solidFill>
                <a:schemeClr val="dk1"/>
              </a:solidFill>
              <a:latin typeface="Calibri"/>
              <a:ea typeface="Calibri"/>
              <a:cs typeface="Calibri"/>
              <a:sym typeface="Calibri"/>
            </a:endParaRPr>
          </a:p>
        </p:txBody>
      </p:sp>
      <p:sp>
        <p:nvSpPr>
          <p:cNvPr id="443" name="Google Shape;443;p38"/>
          <p:cNvSpPr/>
          <p:nvPr/>
        </p:nvSpPr>
        <p:spPr>
          <a:xfrm>
            <a:off x="6091450" y="1316724"/>
            <a:ext cx="2421600" cy="1349400"/>
          </a:xfrm>
          <a:prstGeom prst="roundRect">
            <a:avLst>
              <a:gd fmla="val 5435"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4" name="Google Shape;444;p38"/>
          <p:cNvSpPr/>
          <p:nvPr/>
        </p:nvSpPr>
        <p:spPr>
          <a:xfrm>
            <a:off x="6297184" y="1522476"/>
            <a:ext cx="397775" cy="397764"/>
          </a:xfrm>
          <a:prstGeom prst="ellipse">
            <a:avLst/>
          </a:prstGeom>
          <a:solidFill>
            <a:srgbClr val="3A2A12"/>
          </a:solidFill>
          <a:ln cap="flat" cmpd="sng" w="12700">
            <a:solidFill>
              <a:srgbClr val="B4530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5" name="Google Shape;445;p38"/>
          <p:cNvSpPr/>
          <p:nvPr/>
        </p:nvSpPr>
        <p:spPr>
          <a:xfrm>
            <a:off x="6297184" y="1522476"/>
            <a:ext cx="397775" cy="39776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PW</a:t>
            </a:r>
            <a:endParaRPr b="0" i="0" sz="1000" u="none" cap="none" strike="noStrike">
              <a:solidFill>
                <a:schemeClr val="dk1"/>
              </a:solidFill>
              <a:latin typeface="Calibri"/>
              <a:ea typeface="Calibri"/>
              <a:cs typeface="Calibri"/>
              <a:sym typeface="Calibri"/>
            </a:endParaRPr>
          </a:p>
        </p:txBody>
      </p:sp>
      <p:sp>
        <p:nvSpPr>
          <p:cNvPr id="446" name="Google Shape;446;p38"/>
          <p:cNvSpPr/>
          <p:nvPr/>
        </p:nvSpPr>
        <p:spPr>
          <a:xfrm>
            <a:off x="6818406" y="1508760"/>
            <a:ext cx="1571209" cy="42519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1200"/>
              <a:buFont typeface="Arial"/>
              <a:buNone/>
            </a:pPr>
            <a:r>
              <a:rPr b="1" i="0" lang="en" sz="1200" u="none" cap="none" strike="noStrike">
                <a:solidFill>
                  <a:srgbClr val="F4F6FA"/>
                </a:solidFill>
                <a:latin typeface="Arial"/>
                <a:ea typeface="Arial"/>
                <a:cs typeface="Arial"/>
                <a:sym typeface="Arial"/>
              </a:rPr>
              <a:t>Power: 1200 kV</a:t>
            </a:r>
            <a:endParaRPr b="0" i="0" sz="1200" u="none" cap="none" strike="noStrike">
              <a:solidFill>
                <a:schemeClr val="dk1"/>
              </a:solidFill>
              <a:latin typeface="Calibri"/>
              <a:ea typeface="Calibri"/>
              <a:cs typeface="Calibri"/>
              <a:sym typeface="Calibri"/>
            </a:endParaRPr>
          </a:p>
        </p:txBody>
      </p:sp>
      <p:sp>
        <p:nvSpPr>
          <p:cNvPr id="447" name="Google Shape;447;p38"/>
          <p:cNvSpPr/>
          <p:nvPr/>
        </p:nvSpPr>
        <p:spPr>
          <a:xfrm>
            <a:off x="6324616" y="1988820"/>
            <a:ext cx="1955268" cy="493776"/>
          </a:xfrm>
          <a:prstGeom prst="rect">
            <a:avLst/>
          </a:prstGeom>
          <a:noFill/>
          <a:ln>
            <a:noFill/>
          </a:ln>
        </p:spPr>
        <p:txBody>
          <a:bodyPr anchorCtr="0" anchor="t" bIns="34275" lIns="68575" spcFirstLastPara="1" rIns="68575" wrap="square" tIns="34275">
            <a:noAutofit/>
          </a:bodyPr>
          <a:lstStyle/>
          <a:p>
            <a:pPr indent="0" lvl="0" marL="0" marR="0" rtl="0" algn="l">
              <a:lnSpc>
                <a:spcPct val="138461"/>
              </a:lnSpc>
              <a:spcBef>
                <a:spcPts val="0"/>
              </a:spcBef>
              <a:spcAft>
                <a:spcPts val="0"/>
              </a:spcAft>
              <a:buClr>
                <a:srgbClr val="AEB6C4"/>
              </a:buClr>
              <a:buSzPts val="1000"/>
              <a:buFont typeface="Arial"/>
              <a:buNone/>
            </a:pPr>
            <a:r>
              <a:rPr b="0" i="0" lang="en" sz="1000" u="none" cap="none" strike="noStrike">
                <a:solidFill>
                  <a:srgbClr val="AEB6C4"/>
                </a:solidFill>
                <a:latin typeface="Arial"/>
                <a:ea typeface="Arial"/>
                <a:cs typeface="Arial"/>
                <a:sym typeface="Arial"/>
              </a:rPr>
              <a:t>BHEL's first fully indigenous 1200 kV UHVAC transformer, type-tested.  </a:t>
            </a:r>
            <a:r>
              <a:rPr b="1" i="0" lang="en" sz="1000" u="none" cap="none" strike="noStrike">
                <a:solidFill>
                  <a:srgbClr val="AEB6C4"/>
                </a:solidFill>
                <a:latin typeface="Arial"/>
                <a:ea typeface="Arial"/>
                <a:cs typeface="Arial"/>
                <a:sym typeface="Arial"/>
              </a:rPr>
              <a:t>17 Jul 2026</a:t>
            </a:r>
            <a:endParaRPr b="0" i="0" sz="1000" u="none" cap="none" strike="noStrike">
              <a:solidFill>
                <a:schemeClr val="dk1"/>
              </a:solidFill>
              <a:latin typeface="Calibri"/>
              <a:ea typeface="Calibri"/>
              <a:cs typeface="Calibri"/>
              <a:sym typeface="Calibri"/>
            </a:endParaRPr>
          </a:p>
        </p:txBody>
      </p:sp>
      <p:sp>
        <p:nvSpPr>
          <p:cNvPr id="448" name="Google Shape;448;p38"/>
          <p:cNvSpPr/>
          <p:nvPr/>
        </p:nvSpPr>
        <p:spPr>
          <a:xfrm>
            <a:off x="630950" y="2839199"/>
            <a:ext cx="2454000" cy="1349400"/>
          </a:xfrm>
          <a:prstGeom prst="roundRect">
            <a:avLst>
              <a:gd fmla="val 5435"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9" name="Google Shape;449;p38"/>
          <p:cNvSpPr/>
          <p:nvPr/>
        </p:nvSpPr>
        <p:spPr>
          <a:xfrm>
            <a:off x="836698" y="3044952"/>
            <a:ext cx="397775" cy="397764"/>
          </a:xfrm>
          <a:prstGeom prst="ellipse">
            <a:avLst/>
          </a:prstGeom>
          <a:solidFill>
            <a:srgbClr val="3A2A12"/>
          </a:solidFill>
          <a:ln cap="flat" cmpd="sng" w="12700">
            <a:solidFill>
              <a:srgbClr val="B4530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0" name="Google Shape;450;p38"/>
          <p:cNvSpPr/>
          <p:nvPr/>
        </p:nvSpPr>
        <p:spPr>
          <a:xfrm>
            <a:off x="836698" y="3044952"/>
            <a:ext cx="397775" cy="39776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IN</a:t>
            </a:r>
            <a:endParaRPr b="0" i="0" sz="1000" u="none" cap="none" strike="noStrike">
              <a:solidFill>
                <a:schemeClr val="dk1"/>
              </a:solidFill>
              <a:latin typeface="Calibri"/>
              <a:ea typeface="Calibri"/>
              <a:cs typeface="Calibri"/>
              <a:sym typeface="Calibri"/>
            </a:endParaRPr>
          </a:p>
        </p:txBody>
      </p:sp>
      <p:sp>
        <p:nvSpPr>
          <p:cNvPr id="451" name="Google Shape;451;p38"/>
          <p:cNvSpPr/>
          <p:nvPr/>
        </p:nvSpPr>
        <p:spPr>
          <a:xfrm>
            <a:off x="1357920" y="3031236"/>
            <a:ext cx="1571209" cy="42519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1200"/>
              <a:buFont typeface="Arial"/>
              <a:buNone/>
            </a:pPr>
            <a:r>
              <a:rPr b="1" i="0" lang="en" sz="1200" u="none" cap="none" strike="noStrike">
                <a:solidFill>
                  <a:srgbClr val="F4F6FA"/>
                </a:solidFill>
                <a:latin typeface="Arial"/>
                <a:ea typeface="Arial"/>
                <a:cs typeface="Arial"/>
                <a:sym typeface="Arial"/>
              </a:rPr>
              <a:t>Infra: Chenab Bridge</a:t>
            </a:r>
            <a:endParaRPr b="0" i="0" sz="1200" u="none" cap="none" strike="noStrike">
              <a:solidFill>
                <a:schemeClr val="dk1"/>
              </a:solidFill>
              <a:latin typeface="Calibri"/>
              <a:ea typeface="Calibri"/>
              <a:cs typeface="Calibri"/>
              <a:sym typeface="Calibri"/>
            </a:endParaRPr>
          </a:p>
        </p:txBody>
      </p:sp>
      <p:sp>
        <p:nvSpPr>
          <p:cNvPr id="452" name="Google Shape;452;p38"/>
          <p:cNvSpPr/>
          <p:nvPr/>
        </p:nvSpPr>
        <p:spPr>
          <a:xfrm>
            <a:off x="864131" y="3511296"/>
            <a:ext cx="1955268" cy="493776"/>
          </a:xfrm>
          <a:prstGeom prst="rect">
            <a:avLst/>
          </a:prstGeom>
          <a:noFill/>
          <a:ln>
            <a:noFill/>
          </a:ln>
        </p:spPr>
        <p:txBody>
          <a:bodyPr anchorCtr="0" anchor="t" bIns="34275" lIns="68575" spcFirstLastPara="1" rIns="68575" wrap="square" tIns="34275">
            <a:noAutofit/>
          </a:bodyPr>
          <a:lstStyle/>
          <a:p>
            <a:pPr indent="0" lvl="0" marL="0" marR="0" rtl="0" algn="l">
              <a:lnSpc>
                <a:spcPct val="138461"/>
              </a:lnSpc>
              <a:spcBef>
                <a:spcPts val="0"/>
              </a:spcBef>
              <a:spcAft>
                <a:spcPts val="0"/>
              </a:spcAft>
              <a:buClr>
                <a:srgbClr val="AEB6C4"/>
              </a:buClr>
              <a:buSzPts val="1000"/>
              <a:buFont typeface="Arial"/>
              <a:buNone/>
            </a:pPr>
            <a:r>
              <a:rPr b="0" i="0" lang="en" sz="1000" u="none" cap="none" strike="noStrike">
                <a:solidFill>
                  <a:srgbClr val="AEB6C4"/>
                </a:solidFill>
                <a:latin typeface="Arial"/>
                <a:ea typeface="Arial"/>
                <a:cs typeface="Arial"/>
                <a:sym typeface="Arial"/>
              </a:rPr>
              <a:t>The world's highest railway arch bridge, linking the Kashmir Valley.  Record holder</a:t>
            </a:r>
            <a:endParaRPr b="0" i="0" sz="1000" u="none" cap="none" strike="noStrike">
              <a:solidFill>
                <a:schemeClr val="dk1"/>
              </a:solidFill>
              <a:latin typeface="Calibri"/>
              <a:ea typeface="Calibri"/>
              <a:cs typeface="Calibri"/>
              <a:sym typeface="Calibri"/>
            </a:endParaRPr>
          </a:p>
        </p:txBody>
      </p:sp>
      <p:sp>
        <p:nvSpPr>
          <p:cNvPr id="453" name="Google Shape;453;p38"/>
          <p:cNvSpPr/>
          <p:nvPr/>
        </p:nvSpPr>
        <p:spPr>
          <a:xfrm>
            <a:off x="3361200" y="2839200"/>
            <a:ext cx="2454000" cy="1317600"/>
          </a:xfrm>
          <a:prstGeom prst="roundRect">
            <a:avLst>
              <a:gd fmla="val 5435"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4" name="Google Shape;454;p38"/>
          <p:cNvSpPr/>
          <p:nvPr/>
        </p:nvSpPr>
        <p:spPr>
          <a:xfrm>
            <a:off x="3566941" y="3044952"/>
            <a:ext cx="397775" cy="397764"/>
          </a:xfrm>
          <a:prstGeom prst="ellipse">
            <a:avLst/>
          </a:prstGeom>
          <a:solidFill>
            <a:srgbClr val="3A2A12"/>
          </a:solidFill>
          <a:ln cap="flat" cmpd="sng" w="12700">
            <a:solidFill>
              <a:srgbClr val="B4530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5" name="Google Shape;455;p38"/>
          <p:cNvSpPr/>
          <p:nvPr/>
        </p:nvSpPr>
        <p:spPr>
          <a:xfrm>
            <a:off x="3566941" y="3044952"/>
            <a:ext cx="397775" cy="39776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FI</a:t>
            </a:r>
            <a:endParaRPr b="0" i="0" sz="1000" u="none" cap="none" strike="noStrike">
              <a:solidFill>
                <a:schemeClr val="dk1"/>
              </a:solidFill>
              <a:latin typeface="Calibri"/>
              <a:ea typeface="Calibri"/>
              <a:cs typeface="Calibri"/>
              <a:sym typeface="Calibri"/>
            </a:endParaRPr>
          </a:p>
        </p:txBody>
      </p:sp>
      <p:sp>
        <p:nvSpPr>
          <p:cNvPr id="456" name="Google Shape;456;p38"/>
          <p:cNvSpPr/>
          <p:nvPr/>
        </p:nvSpPr>
        <p:spPr>
          <a:xfrm>
            <a:off x="4088162" y="3031236"/>
            <a:ext cx="1571209" cy="42519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1200"/>
              <a:buFont typeface="Arial"/>
              <a:buNone/>
            </a:pPr>
            <a:r>
              <a:rPr b="1" i="0" lang="en" sz="1200" u="none" cap="none" strike="noStrike">
                <a:solidFill>
                  <a:srgbClr val="F4F6FA"/>
                </a:solidFill>
                <a:latin typeface="Arial"/>
                <a:ea typeface="Arial"/>
                <a:cs typeface="Arial"/>
                <a:sym typeface="Arial"/>
              </a:rPr>
              <a:t>Fintech: UPI</a:t>
            </a:r>
            <a:endParaRPr b="0" i="0" sz="1200" u="none" cap="none" strike="noStrike">
              <a:solidFill>
                <a:schemeClr val="dk1"/>
              </a:solidFill>
              <a:latin typeface="Calibri"/>
              <a:ea typeface="Calibri"/>
              <a:cs typeface="Calibri"/>
              <a:sym typeface="Calibri"/>
            </a:endParaRPr>
          </a:p>
        </p:txBody>
      </p:sp>
      <p:sp>
        <p:nvSpPr>
          <p:cNvPr id="457" name="Google Shape;457;p38"/>
          <p:cNvSpPr/>
          <p:nvPr/>
        </p:nvSpPr>
        <p:spPr>
          <a:xfrm>
            <a:off x="3594373" y="3511296"/>
            <a:ext cx="1955268" cy="493776"/>
          </a:xfrm>
          <a:prstGeom prst="rect">
            <a:avLst/>
          </a:prstGeom>
          <a:noFill/>
          <a:ln>
            <a:noFill/>
          </a:ln>
        </p:spPr>
        <p:txBody>
          <a:bodyPr anchorCtr="0" anchor="t" bIns="34275" lIns="68575" spcFirstLastPara="1" rIns="68575" wrap="square" tIns="34275">
            <a:noAutofit/>
          </a:bodyPr>
          <a:lstStyle/>
          <a:p>
            <a:pPr indent="0" lvl="0" marL="0" marR="0" rtl="0" algn="l">
              <a:lnSpc>
                <a:spcPct val="138461"/>
              </a:lnSpc>
              <a:spcBef>
                <a:spcPts val="0"/>
              </a:spcBef>
              <a:spcAft>
                <a:spcPts val="0"/>
              </a:spcAft>
              <a:buClr>
                <a:srgbClr val="AEB6C4"/>
              </a:buClr>
              <a:buSzPts val="1000"/>
              <a:buFont typeface="Arial"/>
              <a:buNone/>
            </a:pPr>
            <a:r>
              <a:rPr b="0" i="0" lang="en" sz="1000" u="none" cap="none" strike="noStrike">
                <a:solidFill>
                  <a:srgbClr val="AEB6C4"/>
                </a:solidFill>
                <a:latin typeface="Arial"/>
                <a:ea typeface="Arial"/>
                <a:cs typeface="Arial"/>
                <a:sym typeface="Arial"/>
              </a:rPr>
              <a:t>12 bn+ payments a month. Now expanded to France, UAE, Singapore etc</a:t>
            </a:r>
            <a:endParaRPr b="0" i="0" sz="1000" u="none" cap="none" strike="noStrike">
              <a:solidFill>
                <a:schemeClr val="dk1"/>
              </a:solidFill>
              <a:latin typeface="Calibri"/>
              <a:ea typeface="Calibri"/>
              <a:cs typeface="Calibri"/>
              <a:sym typeface="Calibri"/>
            </a:endParaRPr>
          </a:p>
        </p:txBody>
      </p:sp>
      <p:sp>
        <p:nvSpPr>
          <p:cNvPr id="458" name="Google Shape;458;p38"/>
          <p:cNvSpPr/>
          <p:nvPr/>
        </p:nvSpPr>
        <p:spPr>
          <a:xfrm>
            <a:off x="630953" y="4217670"/>
            <a:ext cx="7882109" cy="411480"/>
          </a:xfrm>
          <a:prstGeom prst="rect">
            <a:avLst/>
          </a:prstGeom>
          <a:noFill/>
          <a:ln>
            <a:noFill/>
          </a:ln>
        </p:spPr>
        <p:txBody>
          <a:bodyPr anchorCtr="0" anchor="ctr" bIns="34275" lIns="68575" spcFirstLastPara="1" rIns="68575" wrap="square" tIns="34275">
            <a:noAutofit/>
          </a:bodyPr>
          <a:lstStyle/>
          <a:p>
            <a:pPr indent="0" lvl="0" marL="0" marR="0" rtl="0" algn="ctr">
              <a:lnSpc>
                <a:spcPct val="133333"/>
              </a:lnSpc>
              <a:spcBef>
                <a:spcPts val="0"/>
              </a:spcBef>
              <a:spcAft>
                <a:spcPts val="0"/>
              </a:spcAft>
              <a:buClr>
                <a:srgbClr val="6B7382"/>
              </a:buClr>
              <a:buSzPts val="1100"/>
              <a:buFont typeface="Arial"/>
              <a:buNone/>
            </a:pPr>
            <a:r>
              <a:rPr b="0" i="1" lang="en" sz="1100" u="none" cap="none" strike="noStrike">
                <a:solidFill>
                  <a:srgbClr val="6B7382"/>
                </a:solidFill>
                <a:latin typeface="Arial"/>
                <a:ea typeface="Arial"/>
                <a:cs typeface="Arial"/>
                <a:sym typeface="Arial"/>
              </a:rPr>
              <a:t>Public labs, PSUs and private startups; all building at the frontier. This is the ecosystem you're joining.</a:t>
            </a:r>
            <a:endParaRPr b="0" i="0" sz="1100" u="none" cap="none" strike="noStrike">
              <a:solidFill>
                <a:schemeClr val="dk1"/>
              </a:solidFill>
              <a:latin typeface="Calibri"/>
              <a:ea typeface="Calibri"/>
              <a:cs typeface="Calibri"/>
              <a:sym typeface="Calibri"/>
            </a:endParaRPr>
          </a:p>
        </p:txBody>
      </p:sp>
      <p:sp>
        <p:nvSpPr>
          <p:cNvPr id="459" name="Google Shape;459;p38"/>
          <p:cNvSpPr/>
          <p:nvPr/>
        </p:nvSpPr>
        <p:spPr>
          <a:xfrm>
            <a:off x="630953" y="4800600"/>
            <a:ext cx="411491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FROM CAMPUS TO STARTUP</a:t>
            </a:r>
            <a:endParaRPr b="0" i="0" sz="700" u="none" cap="none" strike="noStrike">
              <a:solidFill>
                <a:schemeClr val="dk1"/>
              </a:solidFill>
              <a:latin typeface="Calibri"/>
              <a:ea typeface="Calibri"/>
              <a:cs typeface="Calibri"/>
              <a:sym typeface="Calibri"/>
            </a:endParaRPr>
          </a:p>
        </p:txBody>
      </p:sp>
      <p:sp>
        <p:nvSpPr>
          <p:cNvPr id="460" name="Google Shape;460;p38"/>
          <p:cNvSpPr/>
          <p:nvPr/>
        </p:nvSpPr>
        <p:spPr>
          <a:xfrm>
            <a:off x="7964407" y="4800600"/>
            <a:ext cx="548655"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15</a:t>
            </a:r>
            <a:endParaRPr b="0" i="0" sz="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500"/>
                                        <p:tgtEl>
                                          <p:spTgt spid="43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32"/>
                                        </p:tgtEl>
                                        <p:attrNameLst>
                                          <p:attrName>style.visibility</p:attrName>
                                        </p:attrNameLst>
                                      </p:cBhvr>
                                      <p:to>
                                        <p:strVal val="visible"/>
                                      </p:to>
                                    </p:set>
                                    <p:animEffect filter="fade" transition="in">
                                      <p:cBhvr>
                                        <p:cTn dur="500"/>
                                        <p:tgtEl>
                                          <p:spTgt spid="43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500"/>
                                        <p:tgtEl>
                                          <p:spTgt spid="43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500"/>
                                        <p:tgtEl>
                                          <p:spTgt spid="43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36"/>
                                        </p:tgtEl>
                                        <p:attrNameLst>
                                          <p:attrName>style.visibility</p:attrName>
                                        </p:attrNameLst>
                                      </p:cBhvr>
                                      <p:to>
                                        <p:strVal val="visible"/>
                                      </p:to>
                                    </p:set>
                                    <p:animEffect filter="fade" transition="in">
                                      <p:cBhvr>
                                        <p:cTn dur="500"/>
                                        <p:tgtEl>
                                          <p:spTgt spid="436"/>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500"/>
                                        <p:tgtEl>
                                          <p:spTgt spid="43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38"/>
                                        </p:tgtEl>
                                        <p:attrNameLst>
                                          <p:attrName>style.visibility</p:attrName>
                                        </p:attrNameLst>
                                      </p:cBhvr>
                                      <p:to>
                                        <p:strVal val="visible"/>
                                      </p:to>
                                    </p:set>
                                    <p:animEffect filter="fade" transition="in">
                                      <p:cBhvr>
                                        <p:cTn dur="500"/>
                                        <p:tgtEl>
                                          <p:spTgt spid="438"/>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40"/>
                                        </p:tgtEl>
                                        <p:attrNameLst>
                                          <p:attrName>style.visibility</p:attrName>
                                        </p:attrNameLst>
                                      </p:cBhvr>
                                      <p:to>
                                        <p:strVal val="visible"/>
                                      </p:to>
                                    </p:set>
                                    <p:animEffect filter="fade" transition="in">
                                      <p:cBhvr>
                                        <p:cTn dur="500"/>
                                        <p:tgtEl>
                                          <p:spTgt spid="440"/>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500"/>
                                        <p:tgtEl>
                                          <p:spTgt spid="441"/>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442"/>
                                        </p:tgtEl>
                                        <p:attrNameLst>
                                          <p:attrName>style.visibility</p:attrName>
                                        </p:attrNameLst>
                                      </p:cBhvr>
                                      <p:to>
                                        <p:strVal val="visible"/>
                                      </p:to>
                                    </p:set>
                                    <p:animEffect filter="fade" transition="in">
                                      <p:cBhvr>
                                        <p:cTn dur="500"/>
                                        <p:tgtEl>
                                          <p:spTgt spid="442"/>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443"/>
                                        </p:tgtEl>
                                        <p:attrNameLst>
                                          <p:attrName>style.visibility</p:attrName>
                                        </p:attrNameLst>
                                      </p:cBhvr>
                                      <p:to>
                                        <p:strVal val="visible"/>
                                      </p:to>
                                    </p:set>
                                    <p:animEffect filter="fade" transition="in">
                                      <p:cBhvr>
                                        <p:cTn dur="500"/>
                                        <p:tgtEl>
                                          <p:spTgt spid="443"/>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445"/>
                                        </p:tgtEl>
                                        <p:attrNameLst>
                                          <p:attrName>style.visibility</p:attrName>
                                        </p:attrNameLst>
                                      </p:cBhvr>
                                      <p:to>
                                        <p:strVal val="visible"/>
                                      </p:to>
                                    </p:set>
                                    <p:animEffect filter="fade" transition="in">
                                      <p:cBhvr>
                                        <p:cTn dur="500"/>
                                        <p:tgtEl>
                                          <p:spTgt spid="445"/>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500"/>
                                        <p:tgtEl>
                                          <p:spTgt spid="446"/>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500"/>
                                        <p:tgtEl>
                                          <p:spTgt spid="447"/>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500"/>
                                        <p:tgtEl>
                                          <p:spTgt spid="448"/>
                                        </p:tgtEl>
                                      </p:cBhvr>
                                    </p:animEffect>
                                  </p:childTnLst>
                                </p:cTn>
                              </p:par>
                            </p:childTnLst>
                          </p:cTn>
                        </p:par>
                        <p:par>
                          <p:cTn fill="hold">
                            <p:stCondLst>
                              <p:cond delay="7500"/>
                            </p:stCondLst>
                            <p:childTnLst>
                              <p:par>
                                <p:cTn fill="hold" nodeType="afterEffect" presetClass="entr" presetID="10" presetSubtype="0">
                                  <p:stCondLst>
                                    <p:cond delay="0"/>
                                  </p:stCondLst>
                                  <p:childTnLst>
                                    <p:set>
                                      <p:cBhvr>
                                        <p:cTn dur="1" fill="hold">
                                          <p:stCondLst>
                                            <p:cond delay="0"/>
                                          </p:stCondLst>
                                        </p:cTn>
                                        <p:tgtEl>
                                          <p:spTgt spid="450"/>
                                        </p:tgtEl>
                                        <p:attrNameLst>
                                          <p:attrName>style.visibility</p:attrName>
                                        </p:attrNameLst>
                                      </p:cBhvr>
                                      <p:to>
                                        <p:strVal val="visible"/>
                                      </p:to>
                                    </p:set>
                                    <p:animEffect filter="fade" transition="in">
                                      <p:cBhvr>
                                        <p:cTn dur="500"/>
                                        <p:tgtEl>
                                          <p:spTgt spid="450"/>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451"/>
                                        </p:tgtEl>
                                        <p:attrNameLst>
                                          <p:attrName>style.visibility</p:attrName>
                                        </p:attrNameLst>
                                      </p:cBhvr>
                                      <p:to>
                                        <p:strVal val="visible"/>
                                      </p:to>
                                    </p:set>
                                    <p:animEffect filter="fade" transition="in">
                                      <p:cBhvr>
                                        <p:cTn dur="500"/>
                                        <p:tgtEl>
                                          <p:spTgt spid="451"/>
                                        </p:tgtEl>
                                      </p:cBhvr>
                                    </p:animEffect>
                                  </p:childTnLst>
                                </p:cTn>
                              </p:par>
                            </p:childTnLst>
                          </p:cTn>
                        </p:par>
                        <p:par>
                          <p:cTn fill="hold">
                            <p:stCondLst>
                              <p:cond delay="8500"/>
                            </p:stCondLst>
                            <p:childTnLst>
                              <p:par>
                                <p:cTn fill="hold" nodeType="after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500"/>
                                        <p:tgtEl>
                                          <p:spTgt spid="452"/>
                                        </p:tgtEl>
                                      </p:cBhvr>
                                    </p:animEffect>
                                  </p:childTnLst>
                                </p:cTn>
                              </p:par>
                            </p:childTnLst>
                          </p:cTn>
                        </p:par>
                        <p:par>
                          <p:cTn fill="hold">
                            <p:stCondLst>
                              <p:cond delay="9000"/>
                            </p:stCondLst>
                            <p:childTnLst>
                              <p:par>
                                <p:cTn fill="hold" nodeType="afterEffect" presetClass="entr" presetID="10" presetSubtype="0">
                                  <p:stCondLst>
                                    <p:cond delay="0"/>
                                  </p:stCondLst>
                                  <p:childTnLst>
                                    <p:set>
                                      <p:cBhvr>
                                        <p:cTn dur="1" fill="hold">
                                          <p:stCondLst>
                                            <p:cond delay="0"/>
                                          </p:stCondLst>
                                        </p:cTn>
                                        <p:tgtEl>
                                          <p:spTgt spid="453"/>
                                        </p:tgtEl>
                                        <p:attrNameLst>
                                          <p:attrName>style.visibility</p:attrName>
                                        </p:attrNameLst>
                                      </p:cBhvr>
                                      <p:to>
                                        <p:strVal val="visible"/>
                                      </p:to>
                                    </p:set>
                                    <p:animEffect filter="fade" transition="in">
                                      <p:cBhvr>
                                        <p:cTn dur="500"/>
                                        <p:tgtEl>
                                          <p:spTgt spid="453"/>
                                        </p:tgtEl>
                                      </p:cBhvr>
                                    </p:animEffect>
                                  </p:childTnLst>
                                </p:cTn>
                              </p:par>
                            </p:childTnLst>
                          </p:cTn>
                        </p:par>
                        <p:par>
                          <p:cTn fill="hold">
                            <p:stCondLst>
                              <p:cond delay="9500"/>
                            </p:stCondLst>
                            <p:childTnLst>
                              <p:par>
                                <p:cTn fill="hold" nodeType="after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500"/>
                                        <p:tgtEl>
                                          <p:spTgt spid="455"/>
                                        </p:tgtEl>
                                      </p:cBhvr>
                                    </p:animEffect>
                                  </p:childTnLst>
                                </p:cTn>
                              </p:par>
                            </p:childTnLst>
                          </p:cTn>
                        </p:par>
                        <p:par>
                          <p:cTn fill="hold">
                            <p:stCondLst>
                              <p:cond delay="10000"/>
                            </p:stCondLst>
                            <p:childTnLst>
                              <p:par>
                                <p:cTn fill="hold" nodeType="after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500"/>
                                        <p:tgtEl>
                                          <p:spTgt spid="456"/>
                                        </p:tgtEl>
                                      </p:cBhvr>
                                    </p:animEffect>
                                  </p:childTnLst>
                                </p:cTn>
                              </p:par>
                            </p:childTnLst>
                          </p:cTn>
                        </p:par>
                        <p:par>
                          <p:cTn fill="hold">
                            <p:stCondLst>
                              <p:cond delay="10500"/>
                            </p:stCondLst>
                            <p:childTnLst>
                              <p:par>
                                <p:cTn fill="hold" nodeType="afterEffect" presetClass="entr" presetID="10" presetSubtype="0">
                                  <p:stCondLst>
                                    <p:cond delay="0"/>
                                  </p:stCondLst>
                                  <p:childTnLst>
                                    <p:set>
                                      <p:cBhvr>
                                        <p:cTn dur="1" fill="hold">
                                          <p:stCondLst>
                                            <p:cond delay="0"/>
                                          </p:stCondLst>
                                        </p:cTn>
                                        <p:tgtEl>
                                          <p:spTgt spid="457"/>
                                        </p:tgtEl>
                                        <p:attrNameLst>
                                          <p:attrName>style.visibility</p:attrName>
                                        </p:attrNameLst>
                                      </p:cBhvr>
                                      <p:to>
                                        <p:strVal val="visible"/>
                                      </p:to>
                                    </p:set>
                                    <p:animEffect filter="fade" transition="in">
                                      <p:cBhvr>
                                        <p:cTn dur="500"/>
                                        <p:tgtEl>
                                          <p:spTgt spid="457"/>
                                        </p:tgtEl>
                                      </p:cBhvr>
                                    </p:animEffect>
                                  </p:childTnLst>
                                </p:cTn>
                              </p:par>
                            </p:childTnLst>
                          </p:cTn>
                        </p:par>
                        <p:par>
                          <p:cTn fill="hold">
                            <p:stCondLst>
                              <p:cond delay="11000"/>
                            </p:stCondLst>
                            <p:childTnLst>
                              <p:par>
                                <p:cTn fill="hold" nodeType="afterEffect" presetClass="entr" presetID="10" presetSubtype="0">
                                  <p:stCondLst>
                                    <p:cond delay="0"/>
                                  </p:stCondLst>
                                  <p:childTnLst>
                                    <p:set>
                                      <p:cBhvr>
                                        <p:cTn dur="1" fill="hold">
                                          <p:stCondLst>
                                            <p:cond delay="0"/>
                                          </p:stCondLst>
                                        </p:cTn>
                                        <p:tgtEl>
                                          <p:spTgt spid="458"/>
                                        </p:tgtEl>
                                        <p:attrNameLst>
                                          <p:attrName>style.visibility</p:attrName>
                                        </p:attrNameLst>
                                      </p:cBhvr>
                                      <p:to>
                                        <p:strVal val="visible"/>
                                      </p:to>
                                    </p:set>
                                    <p:animEffect filter="fade" transition="in">
                                      <p:cBhvr>
                                        <p:cTn dur="500"/>
                                        <p:tgtEl>
                                          <p:spTgt spid="458"/>
                                        </p:tgtEl>
                                      </p:cBhvr>
                                    </p:animEffect>
                                  </p:childTnLst>
                                </p:cTn>
                              </p:par>
                            </p:childTnLst>
                          </p:cTn>
                        </p:par>
                        <p:par>
                          <p:cTn fill="hold">
                            <p:stCondLst>
                              <p:cond delay="11500"/>
                            </p:stCondLst>
                            <p:childTnLst>
                              <p:par>
                                <p:cTn fill="hold" nodeType="afterEffect" presetClass="entr" presetID="10" presetSubtype="0">
                                  <p:stCondLst>
                                    <p:cond delay="0"/>
                                  </p:stCondLst>
                                  <p:childTnLst>
                                    <p:set>
                                      <p:cBhvr>
                                        <p:cTn dur="1" fill="hold">
                                          <p:stCondLst>
                                            <p:cond delay="0"/>
                                          </p:stCondLst>
                                        </p:cTn>
                                        <p:tgtEl>
                                          <p:spTgt spid="459"/>
                                        </p:tgtEl>
                                        <p:attrNameLst>
                                          <p:attrName>style.visibility</p:attrName>
                                        </p:attrNameLst>
                                      </p:cBhvr>
                                      <p:to>
                                        <p:strVal val="visible"/>
                                      </p:to>
                                    </p:set>
                                    <p:animEffect filter="fade" transition="in">
                                      <p:cBhvr>
                                        <p:cTn dur="500"/>
                                        <p:tgtEl>
                                          <p:spTgt spid="459"/>
                                        </p:tgtEl>
                                      </p:cBhvr>
                                    </p:animEffect>
                                  </p:childTnLst>
                                </p:cTn>
                              </p:par>
                            </p:childTnLst>
                          </p:cTn>
                        </p:par>
                        <p:par>
                          <p:cTn fill="hold">
                            <p:stCondLst>
                              <p:cond delay="12000"/>
                            </p:stCondLst>
                            <p:childTnLst>
                              <p:par>
                                <p:cTn fill="hold" nodeType="afterEffect" presetClass="entr" presetID="10" presetSubtype="0">
                                  <p:stCondLst>
                                    <p:cond delay="0"/>
                                  </p:stCondLst>
                                  <p:childTnLst>
                                    <p:set>
                                      <p:cBhvr>
                                        <p:cTn dur="1" fill="hold">
                                          <p:stCondLst>
                                            <p:cond delay="0"/>
                                          </p:stCondLst>
                                        </p:cTn>
                                        <p:tgtEl>
                                          <p:spTgt spid="460"/>
                                        </p:tgtEl>
                                        <p:attrNameLst>
                                          <p:attrName>style.visibility</p:attrName>
                                        </p:attrNameLst>
                                      </p:cBhvr>
                                      <p:to>
                                        <p:strVal val="visible"/>
                                      </p:to>
                                    </p:set>
                                    <p:animEffect filter="fade" transition="in">
                                      <p:cBhvr>
                                        <p:cTn dur="500"/>
                                        <p:tgtEl>
                                          <p:spTgt spid="4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B10"/>
        </a:solidFill>
      </p:bgPr>
    </p:bg>
    <p:spTree>
      <p:nvGrpSpPr>
        <p:cNvPr id="465" name="Shape 465"/>
        <p:cNvGrpSpPr/>
        <p:nvPr/>
      </p:nvGrpSpPr>
      <p:grpSpPr>
        <a:xfrm>
          <a:off x="0" y="0"/>
          <a:ext cx="0" cy="0"/>
          <a:chOff x="0" y="0"/>
          <a:chExt cx="0" cy="0"/>
        </a:xfrm>
      </p:grpSpPr>
      <p:sp>
        <p:nvSpPr>
          <p:cNvPr id="466" name="Google Shape;466;p39"/>
          <p:cNvSpPr/>
          <p:nvPr/>
        </p:nvSpPr>
        <p:spPr>
          <a:xfrm>
            <a:off x="-1783128" y="2263139"/>
            <a:ext cx="4800728" cy="480060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7" name="Google Shape;467;p39"/>
          <p:cNvSpPr/>
          <p:nvPr/>
        </p:nvSpPr>
        <p:spPr>
          <a:xfrm>
            <a:off x="-1111026" y="2935224"/>
            <a:ext cx="3456524" cy="3456432"/>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8" name="Google Shape;468;p39"/>
          <p:cNvSpPr/>
          <p:nvPr/>
        </p:nvSpPr>
        <p:spPr>
          <a:xfrm>
            <a:off x="630953" y="788670"/>
            <a:ext cx="2057455" cy="16459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430"/>
              </a:buClr>
              <a:buSzPts val="11300"/>
              <a:buFont typeface="Arial"/>
              <a:buNone/>
            </a:pPr>
            <a:r>
              <a:rPr b="1" i="0" lang="en" sz="11300" u="none" cap="none" strike="noStrike">
                <a:solidFill>
                  <a:srgbClr val="1F2430"/>
                </a:solidFill>
                <a:latin typeface="Arial"/>
                <a:ea typeface="Arial"/>
                <a:cs typeface="Arial"/>
                <a:sym typeface="Arial"/>
              </a:rPr>
              <a:t>08</a:t>
            </a:r>
            <a:endParaRPr b="0" i="0" sz="11300" u="none" cap="none" strike="noStrike">
              <a:solidFill>
                <a:schemeClr val="dk1"/>
              </a:solidFill>
              <a:latin typeface="Calibri"/>
              <a:ea typeface="Calibri"/>
              <a:cs typeface="Calibri"/>
              <a:sym typeface="Calibri"/>
            </a:endParaRPr>
          </a:p>
        </p:txBody>
      </p:sp>
      <p:sp>
        <p:nvSpPr>
          <p:cNvPr id="469" name="Google Shape;469;p39"/>
          <p:cNvSpPr/>
          <p:nvPr/>
        </p:nvSpPr>
        <p:spPr>
          <a:xfrm>
            <a:off x="658386" y="2482595"/>
            <a:ext cx="6858183"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WHAT TO INVEST IN</a:t>
            </a:r>
            <a:endParaRPr b="0" i="0" sz="1000" u="none" cap="none" strike="noStrike">
              <a:solidFill>
                <a:schemeClr val="dk1"/>
              </a:solidFill>
              <a:latin typeface="Calibri"/>
              <a:ea typeface="Calibri"/>
              <a:cs typeface="Calibri"/>
              <a:sym typeface="Calibri"/>
            </a:endParaRPr>
          </a:p>
        </p:txBody>
      </p:sp>
      <p:sp>
        <p:nvSpPr>
          <p:cNvPr id="470" name="Google Shape;470;p39"/>
          <p:cNvSpPr/>
          <p:nvPr/>
        </p:nvSpPr>
        <p:spPr>
          <a:xfrm>
            <a:off x="630953" y="2729484"/>
            <a:ext cx="7269674" cy="1392174"/>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4F6FA"/>
              </a:buClr>
              <a:buSzPts val="3200"/>
              <a:buFont typeface="Arial"/>
              <a:buNone/>
            </a:pPr>
            <a:r>
              <a:rPr b="1" i="0" lang="en" sz="3200" u="none" cap="none" strike="noStrike">
                <a:solidFill>
                  <a:srgbClr val="F4F6FA"/>
                </a:solidFill>
                <a:latin typeface="Arial"/>
                <a:ea typeface="Arial"/>
                <a:cs typeface="Arial"/>
                <a:sym typeface="Arial"/>
              </a:rPr>
              <a:t>Skills that</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4F6FA"/>
              </a:buClr>
              <a:buSzPts val="3200"/>
              <a:buFont typeface="Arial"/>
              <a:buNone/>
            </a:pPr>
            <a:r>
              <a:rPr b="1" i="0" lang="en" sz="3200" u="none" cap="none" strike="noStrike">
                <a:solidFill>
                  <a:srgbClr val="F4F6FA"/>
                </a:solidFill>
                <a:latin typeface="Arial"/>
                <a:ea typeface="Arial"/>
                <a:cs typeface="Arial"/>
                <a:sym typeface="Arial"/>
              </a:rPr>
              <a:t>compound for</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4F6FA"/>
              </a:buClr>
              <a:buSzPts val="3200"/>
              <a:buFont typeface="Arial"/>
              <a:buNone/>
            </a:pPr>
            <a:r>
              <a:rPr b="1" i="0" lang="en" sz="3200" u="none" cap="none" strike="noStrike">
                <a:solidFill>
                  <a:srgbClr val="F4F6FA"/>
                </a:solidFill>
                <a:latin typeface="Arial"/>
                <a:ea typeface="Arial"/>
                <a:cs typeface="Arial"/>
                <a:sym typeface="Arial"/>
              </a:rPr>
              <a:t>40 years</a:t>
            </a:r>
            <a:endParaRPr b="0" i="0" sz="3200" u="none" cap="none" strike="noStrike">
              <a:solidFill>
                <a:schemeClr val="dk1"/>
              </a:solidFill>
              <a:latin typeface="Calibri"/>
              <a:ea typeface="Calibri"/>
              <a:cs typeface="Calibri"/>
              <a:sym typeface="Calibri"/>
            </a:endParaRPr>
          </a:p>
        </p:txBody>
      </p:sp>
      <p:sp>
        <p:nvSpPr>
          <p:cNvPr id="471" name="Google Shape;471;p39"/>
          <p:cNvSpPr/>
          <p:nvPr/>
        </p:nvSpPr>
        <p:spPr>
          <a:xfrm>
            <a:off x="630953" y="4203954"/>
            <a:ext cx="6721019"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44444"/>
              </a:lnSpc>
              <a:spcBef>
                <a:spcPts val="0"/>
              </a:spcBef>
              <a:spcAft>
                <a:spcPts val="0"/>
              </a:spcAft>
              <a:buClr>
                <a:srgbClr val="AEB6C4"/>
              </a:buClr>
              <a:buSzPts val="1400"/>
              <a:buFont typeface="Arial"/>
              <a:buNone/>
            </a:pPr>
            <a:r>
              <a:rPr b="0" i="0" lang="en" sz="1400" u="none" cap="none" strike="noStrike">
                <a:solidFill>
                  <a:srgbClr val="AEB6C4"/>
                </a:solidFill>
                <a:latin typeface="Arial"/>
                <a:ea typeface="Arial"/>
                <a:cs typeface="Arial"/>
                <a:sym typeface="Arial"/>
              </a:rPr>
              <a:t>Frameworks expire every three years. Fundamentals appreciate. Invest accordingly.</a:t>
            </a:r>
            <a:endParaRPr b="0" i="0" sz="14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500"/>
                                        <p:tgtEl>
                                          <p:spTgt spid="46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9"/>
                                        </p:tgtEl>
                                        <p:attrNameLst>
                                          <p:attrName>style.visibility</p:attrName>
                                        </p:attrNameLst>
                                      </p:cBhvr>
                                      <p:to>
                                        <p:strVal val="visible"/>
                                      </p:to>
                                    </p:set>
                                    <p:animEffect filter="fade" transition="in">
                                      <p:cBhvr>
                                        <p:cTn dur="500"/>
                                        <p:tgtEl>
                                          <p:spTgt spid="46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70"/>
                                        </p:tgtEl>
                                        <p:attrNameLst>
                                          <p:attrName>style.visibility</p:attrName>
                                        </p:attrNameLst>
                                      </p:cBhvr>
                                      <p:to>
                                        <p:strVal val="visible"/>
                                      </p:to>
                                    </p:set>
                                    <p:animEffect filter="fade" transition="in">
                                      <p:cBhvr>
                                        <p:cTn dur="500"/>
                                        <p:tgtEl>
                                          <p:spTgt spid="470"/>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71"/>
                                        </p:tgtEl>
                                        <p:attrNameLst>
                                          <p:attrName>style.visibility</p:attrName>
                                        </p:attrNameLst>
                                      </p:cBhvr>
                                      <p:to>
                                        <p:strVal val="visible"/>
                                      </p:to>
                                    </p:set>
                                    <p:animEffect filter="fade" transition="in">
                                      <p:cBhvr>
                                        <p:cTn dur="500"/>
                                        <p:tgtEl>
                                          <p:spTgt spid="4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117"/>
        </a:solidFill>
      </p:bgPr>
    </p:bg>
    <p:spTree>
      <p:nvGrpSpPr>
        <p:cNvPr id="476" name="Shape 476"/>
        <p:cNvGrpSpPr/>
        <p:nvPr/>
      </p:nvGrpSpPr>
      <p:grpSpPr>
        <a:xfrm>
          <a:off x="0" y="0"/>
          <a:ext cx="0" cy="0"/>
          <a:chOff x="0" y="0"/>
          <a:chExt cx="0" cy="0"/>
        </a:xfrm>
      </p:grpSpPr>
      <p:sp>
        <p:nvSpPr>
          <p:cNvPr id="477" name="Google Shape;477;p40"/>
          <p:cNvSpPr/>
          <p:nvPr/>
        </p:nvSpPr>
        <p:spPr>
          <a:xfrm>
            <a:off x="630953" y="425196"/>
            <a:ext cx="7882109" cy="23317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COMPOUNDING SKILLS</a:t>
            </a:r>
            <a:endParaRPr b="0" i="0" sz="1000" u="none" cap="none" strike="noStrike">
              <a:solidFill>
                <a:schemeClr val="dk1"/>
              </a:solidFill>
              <a:latin typeface="Calibri"/>
              <a:ea typeface="Calibri"/>
              <a:cs typeface="Calibri"/>
              <a:sym typeface="Calibri"/>
            </a:endParaRPr>
          </a:p>
        </p:txBody>
      </p:sp>
      <p:sp>
        <p:nvSpPr>
          <p:cNvPr id="478" name="Google Shape;478;p40"/>
          <p:cNvSpPr/>
          <p:nvPr/>
        </p:nvSpPr>
        <p:spPr>
          <a:xfrm>
            <a:off x="630953" y="685800"/>
            <a:ext cx="7882109" cy="5829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2300"/>
              <a:buFont typeface="Arial"/>
              <a:buNone/>
            </a:pPr>
            <a:r>
              <a:rPr b="1" i="0" lang="en" sz="2300" u="none" cap="none" strike="noStrike">
                <a:solidFill>
                  <a:srgbClr val="F4F6FA"/>
                </a:solidFill>
                <a:latin typeface="Arial"/>
                <a:ea typeface="Arial"/>
                <a:cs typeface="Arial"/>
                <a:sym typeface="Arial"/>
              </a:rPr>
              <a:t>The four I'd bet a career on</a:t>
            </a:r>
            <a:endParaRPr b="0" i="0" sz="2300" u="none" cap="none" strike="noStrike">
              <a:solidFill>
                <a:schemeClr val="dk1"/>
              </a:solidFill>
              <a:latin typeface="Calibri"/>
              <a:ea typeface="Calibri"/>
              <a:cs typeface="Calibri"/>
              <a:sym typeface="Calibri"/>
            </a:endParaRPr>
          </a:p>
        </p:txBody>
      </p:sp>
      <p:sp>
        <p:nvSpPr>
          <p:cNvPr id="479" name="Google Shape;479;p40"/>
          <p:cNvSpPr/>
          <p:nvPr/>
        </p:nvSpPr>
        <p:spPr>
          <a:xfrm>
            <a:off x="630950" y="1316724"/>
            <a:ext cx="3786600" cy="1321500"/>
          </a:xfrm>
          <a:prstGeom prst="roundRect">
            <a:avLst>
              <a:gd fmla="val 5435"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0" name="Google Shape;480;p40"/>
          <p:cNvSpPr/>
          <p:nvPr/>
        </p:nvSpPr>
        <p:spPr>
          <a:xfrm>
            <a:off x="836698" y="1522476"/>
            <a:ext cx="397775" cy="397764"/>
          </a:xfrm>
          <a:prstGeom prst="ellipse">
            <a:avLst/>
          </a:prstGeom>
          <a:solidFill>
            <a:srgbClr val="3A2A12"/>
          </a:solidFill>
          <a:ln cap="flat" cmpd="sng" w="12700">
            <a:solidFill>
              <a:srgbClr val="B4530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1" name="Google Shape;481;p40"/>
          <p:cNvSpPr/>
          <p:nvPr/>
        </p:nvSpPr>
        <p:spPr>
          <a:xfrm>
            <a:off x="836698" y="1522476"/>
            <a:ext cx="397775" cy="39776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01</a:t>
            </a:r>
            <a:endParaRPr b="0" i="0" sz="1000" u="none" cap="none" strike="noStrike">
              <a:solidFill>
                <a:schemeClr val="dk1"/>
              </a:solidFill>
              <a:latin typeface="Calibri"/>
              <a:ea typeface="Calibri"/>
              <a:cs typeface="Calibri"/>
              <a:sym typeface="Calibri"/>
            </a:endParaRPr>
          </a:p>
        </p:txBody>
      </p:sp>
      <p:sp>
        <p:nvSpPr>
          <p:cNvPr id="482" name="Google Shape;482;p40"/>
          <p:cNvSpPr/>
          <p:nvPr/>
        </p:nvSpPr>
        <p:spPr>
          <a:xfrm>
            <a:off x="1357920" y="1508760"/>
            <a:ext cx="2936331" cy="42519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1200"/>
              <a:buFont typeface="Arial"/>
              <a:buNone/>
            </a:pPr>
            <a:r>
              <a:rPr b="1" i="0" lang="en" sz="1200" u="none" cap="none" strike="noStrike">
                <a:solidFill>
                  <a:srgbClr val="F4F6FA"/>
                </a:solidFill>
                <a:latin typeface="Arial"/>
                <a:ea typeface="Arial"/>
                <a:cs typeface="Arial"/>
                <a:sym typeface="Arial"/>
              </a:rPr>
              <a:t>Deep fundamentals</a:t>
            </a:r>
            <a:endParaRPr b="0" i="0" sz="1200" u="none" cap="none" strike="noStrike">
              <a:solidFill>
                <a:schemeClr val="dk1"/>
              </a:solidFill>
              <a:latin typeface="Calibri"/>
              <a:ea typeface="Calibri"/>
              <a:cs typeface="Calibri"/>
              <a:sym typeface="Calibri"/>
            </a:endParaRPr>
          </a:p>
        </p:txBody>
      </p:sp>
      <p:sp>
        <p:nvSpPr>
          <p:cNvPr id="483" name="Google Shape;483;p40"/>
          <p:cNvSpPr/>
          <p:nvPr/>
        </p:nvSpPr>
        <p:spPr>
          <a:xfrm>
            <a:off x="864131" y="1988820"/>
            <a:ext cx="3320390" cy="493776"/>
          </a:xfrm>
          <a:prstGeom prst="rect">
            <a:avLst/>
          </a:prstGeom>
          <a:noFill/>
          <a:ln>
            <a:noFill/>
          </a:ln>
        </p:spPr>
        <p:txBody>
          <a:bodyPr anchorCtr="0" anchor="t" bIns="34275" lIns="68575" spcFirstLastPara="1" rIns="68575" wrap="square" tIns="34275">
            <a:noAutofit/>
          </a:bodyPr>
          <a:lstStyle/>
          <a:p>
            <a:pPr indent="0" lvl="0" marL="0" marR="0" rtl="0" algn="l">
              <a:lnSpc>
                <a:spcPct val="138461"/>
              </a:lnSpc>
              <a:spcBef>
                <a:spcPts val="0"/>
              </a:spcBef>
              <a:spcAft>
                <a:spcPts val="0"/>
              </a:spcAft>
              <a:buClr>
                <a:srgbClr val="AEB6C4"/>
              </a:buClr>
              <a:buSzPts val="1000"/>
              <a:buFont typeface="Arial"/>
              <a:buNone/>
            </a:pPr>
            <a:r>
              <a:rPr b="0" i="0" lang="en" sz="1000" u="none" cap="none" strike="noStrike">
                <a:solidFill>
                  <a:srgbClr val="AEB6C4"/>
                </a:solidFill>
                <a:latin typeface="Arial"/>
                <a:ea typeface="Arial"/>
                <a:cs typeface="Arial"/>
                <a:sym typeface="Arial"/>
              </a:rPr>
              <a:t>Data structures, systems, math, first-principles thinking. Frameworks expire; fundamentals appreciate — and they're your only durable edge over AI tools.</a:t>
            </a:r>
            <a:endParaRPr b="0" i="0" sz="1000" u="none" cap="none" strike="noStrike">
              <a:solidFill>
                <a:schemeClr val="dk1"/>
              </a:solidFill>
              <a:latin typeface="Calibri"/>
              <a:ea typeface="Calibri"/>
              <a:cs typeface="Calibri"/>
              <a:sym typeface="Calibri"/>
            </a:endParaRPr>
          </a:p>
        </p:txBody>
      </p:sp>
      <p:sp>
        <p:nvSpPr>
          <p:cNvPr id="484" name="Google Shape;484;p40"/>
          <p:cNvSpPr/>
          <p:nvPr/>
        </p:nvSpPr>
        <p:spPr>
          <a:xfrm>
            <a:off x="4695625" y="1316724"/>
            <a:ext cx="3817500" cy="1349400"/>
          </a:xfrm>
          <a:prstGeom prst="roundRect">
            <a:avLst>
              <a:gd fmla="val 5435"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5" name="Google Shape;485;p40"/>
          <p:cNvSpPr/>
          <p:nvPr/>
        </p:nvSpPr>
        <p:spPr>
          <a:xfrm>
            <a:off x="4932062" y="1522476"/>
            <a:ext cx="397775" cy="397764"/>
          </a:xfrm>
          <a:prstGeom prst="ellipse">
            <a:avLst/>
          </a:prstGeom>
          <a:solidFill>
            <a:srgbClr val="3A2A12"/>
          </a:solidFill>
          <a:ln cap="flat" cmpd="sng" w="12700">
            <a:solidFill>
              <a:srgbClr val="B4530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6" name="Google Shape;486;p40"/>
          <p:cNvSpPr/>
          <p:nvPr/>
        </p:nvSpPr>
        <p:spPr>
          <a:xfrm>
            <a:off x="4932062" y="1522476"/>
            <a:ext cx="397775" cy="39776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02</a:t>
            </a:r>
            <a:endParaRPr b="0" i="0" sz="1000" u="none" cap="none" strike="noStrike">
              <a:solidFill>
                <a:schemeClr val="dk1"/>
              </a:solidFill>
              <a:latin typeface="Calibri"/>
              <a:ea typeface="Calibri"/>
              <a:cs typeface="Calibri"/>
              <a:sym typeface="Calibri"/>
            </a:endParaRPr>
          </a:p>
        </p:txBody>
      </p:sp>
      <p:sp>
        <p:nvSpPr>
          <p:cNvPr id="487" name="Google Shape;487;p40"/>
          <p:cNvSpPr/>
          <p:nvPr/>
        </p:nvSpPr>
        <p:spPr>
          <a:xfrm>
            <a:off x="5453284" y="1508760"/>
            <a:ext cx="2936331" cy="42519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1200"/>
              <a:buFont typeface="Arial"/>
              <a:buNone/>
            </a:pPr>
            <a:r>
              <a:rPr b="1" i="0" lang="en" sz="1200" u="none" cap="none" strike="noStrike">
                <a:solidFill>
                  <a:srgbClr val="F4F6FA"/>
                </a:solidFill>
                <a:latin typeface="Arial"/>
                <a:ea typeface="Arial"/>
                <a:cs typeface="Arial"/>
                <a:sym typeface="Arial"/>
              </a:rPr>
              <a:t>Writing &amp; speaking clearly</a:t>
            </a:r>
            <a:endParaRPr b="0" i="0" sz="1200" u="none" cap="none" strike="noStrike">
              <a:solidFill>
                <a:schemeClr val="dk1"/>
              </a:solidFill>
              <a:latin typeface="Calibri"/>
              <a:ea typeface="Calibri"/>
              <a:cs typeface="Calibri"/>
              <a:sym typeface="Calibri"/>
            </a:endParaRPr>
          </a:p>
        </p:txBody>
      </p:sp>
      <p:sp>
        <p:nvSpPr>
          <p:cNvPr id="488" name="Google Shape;488;p40"/>
          <p:cNvSpPr/>
          <p:nvPr/>
        </p:nvSpPr>
        <p:spPr>
          <a:xfrm>
            <a:off x="4959495" y="1988820"/>
            <a:ext cx="3320390" cy="493776"/>
          </a:xfrm>
          <a:prstGeom prst="rect">
            <a:avLst/>
          </a:prstGeom>
          <a:noFill/>
          <a:ln>
            <a:noFill/>
          </a:ln>
        </p:spPr>
        <p:txBody>
          <a:bodyPr anchorCtr="0" anchor="t" bIns="34275" lIns="68575" spcFirstLastPara="1" rIns="68575" wrap="square" tIns="34275">
            <a:noAutofit/>
          </a:bodyPr>
          <a:lstStyle/>
          <a:p>
            <a:pPr indent="0" lvl="0" marL="0" marR="0" rtl="0" algn="l">
              <a:lnSpc>
                <a:spcPct val="138461"/>
              </a:lnSpc>
              <a:spcBef>
                <a:spcPts val="0"/>
              </a:spcBef>
              <a:spcAft>
                <a:spcPts val="0"/>
              </a:spcAft>
              <a:buClr>
                <a:srgbClr val="AEB6C4"/>
              </a:buClr>
              <a:buSzPts val="1000"/>
              <a:buFont typeface="Arial"/>
              <a:buNone/>
            </a:pPr>
            <a:r>
              <a:rPr b="0" i="0" lang="en" sz="1000" u="none" cap="none" strike="noStrike">
                <a:solidFill>
                  <a:srgbClr val="AEB6C4"/>
                </a:solidFill>
                <a:latin typeface="Arial"/>
                <a:ea typeface="Arial"/>
                <a:cs typeface="Arial"/>
                <a:sym typeface="Arial"/>
              </a:rPr>
              <a:t>The highest-ROI 'soft' skill. Careers are made in design docs, emails and demos. If you can explain it simply, you understand it.</a:t>
            </a:r>
            <a:endParaRPr b="0" i="0" sz="1000" u="none" cap="none" strike="noStrike">
              <a:solidFill>
                <a:schemeClr val="dk1"/>
              </a:solidFill>
              <a:latin typeface="Calibri"/>
              <a:ea typeface="Calibri"/>
              <a:cs typeface="Calibri"/>
              <a:sym typeface="Calibri"/>
            </a:endParaRPr>
          </a:p>
        </p:txBody>
      </p:sp>
      <p:sp>
        <p:nvSpPr>
          <p:cNvPr id="489" name="Google Shape;489;p40"/>
          <p:cNvSpPr/>
          <p:nvPr/>
        </p:nvSpPr>
        <p:spPr>
          <a:xfrm>
            <a:off x="630950" y="2839200"/>
            <a:ext cx="3817500" cy="1321500"/>
          </a:xfrm>
          <a:prstGeom prst="roundRect">
            <a:avLst>
              <a:gd fmla="val 5435"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0" name="Google Shape;490;p40"/>
          <p:cNvSpPr/>
          <p:nvPr/>
        </p:nvSpPr>
        <p:spPr>
          <a:xfrm>
            <a:off x="836698" y="3044952"/>
            <a:ext cx="397775" cy="397764"/>
          </a:xfrm>
          <a:prstGeom prst="ellipse">
            <a:avLst/>
          </a:prstGeom>
          <a:solidFill>
            <a:srgbClr val="3A2A12"/>
          </a:solidFill>
          <a:ln cap="flat" cmpd="sng" w="12700">
            <a:solidFill>
              <a:srgbClr val="B4530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1" name="Google Shape;491;p40"/>
          <p:cNvSpPr/>
          <p:nvPr/>
        </p:nvSpPr>
        <p:spPr>
          <a:xfrm>
            <a:off x="836698" y="3044952"/>
            <a:ext cx="397775" cy="39776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03</a:t>
            </a:r>
            <a:endParaRPr b="0" i="0" sz="1000" u="none" cap="none" strike="noStrike">
              <a:solidFill>
                <a:schemeClr val="dk1"/>
              </a:solidFill>
              <a:latin typeface="Calibri"/>
              <a:ea typeface="Calibri"/>
              <a:cs typeface="Calibri"/>
              <a:sym typeface="Calibri"/>
            </a:endParaRPr>
          </a:p>
        </p:txBody>
      </p:sp>
      <p:sp>
        <p:nvSpPr>
          <p:cNvPr id="492" name="Google Shape;492;p40"/>
          <p:cNvSpPr/>
          <p:nvPr/>
        </p:nvSpPr>
        <p:spPr>
          <a:xfrm>
            <a:off x="1357920" y="3031236"/>
            <a:ext cx="2936331" cy="42519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1200"/>
              <a:buFont typeface="Arial"/>
              <a:buNone/>
            </a:pPr>
            <a:r>
              <a:rPr b="1" i="0" lang="en" sz="1200" u="none" cap="none" strike="noStrike">
                <a:solidFill>
                  <a:srgbClr val="F4F6FA"/>
                </a:solidFill>
                <a:latin typeface="Arial"/>
                <a:ea typeface="Arial"/>
                <a:cs typeface="Arial"/>
                <a:sym typeface="Arial"/>
              </a:rPr>
              <a:t>Learning how to learn</a:t>
            </a:r>
            <a:endParaRPr b="0" i="0" sz="1200" u="none" cap="none" strike="noStrike">
              <a:solidFill>
                <a:schemeClr val="dk1"/>
              </a:solidFill>
              <a:latin typeface="Calibri"/>
              <a:ea typeface="Calibri"/>
              <a:cs typeface="Calibri"/>
              <a:sym typeface="Calibri"/>
            </a:endParaRPr>
          </a:p>
        </p:txBody>
      </p:sp>
      <p:sp>
        <p:nvSpPr>
          <p:cNvPr id="493" name="Google Shape;493;p40"/>
          <p:cNvSpPr/>
          <p:nvPr/>
        </p:nvSpPr>
        <p:spPr>
          <a:xfrm>
            <a:off x="864131" y="3511296"/>
            <a:ext cx="3320390" cy="493776"/>
          </a:xfrm>
          <a:prstGeom prst="rect">
            <a:avLst/>
          </a:prstGeom>
          <a:noFill/>
          <a:ln>
            <a:noFill/>
          </a:ln>
        </p:spPr>
        <p:txBody>
          <a:bodyPr anchorCtr="0" anchor="t" bIns="34275" lIns="68575" spcFirstLastPara="1" rIns="68575" wrap="square" tIns="34275">
            <a:noAutofit/>
          </a:bodyPr>
          <a:lstStyle/>
          <a:p>
            <a:pPr indent="0" lvl="0" marL="0" marR="0" rtl="0" algn="l">
              <a:lnSpc>
                <a:spcPct val="138461"/>
              </a:lnSpc>
              <a:spcBef>
                <a:spcPts val="0"/>
              </a:spcBef>
              <a:spcAft>
                <a:spcPts val="0"/>
              </a:spcAft>
              <a:buClr>
                <a:srgbClr val="AEB6C4"/>
              </a:buClr>
              <a:buSzPts val="1000"/>
              <a:buFont typeface="Arial"/>
              <a:buNone/>
            </a:pPr>
            <a:r>
              <a:rPr b="0" i="0" lang="en" sz="1000" u="none" cap="none" strike="noStrike">
                <a:solidFill>
                  <a:srgbClr val="AEB6C4"/>
                </a:solidFill>
                <a:latin typeface="Arial"/>
                <a:ea typeface="Arial"/>
                <a:cs typeface="Arial"/>
                <a:sym typeface="Arial"/>
              </a:rPr>
              <a:t>Every job I've had needed skills that didn't exist when I was in college. Speed of picking up new domains beats any single skill you graduate with.</a:t>
            </a:r>
            <a:endParaRPr b="0" i="0" sz="1000" u="none" cap="none" strike="noStrike">
              <a:solidFill>
                <a:schemeClr val="dk1"/>
              </a:solidFill>
              <a:latin typeface="Calibri"/>
              <a:ea typeface="Calibri"/>
              <a:cs typeface="Calibri"/>
              <a:sym typeface="Calibri"/>
            </a:endParaRPr>
          </a:p>
        </p:txBody>
      </p:sp>
      <p:sp>
        <p:nvSpPr>
          <p:cNvPr id="494" name="Google Shape;494;p40"/>
          <p:cNvSpPr/>
          <p:nvPr/>
        </p:nvSpPr>
        <p:spPr>
          <a:xfrm>
            <a:off x="4726475" y="2839199"/>
            <a:ext cx="3786600" cy="1321500"/>
          </a:xfrm>
          <a:prstGeom prst="roundRect">
            <a:avLst>
              <a:gd fmla="val 5435"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5" name="Google Shape;495;p40"/>
          <p:cNvSpPr/>
          <p:nvPr/>
        </p:nvSpPr>
        <p:spPr>
          <a:xfrm>
            <a:off x="4932062" y="3044952"/>
            <a:ext cx="397775" cy="397764"/>
          </a:xfrm>
          <a:prstGeom prst="ellipse">
            <a:avLst/>
          </a:prstGeom>
          <a:solidFill>
            <a:srgbClr val="3A2A12"/>
          </a:solidFill>
          <a:ln cap="flat" cmpd="sng" w="12700">
            <a:solidFill>
              <a:srgbClr val="B4530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6" name="Google Shape;496;p40"/>
          <p:cNvSpPr/>
          <p:nvPr/>
        </p:nvSpPr>
        <p:spPr>
          <a:xfrm>
            <a:off x="4932062" y="3044952"/>
            <a:ext cx="397775" cy="39776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04</a:t>
            </a:r>
            <a:endParaRPr b="0" i="0" sz="1000" u="none" cap="none" strike="noStrike">
              <a:solidFill>
                <a:schemeClr val="dk1"/>
              </a:solidFill>
              <a:latin typeface="Calibri"/>
              <a:ea typeface="Calibri"/>
              <a:cs typeface="Calibri"/>
              <a:sym typeface="Calibri"/>
            </a:endParaRPr>
          </a:p>
        </p:txBody>
      </p:sp>
      <p:sp>
        <p:nvSpPr>
          <p:cNvPr id="497" name="Google Shape;497;p40"/>
          <p:cNvSpPr/>
          <p:nvPr/>
        </p:nvSpPr>
        <p:spPr>
          <a:xfrm>
            <a:off x="5453284" y="3031236"/>
            <a:ext cx="2936331" cy="42519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1200"/>
              <a:buFont typeface="Arial"/>
              <a:buNone/>
            </a:pPr>
            <a:r>
              <a:rPr b="1" i="0" lang="en" sz="1200" u="none" cap="none" strike="noStrike">
                <a:solidFill>
                  <a:srgbClr val="F4F6FA"/>
                </a:solidFill>
                <a:latin typeface="Arial"/>
                <a:ea typeface="Arial"/>
                <a:cs typeface="Arial"/>
                <a:sym typeface="Arial"/>
              </a:rPr>
              <a:t>Shipping end-to-end</a:t>
            </a:r>
            <a:endParaRPr b="0" i="0" sz="1200" u="none" cap="none" strike="noStrike">
              <a:solidFill>
                <a:schemeClr val="dk1"/>
              </a:solidFill>
              <a:latin typeface="Calibri"/>
              <a:ea typeface="Calibri"/>
              <a:cs typeface="Calibri"/>
              <a:sym typeface="Calibri"/>
            </a:endParaRPr>
          </a:p>
        </p:txBody>
      </p:sp>
      <p:sp>
        <p:nvSpPr>
          <p:cNvPr id="498" name="Google Shape;498;p40"/>
          <p:cNvSpPr/>
          <p:nvPr/>
        </p:nvSpPr>
        <p:spPr>
          <a:xfrm>
            <a:off x="4959495" y="3511296"/>
            <a:ext cx="3320390" cy="493776"/>
          </a:xfrm>
          <a:prstGeom prst="rect">
            <a:avLst/>
          </a:prstGeom>
          <a:noFill/>
          <a:ln>
            <a:noFill/>
          </a:ln>
        </p:spPr>
        <p:txBody>
          <a:bodyPr anchorCtr="0" anchor="t" bIns="34275" lIns="68575" spcFirstLastPara="1" rIns="68575" wrap="square" tIns="34275">
            <a:noAutofit/>
          </a:bodyPr>
          <a:lstStyle/>
          <a:p>
            <a:pPr indent="0" lvl="0" marL="0" marR="0" rtl="0" algn="l">
              <a:lnSpc>
                <a:spcPct val="138461"/>
              </a:lnSpc>
              <a:spcBef>
                <a:spcPts val="0"/>
              </a:spcBef>
              <a:spcAft>
                <a:spcPts val="0"/>
              </a:spcAft>
              <a:buClr>
                <a:srgbClr val="AEB6C4"/>
              </a:buClr>
              <a:buSzPts val="1000"/>
              <a:buFont typeface="Arial"/>
              <a:buNone/>
            </a:pPr>
            <a:r>
              <a:rPr b="0" i="0" lang="en" sz="1000" u="none" cap="none" strike="noStrike">
                <a:solidFill>
                  <a:srgbClr val="AEB6C4"/>
                </a:solidFill>
                <a:latin typeface="Arial"/>
                <a:ea typeface="Arial"/>
                <a:cs typeface="Arial"/>
                <a:sym typeface="Arial"/>
              </a:rPr>
              <a:t>Finishing is a skill. One small, ugly, working project teaches and signals more than ten brilliant unfinished ones.</a:t>
            </a:r>
            <a:endParaRPr b="0" i="0" sz="1000" u="none" cap="none" strike="noStrike">
              <a:solidFill>
                <a:schemeClr val="dk1"/>
              </a:solidFill>
              <a:latin typeface="Calibri"/>
              <a:ea typeface="Calibri"/>
              <a:cs typeface="Calibri"/>
              <a:sym typeface="Calibri"/>
            </a:endParaRPr>
          </a:p>
        </p:txBody>
      </p:sp>
      <p:sp>
        <p:nvSpPr>
          <p:cNvPr id="499" name="Google Shape;499;p40"/>
          <p:cNvSpPr/>
          <p:nvPr/>
        </p:nvSpPr>
        <p:spPr>
          <a:xfrm>
            <a:off x="630953" y="4217670"/>
            <a:ext cx="7882109" cy="411480"/>
          </a:xfrm>
          <a:prstGeom prst="rect">
            <a:avLst/>
          </a:prstGeom>
          <a:noFill/>
          <a:ln>
            <a:noFill/>
          </a:ln>
        </p:spPr>
        <p:txBody>
          <a:bodyPr anchorCtr="0" anchor="ctr" bIns="34275" lIns="68575" spcFirstLastPara="1" rIns="68575" wrap="square" tIns="34275">
            <a:noAutofit/>
          </a:bodyPr>
          <a:lstStyle/>
          <a:p>
            <a:pPr indent="0" lvl="0" marL="0" marR="0" rtl="0" algn="ctr">
              <a:lnSpc>
                <a:spcPct val="133333"/>
              </a:lnSpc>
              <a:spcBef>
                <a:spcPts val="0"/>
              </a:spcBef>
              <a:spcAft>
                <a:spcPts val="0"/>
              </a:spcAft>
              <a:buClr>
                <a:srgbClr val="6B7382"/>
              </a:buClr>
              <a:buSzPts val="1100"/>
              <a:buFont typeface="Arial"/>
              <a:buNone/>
            </a:pPr>
            <a:r>
              <a:rPr b="0" i="1" lang="en" sz="1100" u="none" cap="none" strike="noStrike">
                <a:solidFill>
                  <a:srgbClr val="6B7382"/>
                </a:solidFill>
                <a:latin typeface="Arial"/>
                <a:ea typeface="Arial"/>
                <a:cs typeface="Arial"/>
                <a:sym typeface="Arial"/>
              </a:rPr>
              <a:t>These compound. A little invested now is worth enormously more in ten years.</a:t>
            </a:r>
            <a:endParaRPr b="0" i="0" sz="1100" u="none" cap="none" strike="noStrike">
              <a:solidFill>
                <a:schemeClr val="dk1"/>
              </a:solidFill>
              <a:latin typeface="Calibri"/>
              <a:ea typeface="Calibri"/>
              <a:cs typeface="Calibri"/>
              <a:sym typeface="Calibri"/>
            </a:endParaRPr>
          </a:p>
        </p:txBody>
      </p:sp>
      <p:sp>
        <p:nvSpPr>
          <p:cNvPr id="500" name="Google Shape;500;p40"/>
          <p:cNvSpPr/>
          <p:nvPr/>
        </p:nvSpPr>
        <p:spPr>
          <a:xfrm>
            <a:off x="630953" y="4800600"/>
            <a:ext cx="411491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FROM CAMPUS TO STARTUP</a:t>
            </a:r>
            <a:endParaRPr b="0" i="0" sz="700" u="none" cap="none" strike="noStrike">
              <a:solidFill>
                <a:schemeClr val="dk1"/>
              </a:solidFill>
              <a:latin typeface="Calibri"/>
              <a:ea typeface="Calibri"/>
              <a:cs typeface="Calibri"/>
              <a:sym typeface="Calibri"/>
            </a:endParaRPr>
          </a:p>
        </p:txBody>
      </p:sp>
      <p:sp>
        <p:nvSpPr>
          <p:cNvPr id="501" name="Google Shape;501;p40"/>
          <p:cNvSpPr/>
          <p:nvPr/>
        </p:nvSpPr>
        <p:spPr>
          <a:xfrm>
            <a:off x="7964407" y="4800600"/>
            <a:ext cx="548655"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16</a:t>
            </a:r>
            <a:endParaRPr b="0" i="0" sz="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500"/>
                                        <p:tgtEl>
                                          <p:spTgt spid="47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78"/>
                                        </p:tgtEl>
                                        <p:attrNameLst>
                                          <p:attrName>style.visibility</p:attrName>
                                        </p:attrNameLst>
                                      </p:cBhvr>
                                      <p:to>
                                        <p:strVal val="visible"/>
                                      </p:to>
                                    </p:set>
                                    <p:animEffect filter="fade" transition="in">
                                      <p:cBhvr>
                                        <p:cTn dur="500"/>
                                        <p:tgtEl>
                                          <p:spTgt spid="47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79"/>
                                        </p:tgtEl>
                                        <p:attrNameLst>
                                          <p:attrName>style.visibility</p:attrName>
                                        </p:attrNameLst>
                                      </p:cBhvr>
                                      <p:to>
                                        <p:strVal val="visible"/>
                                      </p:to>
                                    </p:set>
                                    <p:animEffect filter="fade" transition="in">
                                      <p:cBhvr>
                                        <p:cTn dur="500"/>
                                        <p:tgtEl>
                                          <p:spTgt spid="47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81"/>
                                        </p:tgtEl>
                                        <p:attrNameLst>
                                          <p:attrName>style.visibility</p:attrName>
                                        </p:attrNameLst>
                                      </p:cBhvr>
                                      <p:to>
                                        <p:strVal val="visible"/>
                                      </p:to>
                                    </p:set>
                                    <p:animEffect filter="fade" transition="in">
                                      <p:cBhvr>
                                        <p:cTn dur="500"/>
                                        <p:tgtEl>
                                          <p:spTgt spid="48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82"/>
                                        </p:tgtEl>
                                        <p:attrNameLst>
                                          <p:attrName>style.visibility</p:attrName>
                                        </p:attrNameLst>
                                      </p:cBhvr>
                                      <p:to>
                                        <p:strVal val="visible"/>
                                      </p:to>
                                    </p:set>
                                    <p:animEffect filter="fade" transition="in">
                                      <p:cBhvr>
                                        <p:cTn dur="500"/>
                                        <p:tgtEl>
                                          <p:spTgt spid="482"/>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83"/>
                                        </p:tgtEl>
                                        <p:attrNameLst>
                                          <p:attrName>style.visibility</p:attrName>
                                        </p:attrNameLst>
                                      </p:cBhvr>
                                      <p:to>
                                        <p:strVal val="visible"/>
                                      </p:to>
                                    </p:set>
                                    <p:animEffect filter="fade" transition="in">
                                      <p:cBhvr>
                                        <p:cTn dur="500"/>
                                        <p:tgtEl>
                                          <p:spTgt spid="48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84"/>
                                        </p:tgtEl>
                                        <p:attrNameLst>
                                          <p:attrName>style.visibility</p:attrName>
                                        </p:attrNameLst>
                                      </p:cBhvr>
                                      <p:to>
                                        <p:strVal val="visible"/>
                                      </p:to>
                                    </p:set>
                                    <p:animEffect filter="fade" transition="in">
                                      <p:cBhvr>
                                        <p:cTn dur="500"/>
                                        <p:tgtEl>
                                          <p:spTgt spid="484"/>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86"/>
                                        </p:tgtEl>
                                        <p:attrNameLst>
                                          <p:attrName>style.visibility</p:attrName>
                                        </p:attrNameLst>
                                      </p:cBhvr>
                                      <p:to>
                                        <p:strVal val="visible"/>
                                      </p:to>
                                    </p:set>
                                    <p:animEffect filter="fade" transition="in">
                                      <p:cBhvr>
                                        <p:cTn dur="500"/>
                                        <p:tgtEl>
                                          <p:spTgt spid="486"/>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87"/>
                                        </p:tgtEl>
                                        <p:attrNameLst>
                                          <p:attrName>style.visibility</p:attrName>
                                        </p:attrNameLst>
                                      </p:cBhvr>
                                      <p:to>
                                        <p:strVal val="visible"/>
                                      </p:to>
                                    </p:set>
                                    <p:animEffect filter="fade" transition="in">
                                      <p:cBhvr>
                                        <p:cTn dur="500"/>
                                        <p:tgtEl>
                                          <p:spTgt spid="487"/>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500"/>
                                        <p:tgtEl>
                                          <p:spTgt spid="488"/>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489"/>
                                        </p:tgtEl>
                                        <p:attrNameLst>
                                          <p:attrName>style.visibility</p:attrName>
                                        </p:attrNameLst>
                                      </p:cBhvr>
                                      <p:to>
                                        <p:strVal val="visible"/>
                                      </p:to>
                                    </p:set>
                                    <p:animEffect filter="fade" transition="in">
                                      <p:cBhvr>
                                        <p:cTn dur="500"/>
                                        <p:tgtEl>
                                          <p:spTgt spid="489"/>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491"/>
                                        </p:tgtEl>
                                        <p:attrNameLst>
                                          <p:attrName>style.visibility</p:attrName>
                                        </p:attrNameLst>
                                      </p:cBhvr>
                                      <p:to>
                                        <p:strVal val="visible"/>
                                      </p:to>
                                    </p:set>
                                    <p:animEffect filter="fade" transition="in">
                                      <p:cBhvr>
                                        <p:cTn dur="500"/>
                                        <p:tgtEl>
                                          <p:spTgt spid="491"/>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492"/>
                                        </p:tgtEl>
                                        <p:attrNameLst>
                                          <p:attrName>style.visibility</p:attrName>
                                        </p:attrNameLst>
                                      </p:cBhvr>
                                      <p:to>
                                        <p:strVal val="visible"/>
                                      </p:to>
                                    </p:set>
                                    <p:animEffect filter="fade" transition="in">
                                      <p:cBhvr>
                                        <p:cTn dur="500"/>
                                        <p:tgtEl>
                                          <p:spTgt spid="492"/>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500"/>
                                        <p:tgtEl>
                                          <p:spTgt spid="493"/>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494"/>
                                        </p:tgtEl>
                                        <p:attrNameLst>
                                          <p:attrName>style.visibility</p:attrName>
                                        </p:attrNameLst>
                                      </p:cBhvr>
                                      <p:to>
                                        <p:strVal val="visible"/>
                                      </p:to>
                                    </p:set>
                                    <p:animEffect filter="fade" transition="in">
                                      <p:cBhvr>
                                        <p:cTn dur="500"/>
                                        <p:tgtEl>
                                          <p:spTgt spid="494"/>
                                        </p:tgtEl>
                                      </p:cBhvr>
                                    </p:animEffect>
                                  </p:childTnLst>
                                </p:cTn>
                              </p:par>
                            </p:childTnLst>
                          </p:cTn>
                        </p:par>
                        <p:par>
                          <p:cTn fill="hold">
                            <p:stCondLst>
                              <p:cond delay="7500"/>
                            </p:stCondLst>
                            <p:childTnLst>
                              <p:par>
                                <p:cTn fill="hold" nodeType="afterEffect" presetClass="entr" presetID="10" presetSubtype="0">
                                  <p:stCondLst>
                                    <p:cond delay="0"/>
                                  </p:stCondLst>
                                  <p:childTnLst>
                                    <p:set>
                                      <p:cBhvr>
                                        <p:cTn dur="1" fill="hold">
                                          <p:stCondLst>
                                            <p:cond delay="0"/>
                                          </p:stCondLst>
                                        </p:cTn>
                                        <p:tgtEl>
                                          <p:spTgt spid="496"/>
                                        </p:tgtEl>
                                        <p:attrNameLst>
                                          <p:attrName>style.visibility</p:attrName>
                                        </p:attrNameLst>
                                      </p:cBhvr>
                                      <p:to>
                                        <p:strVal val="visible"/>
                                      </p:to>
                                    </p:set>
                                    <p:animEffect filter="fade" transition="in">
                                      <p:cBhvr>
                                        <p:cTn dur="500"/>
                                        <p:tgtEl>
                                          <p:spTgt spid="496"/>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500"/>
                                        <p:tgtEl>
                                          <p:spTgt spid="497"/>
                                        </p:tgtEl>
                                      </p:cBhvr>
                                    </p:animEffect>
                                  </p:childTnLst>
                                </p:cTn>
                              </p:par>
                            </p:childTnLst>
                          </p:cTn>
                        </p:par>
                        <p:par>
                          <p:cTn fill="hold">
                            <p:stCondLst>
                              <p:cond delay="8500"/>
                            </p:stCondLst>
                            <p:childTnLst>
                              <p:par>
                                <p:cTn fill="hold" nodeType="afterEffect" presetClass="entr" presetID="10" presetSubtype="0">
                                  <p:stCondLst>
                                    <p:cond delay="0"/>
                                  </p:stCondLst>
                                  <p:childTnLst>
                                    <p:set>
                                      <p:cBhvr>
                                        <p:cTn dur="1" fill="hold">
                                          <p:stCondLst>
                                            <p:cond delay="0"/>
                                          </p:stCondLst>
                                        </p:cTn>
                                        <p:tgtEl>
                                          <p:spTgt spid="498"/>
                                        </p:tgtEl>
                                        <p:attrNameLst>
                                          <p:attrName>style.visibility</p:attrName>
                                        </p:attrNameLst>
                                      </p:cBhvr>
                                      <p:to>
                                        <p:strVal val="visible"/>
                                      </p:to>
                                    </p:set>
                                    <p:animEffect filter="fade" transition="in">
                                      <p:cBhvr>
                                        <p:cTn dur="500"/>
                                        <p:tgtEl>
                                          <p:spTgt spid="498"/>
                                        </p:tgtEl>
                                      </p:cBhvr>
                                    </p:animEffect>
                                  </p:childTnLst>
                                </p:cTn>
                              </p:par>
                            </p:childTnLst>
                          </p:cTn>
                        </p:par>
                        <p:par>
                          <p:cTn fill="hold">
                            <p:stCondLst>
                              <p:cond delay="9000"/>
                            </p:stCondLst>
                            <p:childTnLst>
                              <p:par>
                                <p:cTn fill="hold" nodeType="after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500"/>
                                        <p:tgtEl>
                                          <p:spTgt spid="499"/>
                                        </p:tgtEl>
                                      </p:cBhvr>
                                    </p:animEffect>
                                  </p:childTnLst>
                                </p:cTn>
                              </p:par>
                            </p:childTnLst>
                          </p:cTn>
                        </p:par>
                        <p:par>
                          <p:cTn fill="hold">
                            <p:stCondLst>
                              <p:cond delay="9500"/>
                            </p:stCondLst>
                            <p:childTnLst>
                              <p:par>
                                <p:cTn fill="hold" nodeType="afterEffect" presetClass="entr" presetID="10" presetSubtype="0">
                                  <p:stCondLst>
                                    <p:cond delay="0"/>
                                  </p:stCondLst>
                                  <p:childTnLst>
                                    <p:set>
                                      <p:cBhvr>
                                        <p:cTn dur="1" fill="hold">
                                          <p:stCondLst>
                                            <p:cond delay="0"/>
                                          </p:stCondLst>
                                        </p:cTn>
                                        <p:tgtEl>
                                          <p:spTgt spid="500"/>
                                        </p:tgtEl>
                                        <p:attrNameLst>
                                          <p:attrName>style.visibility</p:attrName>
                                        </p:attrNameLst>
                                      </p:cBhvr>
                                      <p:to>
                                        <p:strVal val="visible"/>
                                      </p:to>
                                    </p:set>
                                    <p:animEffect filter="fade" transition="in">
                                      <p:cBhvr>
                                        <p:cTn dur="500"/>
                                        <p:tgtEl>
                                          <p:spTgt spid="500"/>
                                        </p:tgtEl>
                                      </p:cBhvr>
                                    </p:animEffect>
                                  </p:childTnLst>
                                </p:cTn>
                              </p:par>
                            </p:childTnLst>
                          </p:cTn>
                        </p:par>
                        <p:par>
                          <p:cTn fill="hold">
                            <p:stCondLst>
                              <p:cond delay="10000"/>
                            </p:stCondLst>
                            <p:childTnLst>
                              <p:par>
                                <p:cTn fill="hold" nodeType="afterEffect" presetClass="entr" presetID="10" presetSubtype="0">
                                  <p:stCondLst>
                                    <p:cond delay="0"/>
                                  </p:stCondLst>
                                  <p:childTnLst>
                                    <p:set>
                                      <p:cBhvr>
                                        <p:cTn dur="1" fill="hold">
                                          <p:stCondLst>
                                            <p:cond delay="0"/>
                                          </p:stCondLst>
                                        </p:cTn>
                                        <p:tgtEl>
                                          <p:spTgt spid="501"/>
                                        </p:tgtEl>
                                        <p:attrNameLst>
                                          <p:attrName>style.visibility</p:attrName>
                                        </p:attrNameLst>
                                      </p:cBhvr>
                                      <p:to>
                                        <p:strVal val="visible"/>
                                      </p:to>
                                    </p:set>
                                    <p:animEffect filter="fade" transition="in">
                                      <p:cBhvr>
                                        <p:cTn dur="500"/>
                                        <p:tgtEl>
                                          <p:spTgt spid="5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B10"/>
        </a:solidFill>
      </p:bgPr>
    </p:bg>
    <p:spTree>
      <p:nvGrpSpPr>
        <p:cNvPr id="506" name="Shape 506"/>
        <p:cNvGrpSpPr/>
        <p:nvPr/>
      </p:nvGrpSpPr>
      <p:grpSpPr>
        <a:xfrm>
          <a:off x="0" y="0"/>
          <a:ext cx="0" cy="0"/>
          <a:chOff x="0" y="0"/>
          <a:chExt cx="0" cy="0"/>
        </a:xfrm>
      </p:grpSpPr>
      <p:sp>
        <p:nvSpPr>
          <p:cNvPr id="507" name="Google Shape;507;p41"/>
          <p:cNvSpPr/>
          <p:nvPr/>
        </p:nvSpPr>
        <p:spPr>
          <a:xfrm>
            <a:off x="-1783128" y="2263139"/>
            <a:ext cx="4800728" cy="480060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08" name="Google Shape;508;p41"/>
          <p:cNvSpPr/>
          <p:nvPr/>
        </p:nvSpPr>
        <p:spPr>
          <a:xfrm>
            <a:off x="-1111026" y="2935224"/>
            <a:ext cx="3456524" cy="3456432"/>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09" name="Google Shape;509;p41"/>
          <p:cNvSpPr/>
          <p:nvPr/>
        </p:nvSpPr>
        <p:spPr>
          <a:xfrm>
            <a:off x="630953" y="788670"/>
            <a:ext cx="2057455" cy="16459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430"/>
              </a:buClr>
              <a:buSzPts val="11300"/>
              <a:buFont typeface="Arial"/>
              <a:buNone/>
            </a:pPr>
            <a:r>
              <a:rPr b="1" i="0" lang="en" sz="11300" u="none" cap="none" strike="noStrike">
                <a:solidFill>
                  <a:srgbClr val="1F2430"/>
                </a:solidFill>
                <a:latin typeface="Arial"/>
                <a:ea typeface="Arial"/>
                <a:cs typeface="Arial"/>
                <a:sym typeface="Arial"/>
              </a:rPr>
              <a:t>09</a:t>
            </a:r>
            <a:endParaRPr b="0" i="0" sz="11300" u="none" cap="none" strike="noStrike">
              <a:solidFill>
                <a:schemeClr val="dk1"/>
              </a:solidFill>
              <a:latin typeface="Calibri"/>
              <a:ea typeface="Calibri"/>
              <a:cs typeface="Calibri"/>
              <a:sym typeface="Calibri"/>
            </a:endParaRPr>
          </a:p>
        </p:txBody>
      </p:sp>
      <p:sp>
        <p:nvSpPr>
          <p:cNvPr id="510" name="Google Shape;510;p41"/>
          <p:cNvSpPr/>
          <p:nvPr/>
        </p:nvSpPr>
        <p:spPr>
          <a:xfrm>
            <a:off x="658386" y="2482595"/>
            <a:ext cx="6858183"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CAREERS FOR THE FUTURE</a:t>
            </a:r>
            <a:endParaRPr b="0" i="0" sz="1000" u="none" cap="none" strike="noStrike">
              <a:solidFill>
                <a:schemeClr val="dk1"/>
              </a:solidFill>
              <a:latin typeface="Calibri"/>
              <a:ea typeface="Calibri"/>
              <a:cs typeface="Calibri"/>
              <a:sym typeface="Calibri"/>
            </a:endParaRPr>
          </a:p>
        </p:txBody>
      </p:sp>
      <p:sp>
        <p:nvSpPr>
          <p:cNvPr id="511" name="Google Shape;511;p41"/>
          <p:cNvSpPr/>
          <p:nvPr/>
        </p:nvSpPr>
        <p:spPr>
          <a:xfrm>
            <a:off x="630953" y="2729484"/>
            <a:ext cx="7269674" cy="1068324"/>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4F6FA"/>
              </a:buClr>
              <a:buSzPts val="3500"/>
              <a:buFont typeface="Arial"/>
              <a:buNone/>
            </a:pPr>
            <a:r>
              <a:rPr b="1" i="0" lang="en" sz="3500" u="none" cap="none" strike="noStrike">
                <a:solidFill>
                  <a:srgbClr val="F4F6FA"/>
                </a:solidFill>
                <a:latin typeface="Arial"/>
                <a:ea typeface="Arial"/>
                <a:cs typeface="Arial"/>
                <a:sym typeface="Arial"/>
              </a:rPr>
              <a:t>Building a career</a:t>
            </a:r>
            <a:endParaRPr b="0" i="0" sz="3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4F6FA"/>
              </a:buClr>
              <a:buSzPts val="3500"/>
              <a:buFont typeface="Arial"/>
              <a:buNone/>
            </a:pPr>
            <a:r>
              <a:rPr b="1" i="0" lang="en" sz="3500" u="none" cap="none" strike="noStrike">
                <a:solidFill>
                  <a:srgbClr val="F4F6FA"/>
                </a:solidFill>
                <a:latin typeface="Arial"/>
                <a:ea typeface="Arial"/>
                <a:cs typeface="Arial"/>
                <a:sym typeface="Arial"/>
              </a:rPr>
              <a:t>in the AI era</a:t>
            </a:r>
            <a:endParaRPr b="0" i="0" sz="3500" u="none" cap="none" strike="noStrike">
              <a:solidFill>
                <a:schemeClr val="dk1"/>
              </a:solidFill>
              <a:latin typeface="Calibri"/>
              <a:ea typeface="Calibri"/>
              <a:cs typeface="Calibri"/>
              <a:sym typeface="Calibri"/>
            </a:endParaRPr>
          </a:p>
        </p:txBody>
      </p:sp>
      <p:sp>
        <p:nvSpPr>
          <p:cNvPr id="512" name="Google Shape;512;p41"/>
          <p:cNvSpPr/>
          <p:nvPr/>
        </p:nvSpPr>
        <p:spPr>
          <a:xfrm>
            <a:off x="630953" y="3880104"/>
            <a:ext cx="6721019"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44444"/>
              </a:lnSpc>
              <a:spcBef>
                <a:spcPts val="0"/>
              </a:spcBef>
              <a:spcAft>
                <a:spcPts val="0"/>
              </a:spcAft>
              <a:buClr>
                <a:srgbClr val="AEB6C4"/>
              </a:buClr>
              <a:buSzPts val="1400"/>
              <a:buFont typeface="Arial"/>
              <a:buNone/>
            </a:pPr>
            <a:r>
              <a:rPr b="0" i="0" lang="en" sz="1400" u="none" cap="none" strike="noStrike">
                <a:solidFill>
                  <a:srgbClr val="AEB6C4"/>
                </a:solidFill>
                <a:latin typeface="Arial"/>
                <a:ea typeface="Arial"/>
                <a:cs typeface="Arial"/>
                <a:sym typeface="Arial"/>
              </a:rPr>
              <a:t>The most common question in this room right now: does AI make my degree worthless? </a:t>
            </a:r>
            <a:r>
              <a:rPr b="1" i="0" lang="en" sz="1400" u="none" cap="none" strike="noStrike">
                <a:solidFill>
                  <a:srgbClr val="AEB6C4"/>
                </a:solidFill>
                <a:latin typeface="Arial"/>
                <a:ea typeface="Arial"/>
                <a:cs typeface="Arial"/>
                <a:sym typeface="Arial"/>
              </a:rPr>
              <a:t>Short answer: No</a:t>
            </a:r>
            <a:r>
              <a:rPr b="0" i="0" lang="en" sz="1400" u="none" cap="none" strike="noStrike">
                <a:solidFill>
                  <a:srgbClr val="AEB6C4"/>
                </a:solidFill>
                <a:latin typeface="Arial"/>
                <a:ea typeface="Arial"/>
                <a:cs typeface="Arial"/>
                <a:sym typeface="Arial"/>
              </a:rPr>
              <a:t>. Long answer, this section.</a:t>
            </a:r>
            <a:endParaRPr b="0" i="0" sz="14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500"/>
                                        <p:tgtEl>
                                          <p:spTgt spid="50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500"/>
                                        <p:tgtEl>
                                          <p:spTgt spid="51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11"/>
                                        </p:tgtEl>
                                        <p:attrNameLst>
                                          <p:attrName>style.visibility</p:attrName>
                                        </p:attrNameLst>
                                      </p:cBhvr>
                                      <p:to>
                                        <p:strVal val="visible"/>
                                      </p:to>
                                    </p:set>
                                    <p:animEffect filter="fade" transition="in">
                                      <p:cBhvr>
                                        <p:cTn dur="500"/>
                                        <p:tgtEl>
                                          <p:spTgt spid="51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12"/>
                                        </p:tgtEl>
                                        <p:attrNameLst>
                                          <p:attrName>style.visibility</p:attrName>
                                        </p:attrNameLst>
                                      </p:cBhvr>
                                      <p:to>
                                        <p:strVal val="visible"/>
                                      </p:to>
                                    </p:set>
                                    <p:animEffect filter="fade" transition="in">
                                      <p:cBhvr>
                                        <p:cTn dur="500"/>
                                        <p:tgtEl>
                                          <p:spTgt spid="5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117"/>
        </a:solidFill>
      </p:bgPr>
    </p:bg>
    <p:spTree>
      <p:nvGrpSpPr>
        <p:cNvPr id="517" name="Shape 517"/>
        <p:cNvGrpSpPr/>
        <p:nvPr/>
      </p:nvGrpSpPr>
      <p:grpSpPr>
        <a:xfrm>
          <a:off x="0" y="0"/>
          <a:ext cx="0" cy="0"/>
          <a:chOff x="0" y="0"/>
          <a:chExt cx="0" cy="0"/>
        </a:xfrm>
      </p:grpSpPr>
      <p:sp>
        <p:nvSpPr>
          <p:cNvPr id="518" name="Google Shape;518;p42"/>
          <p:cNvSpPr/>
          <p:nvPr/>
        </p:nvSpPr>
        <p:spPr>
          <a:xfrm>
            <a:off x="7086559" y="-1234440"/>
            <a:ext cx="3703419" cy="370332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9" name="Google Shape;519;p42"/>
          <p:cNvSpPr/>
          <p:nvPr/>
        </p:nvSpPr>
        <p:spPr>
          <a:xfrm>
            <a:off x="7605039" y="-715975"/>
            <a:ext cx="2666461" cy="2666390"/>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0" name="Google Shape;520;p42"/>
          <p:cNvSpPr/>
          <p:nvPr/>
        </p:nvSpPr>
        <p:spPr>
          <a:xfrm>
            <a:off x="630953" y="617220"/>
            <a:ext cx="7882109" cy="23317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THE REFRAME</a:t>
            </a:r>
            <a:endParaRPr b="0" i="0" sz="1000" u="none" cap="none" strike="noStrike">
              <a:solidFill>
                <a:schemeClr val="dk1"/>
              </a:solidFill>
              <a:latin typeface="Calibri"/>
              <a:ea typeface="Calibri"/>
              <a:cs typeface="Calibri"/>
              <a:sym typeface="Calibri"/>
            </a:endParaRPr>
          </a:p>
        </p:txBody>
      </p:sp>
      <p:sp>
        <p:nvSpPr>
          <p:cNvPr id="521" name="Google Shape;521;p42"/>
          <p:cNvSpPr/>
          <p:nvPr/>
        </p:nvSpPr>
        <p:spPr>
          <a:xfrm>
            <a:off x="630953" y="1371600"/>
            <a:ext cx="7607782" cy="2297430"/>
          </a:xfrm>
          <a:prstGeom prst="rect">
            <a:avLst/>
          </a:prstGeom>
          <a:noFill/>
          <a:ln>
            <a:noFill/>
          </a:ln>
        </p:spPr>
        <p:txBody>
          <a:bodyPr anchorCtr="0" anchor="t" bIns="34275" lIns="68575" spcFirstLastPara="1" rIns="68575" wrap="square" tIns="34275">
            <a:noAutofit/>
          </a:bodyPr>
          <a:lstStyle/>
          <a:p>
            <a:pPr indent="0" lvl="0" marL="0" marR="0" rtl="0" algn="l">
              <a:lnSpc>
                <a:spcPct val="108000"/>
              </a:lnSpc>
              <a:spcBef>
                <a:spcPts val="0"/>
              </a:spcBef>
              <a:spcAft>
                <a:spcPts val="0"/>
              </a:spcAft>
              <a:buClr>
                <a:srgbClr val="F4F6FA"/>
              </a:buClr>
              <a:buSzPts val="3800"/>
              <a:buFont typeface="Arial"/>
              <a:buNone/>
            </a:pPr>
            <a:r>
              <a:rPr b="1" i="0" lang="en" sz="3800" u="none" cap="none" strike="noStrike">
                <a:solidFill>
                  <a:srgbClr val="F4F6FA"/>
                </a:solidFill>
                <a:latin typeface="Arial"/>
                <a:ea typeface="Arial"/>
                <a:cs typeface="Arial"/>
                <a:sym typeface="Arial"/>
              </a:rPr>
              <a:t>AI raises the floor,</a:t>
            </a:r>
            <a:br>
              <a:rPr b="1" i="0" lang="en" sz="3800" u="none" cap="none" strike="noStrike">
                <a:solidFill>
                  <a:srgbClr val="F4F6FA"/>
                </a:solidFill>
                <a:latin typeface="Arial"/>
                <a:ea typeface="Arial"/>
                <a:cs typeface="Arial"/>
                <a:sym typeface="Arial"/>
              </a:rPr>
            </a:br>
            <a:r>
              <a:rPr b="1" i="0" lang="en" sz="3800" u="none" cap="none" strike="noStrike">
                <a:solidFill>
                  <a:srgbClr val="F59E0B"/>
                </a:solidFill>
                <a:latin typeface="Arial"/>
                <a:ea typeface="Arial"/>
                <a:cs typeface="Arial"/>
                <a:sym typeface="Arial"/>
              </a:rPr>
              <a:t>not the ceiling.</a:t>
            </a:r>
            <a:endParaRPr b="0" i="0" sz="3800" u="none" cap="none" strike="noStrike">
              <a:solidFill>
                <a:schemeClr val="dk1"/>
              </a:solidFill>
              <a:latin typeface="Calibri"/>
              <a:ea typeface="Calibri"/>
              <a:cs typeface="Calibri"/>
              <a:sym typeface="Calibri"/>
            </a:endParaRPr>
          </a:p>
        </p:txBody>
      </p:sp>
      <p:sp>
        <p:nvSpPr>
          <p:cNvPr id="522" name="Google Shape;522;p42"/>
          <p:cNvSpPr/>
          <p:nvPr/>
        </p:nvSpPr>
        <p:spPr>
          <a:xfrm>
            <a:off x="630953" y="3840480"/>
            <a:ext cx="6721019" cy="754380"/>
          </a:xfrm>
          <a:prstGeom prst="rect">
            <a:avLst/>
          </a:prstGeom>
          <a:noFill/>
          <a:ln>
            <a:noFill/>
          </a:ln>
        </p:spPr>
        <p:txBody>
          <a:bodyPr anchorCtr="0" anchor="ctr" bIns="34275" lIns="68575" spcFirstLastPara="1" rIns="68575" wrap="square" tIns="34275">
            <a:noAutofit/>
          </a:bodyPr>
          <a:lstStyle/>
          <a:p>
            <a:pPr indent="0" lvl="0" marL="0" marR="0" rtl="0" algn="l">
              <a:lnSpc>
                <a:spcPct val="142105"/>
              </a:lnSpc>
              <a:spcBef>
                <a:spcPts val="0"/>
              </a:spcBef>
              <a:spcAft>
                <a:spcPts val="0"/>
              </a:spcAft>
              <a:buClr>
                <a:srgbClr val="AEB6C4"/>
              </a:buClr>
              <a:buSzPts val="1400"/>
              <a:buFont typeface="Arial"/>
              <a:buNone/>
            </a:pPr>
            <a:r>
              <a:rPr b="0" i="0" lang="en" sz="1400" u="none" cap="none" strike="noStrike">
                <a:solidFill>
                  <a:srgbClr val="AEB6C4"/>
                </a:solidFill>
                <a:latin typeface="Arial"/>
                <a:ea typeface="Arial"/>
                <a:cs typeface="Arial"/>
                <a:sym typeface="Arial"/>
              </a:rPr>
              <a:t>Boilerplate is becoming free. What gets scarcer and more valuable is judgment: knowing what to build, and whether what got built is right.</a:t>
            </a:r>
            <a:endParaRPr b="0" i="0" sz="1400" u="none" cap="none" strike="noStrike">
              <a:solidFill>
                <a:schemeClr val="dk1"/>
              </a:solidFill>
              <a:latin typeface="Calibri"/>
              <a:ea typeface="Calibri"/>
              <a:cs typeface="Calibri"/>
              <a:sym typeface="Calibri"/>
            </a:endParaRPr>
          </a:p>
        </p:txBody>
      </p:sp>
      <p:sp>
        <p:nvSpPr>
          <p:cNvPr id="523" name="Google Shape;523;p42"/>
          <p:cNvSpPr/>
          <p:nvPr/>
        </p:nvSpPr>
        <p:spPr>
          <a:xfrm>
            <a:off x="630953" y="4800600"/>
            <a:ext cx="411491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FROM CAMPUS TO STARTUP</a:t>
            </a:r>
            <a:endParaRPr b="0" i="0" sz="700" u="none" cap="none" strike="noStrike">
              <a:solidFill>
                <a:schemeClr val="dk1"/>
              </a:solidFill>
              <a:latin typeface="Calibri"/>
              <a:ea typeface="Calibri"/>
              <a:cs typeface="Calibri"/>
              <a:sym typeface="Calibri"/>
            </a:endParaRPr>
          </a:p>
        </p:txBody>
      </p:sp>
      <p:sp>
        <p:nvSpPr>
          <p:cNvPr id="524" name="Google Shape;524;p42"/>
          <p:cNvSpPr/>
          <p:nvPr/>
        </p:nvSpPr>
        <p:spPr>
          <a:xfrm>
            <a:off x="7964407" y="4800600"/>
            <a:ext cx="548655"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17</a:t>
            </a:r>
            <a:endParaRPr b="0" i="0" sz="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20"/>
                                        </p:tgtEl>
                                        <p:attrNameLst>
                                          <p:attrName>style.visibility</p:attrName>
                                        </p:attrNameLst>
                                      </p:cBhvr>
                                      <p:to>
                                        <p:strVal val="visible"/>
                                      </p:to>
                                    </p:set>
                                    <p:animEffect filter="fade" transition="in">
                                      <p:cBhvr>
                                        <p:cTn dur="500"/>
                                        <p:tgtEl>
                                          <p:spTgt spid="52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21"/>
                                        </p:tgtEl>
                                        <p:attrNameLst>
                                          <p:attrName>style.visibility</p:attrName>
                                        </p:attrNameLst>
                                      </p:cBhvr>
                                      <p:to>
                                        <p:strVal val="visible"/>
                                      </p:to>
                                    </p:set>
                                    <p:animEffect filter="fade" transition="in">
                                      <p:cBhvr>
                                        <p:cTn dur="500"/>
                                        <p:tgtEl>
                                          <p:spTgt spid="52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22"/>
                                        </p:tgtEl>
                                        <p:attrNameLst>
                                          <p:attrName>style.visibility</p:attrName>
                                        </p:attrNameLst>
                                      </p:cBhvr>
                                      <p:to>
                                        <p:strVal val="visible"/>
                                      </p:to>
                                    </p:set>
                                    <p:animEffect filter="fade" transition="in">
                                      <p:cBhvr>
                                        <p:cTn dur="500"/>
                                        <p:tgtEl>
                                          <p:spTgt spid="52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23"/>
                                        </p:tgtEl>
                                        <p:attrNameLst>
                                          <p:attrName>style.visibility</p:attrName>
                                        </p:attrNameLst>
                                      </p:cBhvr>
                                      <p:to>
                                        <p:strVal val="visible"/>
                                      </p:to>
                                    </p:set>
                                    <p:animEffect filter="fade" transition="in">
                                      <p:cBhvr>
                                        <p:cTn dur="500"/>
                                        <p:tgtEl>
                                          <p:spTgt spid="52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24"/>
                                        </p:tgtEl>
                                        <p:attrNameLst>
                                          <p:attrName>style.visibility</p:attrName>
                                        </p:attrNameLst>
                                      </p:cBhvr>
                                      <p:to>
                                        <p:strVal val="visible"/>
                                      </p:to>
                                    </p:set>
                                    <p:animEffect filter="fade" transition="in">
                                      <p:cBhvr>
                                        <p:cTn dur="500"/>
                                        <p:tgtEl>
                                          <p:spTgt spid="5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117"/>
        </a:solidFill>
      </p:bgPr>
    </p:bg>
    <p:spTree>
      <p:nvGrpSpPr>
        <p:cNvPr id="529" name="Shape 529"/>
        <p:cNvGrpSpPr/>
        <p:nvPr/>
      </p:nvGrpSpPr>
      <p:grpSpPr>
        <a:xfrm>
          <a:off x="0" y="0"/>
          <a:ext cx="0" cy="0"/>
          <a:chOff x="0" y="0"/>
          <a:chExt cx="0" cy="0"/>
        </a:xfrm>
      </p:grpSpPr>
      <p:sp>
        <p:nvSpPr>
          <p:cNvPr id="530" name="Google Shape;530;p43"/>
          <p:cNvSpPr/>
          <p:nvPr/>
        </p:nvSpPr>
        <p:spPr>
          <a:xfrm>
            <a:off x="630953" y="425196"/>
            <a:ext cx="7882109" cy="23317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HOW TO WIN IN THE AI ERA</a:t>
            </a:r>
            <a:endParaRPr b="0" i="0" sz="1000" u="none" cap="none" strike="noStrike">
              <a:solidFill>
                <a:schemeClr val="dk1"/>
              </a:solidFill>
              <a:latin typeface="Calibri"/>
              <a:ea typeface="Calibri"/>
              <a:cs typeface="Calibri"/>
              <a:sym typeface="Calibri"/>
            </a:endParaRPr>
          </a:p>
        </p:txBody>
      </p:sp>
      <p:sp>
        <p:nvSpPr>
          <p:cNvPr id="531" name="Google Shape;531;p43"/>
          <p:cNvSpPr/>
          <p:nvPr/>
        </p:nvSpPr>
        <p:spPr>
          <a:xfrm>
            <a:off x="630953" y="685800"/>
            <a:ext cx="7882109" cy="5829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2300"/>
              <a:buFont typeface="Arial"/>
              <a:buNone/>
            </a:pPr>
            <a:r>
              <a:rPr b="1" i="0" lang="en" sz="2300" u="none" cap="none" strike="noStrike">
                <a:solidFill>
                  <a:srgbClr val="F4F6FA"/>
                </a:solidFill>
                <a:latin typeface="Arial"/>
                <a:ea typeface="Arial"/>
                <a:cs typeface="Arial"/>
                <a:sym typeface="Arial"/>
              </a:rPr>
              <a:t>Four moves</a:t>
            </a:r>
            <a:endParaRPr b="0" i="0" sz="2300" u="none" cap="none" strike="noStrike">
              <a:solidFill>
                <a:schemeClr val="dk1"/>
              </a:solidFill>
              <a:latin typeface="Calibri"/>
              <a:ea typeface="Calibri"/>
              <a:cs typeface="Calibri"/>
              <a:sym typeface="Calibri"/>
            </a:endParaRPr>
          </a:p>
        </p:txBody>
      </p:sp>
      <p:sp>
        <p:nvSpPr>
          <p:cNvPr id="532" name="Google Shape;532;p43"/>
          <p:cNvSpPr/>
          <p:nvPr/>
        </p:nvSpPr>
        <p:spPr>
          <a:xfrm>
            <a:off x="630950" y="1316724"/>
            <a:ext cx="3786600" cy="1321500"/>
          </a:xfrm>
          <a:prstGeom prst="roundRect">
            <a:avLst>
              <a:gd fmla="val 5435"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3" name="Google Shape;533;p43"/>
          <p:cNvSpPr/>
          <p:nvPr/>
        </p:nvSpPr>
        <p:spPr>
          <a:xfrm>
            <a:off x="836698" y="1522476"/>
            <a:ext cx="397775" cy="397764"/>
          </a:xfrm>
          <a:prstGeom prst="ellipse">
            <a:avLst/>
          </a:prstGeom>
          <a:solidFill>
            <a:srgbClr val="3A2A12"/>
          </a:solidFill>
          <a:ln cap="flat" cmpd="sng" w="12700">
            <a:solidFill>
              <a:srgbClr val="B4530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4" name="Google Shape;534;p43"/>
          <p:cNvSpPr/>
          <p:nvPr/>
        </p:nvSpPr>
        <p:spPr>
          <a:xfrm>
            <a:off x="836698" y="1522476"/>
            <a:ext cx="397775" cy="39776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01</a:t>
            </a:r>
            <a:endParaRPr b="0" i="0" sz="1000" u="none" cap="none" strike="noStrike">
              <a:solidFill>
                <a:schemeClr val="dk1"/>
              </a:solidFill>
              <a:latin typeface="Calibri"/>
              <a:ea typeface="Calibri"/>
              <a:cs typeface="Calibri"/>
              <a:sym typeface="Calibri"/>
            </a:endParaRPr>
          </a:p>
        </p:txBody>
      </p:sp>
      <p:sp>
        <p:nvSpPr>
          <p:cNvPr id="535" name="Google Shape;535;p43"/>
          <p:cNvSpPr/>
          <p:nvPr/>
        </p:nvSpPr>
        <p:spPr>
          <a:xfrm>
            <a:off x="1357920" y="1508760"/>
            <a:ext cx="2936331" cy="42519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1200"/>
              <a:buFont typeface="Arial"/>
              <a:buNone/>
            </a:pPr>
            <a:r>
              <a:rPr b="1" i="0" lang="en" sz="1200" u="none" cap="none" strike="noStrike">
                <a:solidFill>
                  <a:srgbClr val="F4F6FA"/>
                </a:solidFill>
                <a:latin typeface="Arial"/>
                <a:ea typeface="Arial"/>
                <a:cs typeface="Arial"/>
                <a:sym typeface="Arial"/>
              </a:rPr>
              <a:t>Taste becomes the differentiator</a:t>
            </a:r>
            <a:endParaRPr b="0" i="0" sz="1200" u="none" cap="none" strike="noStrike">
              <a:solidFill>
                <a:schemeClr val="dk1"/>
              </a:solidFill>
              <a:latin typeface="Calibri"/>
              <a:ea typeface="Calibri"/>
              <a:cs typeface="Calibri"/>
              <a:sym typeface="Calibri"/>
            </a:endParaRPr>
          </a:p>
        </p:txBody>
      </p:sp>
      <p:sp>
        <p:nvSpPr>
          <p:cNvPr id="536" name="Google Shape;536;p43"/>
          <p:cNvSpPr/>
          <p:nvPr/>
        </p:nvSpPr>
        <p:spPr>
          <a:xfrm>
            <a:off x="864131" y="1988820"/>
            <a:ext cx="3320390" cy="493776"/>
          </a:xfrm>
          <a:prstGeom prst="rect">
            <a:avLst/>
          </a:prstGeom>
          <a:noFill/>
          <a:ln>
            <a:noFill/>
          </a:ln>
        </p:spPr>
        <p:txBody>
          <a:bodyPr anchorCtr="0" anchor="t" bIns="34275" lIns="68575" spcFirstLastPara="1" rIns="68575" wrap="square" tIns="34275">
            <a:noAutofit/>
          </a:bodyPr>
          <a:lstStyle/>
          <a:p>
            <a:pPr indent="0" lvl="0" marL="0" marR="0" rtl="0" algn="l">
              <a:lnSpc>
                <a:spcPct val="138461"/>
              </a:lnSpc>
              <a:spcBef>
                <a:spcPts val="0"/>
              </a:spcBef>
              <a:spcAft>
                <a:spcPts val="0"/>
              </a:spcAft>
              <a:buClr>
                <a:srgbClr val="AEB6C4"/>
              </a:buClr>
              <a:buSzPts val="1000"/>
              <a:buFont typeface="Arial"/>
              <a:buNone/>
            </a:pPr>
            <a:r>
              <a:rPr b="0" i="0" lang="en" sz="1000" u="none" cap="none" strike="noStrike">
                <a:solidFill>
                  <a:srgbClr val="AEB6C4"/>
                </a:solidFill>
                <a:latin typeface="Arial"/>
                <a:ea typeface="Arial"/>
                <a:cs typeface="Arial"/>
                <a:sym typeface="Arial"/>
              </a:rPr>
              <a:t>When everyone can generate ten options, the person who picks the right one wins. Taste comes from studying great products and shipping bad ones.</a:t>
            </a:r>
            <a:endParaRPr b="0" i="0" sz="1000" u="none" cap="none" strike="noStrike">
              <a:solidFill>
                <a:schemeClr val="dk1"/>
              </a:solidFill>
              <a:latin typeface="Calibri"/>
              <a:ea typeface="Calibri"/>
              <a:cs typeface="Calibri"/>
              <a:sym typeface="Calibri"/>
            </a:endParaRPr>
          </a:p>
        </p:txBody>
      </p:sp>
      <p:sp>
        <p:nvSpPr>
          <p:cNvPr id="537" name="Google Shape;537;p43"/>
          <p:cNvSpPr/>
          <p:nvPr/>
        </p:nvSpPr>
        <p:spPr>
          <a:xfrm>
            <a:off x="4726475" y="1316725"/>
            <a:ext cx="3786600" cy="1321500"/>
          </a:xfrm>
          <a:prstGeom prst="roundRect">
            <a:avLst>
              <a:gd fmla="val 5435"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8" name="Google Shape;538;p43"/>
          <p:cNvSpPr/>
          <p:nvPr/>
        </p:nvSpPr>
        <p:spPr>
          <a:xfrm>
            <a:off x="4932062" y="1522476"/>
            <a:ext cx="397775" cy="397764"/>
          </a:xfrm>
          <a:prstGeom prst="ellipse">
            <a:avLst/>
          </a:prstGeom>
          <a:solidFill>
            <a:srgbClr val="3A2A12"/>
          </a:solidFill>
          <a:ln cap="flat" cmpd="sng" w="12700">
            <a:solidFill>
              <a:srgbClr val="B4530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9" name="Google Shape;539;p43"/>
          <p:cNvSpPr/>
          <p:nvPr/>
        </p:nvSpPr>
        <p:spPr>
          <a:xfrm>
            <a:off x="4932062" y="1522476"/>
            <a:ext cx="397775" cy="39776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02</a:t>
            </a:r>
            <a:endParaRPr b="0" i="0" sz="1000" u="none" cap="none" strike="noStrike">
              <a:solidFill>
                <a:schemeClr val="dk1"/>
              </a:solidFill>
              <a:latin typeface="Calibri"/>
              <a:ea typeface="Calibri"/>
              <a:cs typeface="Calibri"/>
              <a:sym typeface="Calibri"/>
            </a:endParaRPr>
          </a:p>
        </p:txBody>
      </p:sp>
      <p:sp>
        <p:nvSpPr>
          <p:cNvPr id="540" name="Google Shape;540;p43"/>
          <p:cNvSpPr/>
          <p:nvPr/>
        </p:nvSpPr>
        <p:spPr>
          <a:xfrm>
            <a:off x="5453284" y="1508760"/>
            <a:ext cx="2936331" cy="42519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1200"/>
              <a:buFont typeface="Arial"/>
              <a:buNone/>
            </a:pPr>
            <a:r>
              <a:rPr b="1" i="0" lang="en" sz="1200" u="none" cap="none" strike="noStrike">
                <a:solidFill>
                  <a:srgbClr val="F4F6FA"/>
                </a:solidFill>
                <a:latin typeface="Arial"/>
                <a:ea typeface="Arial"/>
                <a:cs typeface="Arial"/>
                <a:sym typeface="Arial"/>
              </a:rPr>
              <a:t>Use AI as a senior colleague</a:t>
            </a:r>
            <a:endParaRPr b="0" i="0" sz="1200" u="none" cap="none" strike="noStrike">
              <a:solidFill>
                <a:schemeClr val="dk1"/>
              </a:solidFill>
              <a:latin typeface="Calibri"/>
              <a:ea typeface="Calibri"/>
              <a:cs typeface="Calibri"/>
              <a:sym typeface="Calibri"/>
            </a:endParaRPr>
          </a:p>
        </p:txBody>
      </p:sp>
      <p:sp>
        <p:nvSpPr>
          <p:cNvPr id="541" name="Google Shape;541;p43"/>
          <p:cNvSpPr/>
          <p:nvPr/>
        </p:nvSpPr>
        <p:spPr>
          <a:xfrm>
            <a:off x="4959495" y="1988820"/>
            <a:ext cx="3320390" cy="493776"/>
          </a:xfrm>
          <a:prstGeom prst="rect">
            <a:avLst/>
          </a:prstGeom>
          <a:noFill/>
          <a:ln>
            <a:noFill/>
          </a:ln>
        </p:spPr>
        <p:txBody>
          <a:bodyPr anchorCtr="0" anchor="t" bIns="34275" lIns="68575" spcFirstLastPara="1" rIns="68575" wrap="square" tIns="34275">
            <a:noAutofit/>
          </a:bodyPr>
          <a:lstStyle/>
          <a:p>
            <a:pPr indent="0" lvl="0" marL="0" marR="0" rtl="0" algn="l">
              <a:lnSpc>
                <a:spcPct val="138461"/>
              </a:lnSpc>
              <a:spcBef>
                <a:spcPts val="0"/>
              </a:spcBef>
              <a:spcAft>
                <a:spcPts val="0"/>
              </a:spcAft>
              <a:buClr>
                <a:srgbClr val="AEB6C4"/>
              </a:buClr>
              <a:buSzPts val="1000"/>
              <a:buFont typeface="Arial"/>
              <a:buNone/>
            </a:pPr>
            <a:r>
              <a:rPr b="0" i="0" lang="en" sz="1000" u="none" cap="none" strike="noStrike">
                <a:solidFill>
                  <a:srgbClr val="AEB6C4"/>
                </a:solidFill>
                <a:latin typeface="Arial"/>
                <a:ea typeface="Arial"/>
                <a:cs typeface="Arial"/>
                <a:sym typeface="Arial"/>
              </a:rPr>
              <a:t>Learn with it, review its work, question it don't copy-paste blindly. Master AI-assisted building and you'll out-ship whole teams.</a:t>
            </a:r>
            <a:endParaRPr b="0" i="0" sz="1000" u="none" cap="none" strike="noStrike">
              <a:solidFill>
                <a:schemeClr val="dk1"/>
              </a:solidFill>
              <a:latin typeface="Calibri"/>
              <a:ea typeface="Calibri"/>
              <a:cs typeface="Calibri"/>
              <a:sym typeface="Calibri"/>
            </a:endParaRPr>
          </a:p>
        </p:txBody>
      </p:sp>
      <p:sp>
        <p:nvSpPr>
          <p:cNvPr id="542" name="Google Shape;542;p43"/>
          <p:cNvSpPr/>
          <p:nvPr/>
        </p:nvSpPr>
        <p:spPr>
          <a:xfrm>
            <a:off x="630950" y="2839199"/>
            <a:ext cx="3786900" cy="1321500"/>
          </a:xfrm>
          <a:prstGeom prst="roundRect">
            <a:avLst>
              <a:gd fmla="val 5435"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3" name="Google Shape;543;p43"/>
          <p:cNvSpPr/>
          <p:nvPr/>
        </p:nvSpPr>
        <p:spPr>
          <a:xfrm>
            <a:off x="836698" y="3044952"/>
            <a:ext cx="397775" cy="397764"/>
          </a:xfrm>
          <a:prstGeom prst="ellipse">
            <a:avLst/>
          </a:prstGeom>
          <a:solidFill>
            <a:srgbClr val="3A2A12"/>
          </a:solidFill>
          <a:ln cap="flat" cmpd="sng" w="12700">
            <a:solidFill>
              <a:srgbClr val="B4530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4" name="Google Shape;544;p43"/>
          <p:cNvSpPr/>
          <p:nvPr/>
        </p:nvSpPr>
        <p:spPr>
          <a:xfrm>
            <a:off x="836698" y="3044952"/>
            <a:ext cx="397775" cy="39776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03</a:t>
            </a:r>
            <a:endParaRPr b="0" i="0" sz="1000" u="none" cap="none" strike="noStrike">
              <a:solidFill>
                <a:schemeClr val="dk1"/>
              </a:solidFill>
              <a:latin typeface="Calibri"/>
              <a:ea typeface="Calibri"/>
              <a:cs typeface="Calibri"/>
              <a:sym typeface="Calibri"/>
            </a:endParaRPr>
          </a:p>
        </p:txBody>
      </p:sp>
      <p:sp>
        <p:nvSpPr>
          <p:cNvPr id="545" name="Google Shape;545;p43"/>
          <p:cNvSpPr/>
          <p:nvPr/>
        </p:nvSpPr>
        <p:spPr>
          <a:xfrm>
            <a:off x="1357920" y="3031236"/>
            <a:ext cx="2936331" cy="42519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1200"/>
              <a:buFont typeface="Arial"/>
              <a:buNone/>
            </a:pPr>
            <a:r>
              <a:rPr b="1" i="0" lang="en" sz="1200" u="none" cap="none" strike="noStrike">
                <a:solidFill>
                  <a:srgbClr val="F4F6FA"/>
                </a:solidFill>
                <a:latin typeface="Arial"/>
                <a:ea typeface="Arial"/>
                <a:cs typeface="Arial"/>
                <a:sym typeface="Arial"/>
              </a:rPr>
              <a:t>Own problems, not tasks</a:t>
            </a:r>
            <a:endParaRPr b="0" i="0" sz="1200" u="none" cap="none" strike="noStrike">
              <a:solidFill>
                <a:schemeClr val="dk1"/>
              </a:solidFill>
              <a:latin typeface="Calibri"/>
              <a:ea typeface="Calibri"/>
              <a:cs typeface="Calibri"/>
              <a:sym typeface="Calibri"/>
            </a:endParaRPr>
          </a:p>
        </p:txBody>
      </p:sp>
      <p:sp>
        <p:nvSpPr>
          <p:cNvPr id="546" name="Google Shape;546;p43"/>
          <p:cNvSpPr/>
          <p:nvPr/>
        </p:nvSpPr>
        <p:spPr>
          <a:xfrm>
            <a:off x="864131" y="3511296"/>
            <a:ext cx="3320390" cy="493776"/>
          </a:xfrm>
          <a:prstGeom prst="rect">
            <a:avLst/>
          </a:prstGeom>
          <a:noFill/>
          <a:ln>
            <a:noFill/>
          </a:ln>
        </p:spPr>
        <p:txBody>
          <a:bodyPr anchorCtr="0" anchor="t" bIns="34275" lIns="68575" spcFirstLastPara="1" rIns="68575" wrap="square" tIns="34275">
            <a:noAutofit/>
          </a:bodyPr>
          <a:lstStyle/>
          <a:p>
            <a:pPr indent="0" lvl="0" marL="0" marR="0" rtl="0" algn="l">
              <a:lnSpc>
                <a:spcPct val="138461"/>
              </a:lnSpc>
              <a:spcBef>
                <a:spcPts val="0"/>
              </a:spcBef>
              <a:spcAft>
                <a:spcPts val="0"/>
              </a:spcAft>
              <a:buClr>
                <a:srgbClr val="AEB6C4"/>
              </a:buClr>
              <a:buSzPts val="1000"/>
              <a:buFont typeface="Arial"/>
              <a:buNone/>
            </a:pPr>
            <a:r>
              <a:rPr b="0" i="0" lang="en" sz="1000" u="none" cap="none" strike="noStrike">
                <a:solidFill>
                  <a:srgbClr val="AEB6C4"/>
                </a:solidFill>
                <a:latin typeface="Arial"/>
                <a:ea typeface="Arial"/>
                <a:cs typeface="Arial"/>
                <a:sym typeface="Arial"/>
              </a:rPr>
              <a:t>Tasks get automated; problems don't. Be the person accountable for an outcome that role only grows in an AI world.</a:t>
            </a:r>
            <a:endParaRPr b="0" i="0" sz="1000" u="none" cap="none" strike="noStrike">
              <a:solidFill>
                <a:schemeClr val="dk1"/>
              </a:solidFill>
              <a:latin typeface="Calibri"/>
              <a:ea typeface="Calibri"/>
              <a:cs typeface="Calibri"/>
              <a:sym typeface="Calibri"/>
            </a:endParaRPr>
          </a:p>
        </p:txBody>
      </p:sp>
      <p:sp>
        <p:nvSpPr>
          <p:cNvPr id="547" name="Google Shape;547;p43"/>
          <p:cNvSpPr/>
          <p:nvPr/>
        </p:nvSpPr>
        <p:spPr>
          <a:xfrm>
            <a:off x="4726325" y="2839200"/>
            <a:ext cx="3818100" cy="1321500"/>
          </a:xfrm>
          <a:prstGeom prst="roundRect">
            <a:avLst>
              <a:gd fmla="val 5435" name="adj"/>
            </a:avLst>
          </a:prstGeom>
          <a:solidFill>
            <a:srgbClr val="171B26"/>
          </a:solidFill>
          <a:ln cap="flat" cmpd="sng" w="12700">
            <a:solidFill>
              <a:srgbClr val="2C334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8" name="Google Shape;548;p43"/>
          <p:cNvSpPr/>
          <p:nvPr/>
        </p:nvSpPr>
        <p:spPr>
          <a:xfrm>
            <a:off x="4932062" y="3044952"/>
            <a:ext cx="397775" cy="397764"/>
          </a:xfrm>
          <a:prstGeom prst="ellipse">
            <a:avLst/>
          </a:prstGeom>
          <a:solidFill>
            <a:srgbClr val="3A2A12"/>
          </a:solidFill>
          <a:ln cap="flat" cmpd="sng" w="12700">
            <a:solidFill>
              <a:srgbClr val="B4530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9" name="Google Shape;549;p43"/>
          <p:cNvSpPr/>
          <p:nvPr/>
        </p:nvSpPr>
        <p:spPr>
          <a:xfrm>
            <a:off x="4932062" y="3044952"/>
            <a:ext cx="397775" cy="39776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04</a:t>
            </a:r>
            <a:endParaRPr b="0" i="0" sz="1000" u="none" cap="none" strike="noStrike">
              <a:solidFill>
                <a:schemeClr val="dk1"/>
              </a:solidFill>
              <a:latin typeface="Calibri"/>
              <a:ea typeface="Calibri"/>
              <a:cs typeface="Calibri"/>
              <a:sym typeface="Calibri"/>
            </a:endParaRPr>
          </a:p>
        </p:txBody>
      </p:sp>
      <p:sp>
        <p:nvSpPr>
          <p:cNvPr id="550" name="Google Shape;550;p43"/>
          <p:cNvSpPr/>
          <p:nvPr/>
        </p:nvSpPr>
        <p:spPr>
          <a:xfrm>
            <a:off x="5453284" y="3031236"/>
            <a:ext cx="2936331" cy="42519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1200"/>
              <a:buFont typeface="Arial"/>
              <a:buNone/>
            </a:pPr>
            <a:r>
              <a:rPr b="1" i="0" lang="en" sz="1200" u="none" cap="none" strike="noStrike">
                <a:solidFill>
                  <a:srgbClr val="F4F6FA"/>
                </a:solidFill>
                <a:latin typeface="Arial"/>
                <a:ea typeface="Arial"/>
                <a:cs typeface="Arial"/>
                <a:sym typeface="Arial"/>
              </a:rPr>
              <a:t>Judgment over syntax</a:t>
            </a:r>
            <a:endParaRPr b="0" i="0" sz="1200" u="none" cap="none" strike="noStrike">
              <a:solidFill>
                <a:schemeClr val="dk1"/>
              </a:solidFill>
              <a:latin typeface="Calibri"/>
              <a:ea typeface="Calibri"/>
              <a:cs typeface="Calibri"/>
              <a:sym typeface="Calibri"/>
            </a:endParaRPr>
          </a:p>
        </p:txBody>
      </p:sp>
      <p:sp>
        <p:nvSpPr>
          <p:cNvPr id="551" name="Google Shape;551;p43"/>
          <p:cNvSpPr/>
          <p:nvPr/>
        </p:nvSpPr>
        <p:spPr>
          <a:xfrm>
            <a:off x="4959495" y="3511296"/>
            <a:ext cx="3320390" cy="493776"/>
          </a:xfrm>
          <a:prstGeom prst="rect">
            <a:avLst/>
          </a:prstGeom>
          <a:noFill/>
          <a:ln>
            <a:noFill/>
          </a:ln>
        </p:spPr>
        <p:txBody>
          <a:bodyPr anchorCtr="0" anchor="t" bIns="34275" lIns="68575" spcFirstLastPara="1" rIns="68575" wrap="square" tIns="34275">
            <a:noAutofit/>
          </a:bodyPr>
          <a:lstStyle/>
          <a:p>
            <a:pPr indent="0" lvl="0" marL="0" marR="0" rtl="0" algn="l">
              <a:lnSpc>
                <a:spcPct val="138461"/>
              </a:lnSpc>
              <a:spcBef>
                <a:spcPts val="0"/>
              </a:spcBef>
              <a:spcAft>
                <a:spcPts val="0"/>
              </a:spcAft>
              <a:buClr>
                <a:srgbClr val="AEB6C4"/>
              </a:buClr>
              <a:buSzPts val="1000"/>
              <a:buFont typeface="Arial"/>
              <a:buNone/>
            </a:pPr>
            <a:r>
              <a:rPr b="0" i="0" lang="en" sz="1000" u="none" cap="none" strike="noStrike">
                <a:solidFill>
                  <a:srgbClr val="AEB6C4"/>
                </a:solidFill>
                <a:latin typeface="Arial"/>
                <a:ea typeface="Arial"/>
                <a:cs typeface="Arial"/>
                <a:sym typeface="Arial"/>
              </a:rPr>
              <a:t>Syntax is cheap now. The scarce, career-proof skill is deciding what's worth doing and knowing when it's done right.</a:t>
            </a:r>
            <a:endParaRPr b="0" i="0" sz="1000" u="none" cap="none" strike="noStrike">
              <a:solidFill>
                <a:schemeClr val="dk1"/>
              </a:solidFill>
              <a:latin typeface="Calibri"/>
              <a:ea typeface="Calibri"/>
              <a:cs typeface="Calibri"/>
              <a:sym typeface="Calibri"/>
            </a:endParaRPr>
          </a:p>
        </p:txBody>
      </p:sp>
      <p:sp>
        <p:nvSpPr>
          <p:cNvPr id="552" name="Google Shape;552;p43"/>
          <p:cNvSpPr/>
          <p:nvPr/>
        </p:nvSpPr>
        <p:spPr>
          <a:xfrm>
            <a:off x="630953" y="4217670"/>
            <a:ext cx="7882109" cy="411480"/>
          </a:xfrm>
          <a:prstGeom prst="rect">
            <a:avLst/>
          </a:prstGeom>
          <a:noFill/>
          <a:ln>
            <a:noFill/>
          </a:ln>
        </p:spPr>
        <p:txBody>
          <a:bodyPr anchorCtr="0" anchor="ctr" bIns="34275" lIns="68575" spcFirstLastPara="1" rIns="68575" wrap="square" tIns="34275">
            <a:noAutofit/>
          </a:bodyPr>
          <a:lstStyle/>
          <a:p>
            <a:pPr indent="0" lvl="0" marL="0" marR="0" rtl="0" algn="ctr">
              <a:lnSpc>
                <a:spcPct val="133333"/>
              </a:lnSpc>
              <a:spcBef>
                <a:spcPts val="0"/>
              </a:spcBef>
              <a:spcAft>
                <a:spcPts val="0"/>
              </a:spcAft>
              <a:buClr>
                <a:srgbClr val="6B7382"/>
              </a:buClr>
              <a:buSzPts val="1100"/>
              <a:buFont typeface="Arial"/>
              <a:buNone/>
            </a:pPr>
            <a:r>
              <a:rPr b="0" i="1" lang="en" sz="1100" u="none" cap="none" strike="noStrike">
                <a:solidFill>
                  <a:srgbClr val="6B7382"/>
                </a:solidFill>
                <a:latin typeface="Arial"/>
                <a:ea typeface="Arial"/>
                <a:cs typeface="Arial"/>
                <a:sym typeface="Arial"/>
              </a:rPr>
              <a:t>AI won't take your job. A person who builds with AI and understands what it can't do very well might.</a:t>
            </a:r>
            <a:endParaRPr b="0" i="0" sz="1100" u="none" cap="none" strike="noStrike">
              <a:solidFill>
                <a:schemeClr val="dk1"/>
              </a:solidFill>
              <a:latin typeface="Calibri"/>
              <a:ea typeface="Calibri"/>
              <a:cs typeface="Calibri"/>
              <a:sym typeface="Calibri"/>
            </a:endParaRPr>
          </a:p>
        </p:txBody>
      </p:sp>
      <p:sp>
        <p:nvSpPr>
          <p:cNvPr id="553" name="Google Shape;553;p43"/>
          <p:cNvSpPr/>
          <p:nvPr/>
        </p:nvSpPr>
        <p:spPr>
          <a:xfrm>
            <a:off x="630953" y="4800600"/>
            <a:ext cx="411491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FROM CAMPUS TO STARTUP</a:t>
            </a:r>
            <a:endParaRPr b="0" i="0" sz="700" u="none" cap="none" strike="noStrike">
              <a:solidFill>
                <a:schemeClr val="dk1"/>
              </a:solidFill>
              <a:latin typeface="Calibri"/>
              <a:ea typeface="Calibri"/>
              <a:cs typeface="Calibri"/>
              <a:sym typeface="Calibri"/>
            </a:endParaRPr>
          </a:p>
        </p:txBody>
      </p:sp>
      <p:sp>
        <p:nvSpPr>
          <p:cNvPr id="554" name="Google Shape;554;p43"/>
          <p:cNvSpPr/>
          <p:nvPr/>
        </p:nvSpPr>
        <p:spPr>
          <a:xfrm>
            <a:off x="7964407" y="4800600"/>
            <a:ext cx="548655"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18</a:t>
            </a:r>
            <a:endParaRPr b="0" i="0" sz="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30"/>
                                        </p:tgtEl>
                                        <p:attrNameLst>
                                          <p:attrName>style.visibility</p:attrName>
                                        </p:attrNameLst>
                                      </p:cBhvr>
                                      <p:to>
                                        <p:strVal val="visible"/>
                                      </p:to>
                                    </p:set>
                                    <p:animEffect filter="fade" transition="in">
                                      <p:cBhvr>
                                        <p:cTn dur="500"/>
                                        <p:tgtEl>
                                          <p:spTgt spid="53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31"/>
                                        </p:tgtEl>
                                        <p:attrNameLst>
                                          <p:attrName>style.visibility</p:attrName>
                                        </p:attrNameLst>
                                      </p:cBhvr>
                                      <p:to>
                                        <p:strVal val="visible"/>
                                      </p:to>
                                    </p:set>
                                    <p:animEffect filter="fade" transition="in">
                                      <p:cBhvr>
                                        <p:cTn dur="500"/>
                                        <p:tgtEl>
                                          <p:spTgt spid="53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32"/>
                                        </p:tgtEl>
                                        <p:attrNameLst>
                                          <p:attrName>style.visibility</p:attrName>
                                        </p:attrNameLst>
                                      </p:cBhvr>
                                      <p:to>
                                        <p:strVal val="visible"/>
                                      </p:to>
                                    </p:set>
                                    <p:animEffect filter="fade" transition="in">
                                      <p:cBhvr>
                                        <p:cTn dur="500"/>
                                        <p:tgtEl>
                                          <p:spTgt spid="53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34"/>
                                        </p:tgtEl>
                                        <p:attrNameLst>
                                          <p:attrName>style.visibility</p:attrName>
                                        </p:attrNameLst>
                                      </p:cBhvr>
                                      <p:to>
                                        <p:strVal val="visible"/>
                                      </p:to>
                                    </p:set>
                                    <p:animEffect filter="fade" transition="in">
                                      <p:cBhvr>
                                        <p:cTn dur="500"/>
                                        <p:tgtEl>
                                          <p:spTgt spid="53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35"/>
                                        </p:tgtEl>
                                        <p:attrNameLst>
                                          <p:attrName>style.visibility</p:attrName>
                                        </p:attrNameLst>
                                      </p:cBhvr>
                                      <p:to>
                                        <p:strVal val="visible"/>
                                      </p:to>
                                    </p:set>
                                    <p:animEffect filter="fade" transition="in">
                                      <p:cBhvr>
                                        <p:cTn dur="500"/>
                                        <p:tgtEl>
                                          <p:spTgt spid="535"/>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536"/>
                                        </p:tgtEl>
                                        <p:attrNameLst>
                                          <p:attrName>style.visibility</p:attrName>
                                        </p:attrNameLst>
                                      </p:cBhvr>
                                      <p:to>
                                        <p:strVal val="visible"/>
                                      </p:to>
                                    </p:set>
                                    <p:animEffect filter="fade" transition="in">
                                      <p:cBhvr>
                                        <p:cTn dur="500"/>
                                        <p:tgtEl>
                                          <p:spTgt spid="536"/>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500"/>
                                        <p:tgtEl>
                                          <p:spTgt spid="537"/>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539"/>
                                        </p:tgtEl>
                                        <p:attrNameLst>
                                          <p:attrName>style.visibility</p:attrName>
                                        </p:attrNameLst>
                                      </p:cBhvr>
                                      <p:to>
                                        <p:strVal val="visible"/>
                                      </p:to>
                                    </p:set>
                                    <p:animEffect filter="fade" transition="in">
                                      <p:cBhvr>
                                        <p:cTn dur="500"/>
                                        <p:tgtEl>
                                          <p:spTgt spid="539"/>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540"/>
                                        </p:tgtEl>
                                        <p:attrNameLst>
                                          <p:attrName>style.visibility</p:attrName>
                                        </p:attrNameLst>
                                      </p:cBhvr>
                                      <p:to>
                                        <p:strVal val="visible"/>
                                      </p:to>
                                    </p:set>
                                    <p:animEffect filter="fade" transition="in">
                                      <p:cBhvr>
                                        <p:cTn dur="500"/>
                                        <p:tgtEl>
                                          <p:spTgt spid="540"/>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541"/>
                                        </p:tgtEl>
                                        <p:attrNameLst>
                                          <p:attrName>style.visibility</p:attrName>
                                        </p:attrNameLst>
                                      </p:cBhvr>
                                      <p:to>
                                        <p:strVal val="visible"/>
                                      </p:to>
                                    </p:set>
                                    <p:animEffect filter="fade" transition="in">
                                      <p:cBhvr>
                                        <p:cTn dur="500"/>
                                        <p:tgtEl>
                                          <p:spTgt spid="541"/>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542"/>
                                        </p:tgtEl>
                                        <p:attrNameLst>
                                          <p:attrName>style.visibility</p:attrName>
                                        </p:attrNameLst>
                                      </p:cBhvr>
                                      <p:to>
                                        <p:strVal val="visible"/>
                                      </p:to>
                                    </p:set>
                                    <p:animEffect filter="fade" transition="in">
                                      <p:cBhvr>
                                        <p:cTn dur="500"/>
                                        <p:tgtEl>
                                          <p:spTgt spid="542"/>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544"/>
                                        </p:tgtEl>
                                        <p:attrNameLst>
                                          <p:attrName>style.visibility</p:attrName>
                                        </p:attrNameLst>
                                      </p:cBhvr>
                                      <p:to>
                                        <p:strVal val="visible"/>
                                      </p:to>
                                    </p:set>
                                    <p:animEffect filter="fade" transition="in">
                                      <p:cBhvr>
                                        <p:cTn dur="500"/>
                                        <p:tgtEl>
                                          <p:spTgt spid="544"/>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545"/>
                                        </p:tgtEl>
                                        <p:attrNameLst>
                                          <p:attrName>style.visibility</p:attrName>
                                        </p:attrNameLst>
                                      </p:cBhvr>
                                      <p:to>
                                        <p:strVal val="visible"/>
                                      </p:to>
                                    </p:set>
                                    <p:animEffect filter="fade" transition="in">
                                      <p:cBhvr>
                                        <p:cTn dur="500"/>
                                        <p:tgtEl>
                                          <p:spTgt spid="545"/>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546"/>
                                        </p:tgtEl>
                                        <p:attrNameLst>
                                          <p:attrName>style.visibility</p:attrName>
                                        </p:attrNameLst>
                                      </p:cBhvr>
                                      <p:to>
                                        <p:strVal val="visible"/>
                                      </p:to>
                                    </p:set>
                                    <p:animEffect filter="fade" transition="in">
                                      <p:cBhvr>
                                        <p:cTn dur="500"/>
                                        <p:tgtEl>
                                          <p:spTgt spid="546"/>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547"/>
                                        </p:tgtEl>
                                        <p:attrNameLst>
                                          <p:attrName>style.visibility</p:attrName>
                                        </p:attrNameLst>
                                      </p:cBhvr>
                                      <p:to>
                                        <p:strVal val="visible"/>
                                      </p:to>
                                    </p:set>
                                    <p:animEffect filter="fade" transition="in">
                                      <p:cBhvr>
                                        <p:cTn dur="500"/>
                                        <p:tgtEl>
                                          <p:spTgt spid="547"/>
                                        </p:tgtEl>
                                      </p:cBhvr>
                                    </p:animEffect>
                                  </p:childTnLst>
                                </p:cTn>
                              </p:par>
                            </p:childTnLst>
                          </p:cTn>
                        </p:par>
                        <p:par>
                          <p:cTn fill="hold">
                            <p:stCondLst>
                              <p:cond delay="7500"/>
                            </p:stCondLst>
                            <p:childTnLst>
                              <p:par>
                                <p:cTn fill="hold" nodeType="afterEffect" presetClass="entr" presetID="10" presetSubtype="0">
                                  <p:stCondLst>
                                    <p:cond delay="0"/>
                                  </p:stCondLst>
                                  <p:childTnLst>
                                    <p:set>
                                      <p:cBhvr>
                                        <p:cTn dur="1" fill="hold">
                                          <p:stCondLst>
                                            <p:cond delay="0"/>
                                          </p:stCondLst>
                                        </p:cTn>
                                        <p:tgtEl>
                                          <p:spTgt spid="549"/>
                                        </p:tgtEl>
                                        <p:attrNameLst>
                                          <p:attrName>style.visibility</p:attrName>
                                        </p:attrNameLst>
                                      </p:cBhvr>
                                      <p:to>
                                        <p:strVal val="visible"/>
                                      </p:to>
                                    </p:set>
                                    <p:animEffect filter="fade" transition="in">
                                      <p:cBhvr>
                                        <p:cTn dur="500"/>
                                        <p:tgtEl>
                                          <p:spTgt spid="549"/>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550"/>
                                        </p:tgtEl>
                                        <p:attrNameLst>
                                          <p:attrName>style.visibility</p:attrName>
                                        </p:attrNameLst>
                                      </p:cBhvr>
                                      <p:to>
                                        <p:strVal val="visible"/>
                                      </p:to>
                                    </p:set>
                                    <p:animEffect filter="fade" transition="in">
                                      <p:cBhvr>
                                        <p:cTn dur="500"/>
                                        <p:tgtEl>
                                          <p:spTgt spid="550"/>
                                        </p:tgtEl>
                                      </p:cBhvr>
                                    </p:animEffect>
                                  </p:childTnLst>
                                </p:cTn>
                              </p:par>
                            </p:childTnLst>
                          </p:cTn>
                        </p:par>
                        <p:par>
                          <p:cTn fill="hold">
                            <p:stCondLst>
                              <p:cond delay="8500"/>
                            </p:stCondLst>
                            <p:childTnLst>
                              <p:par>
                                <p:cTn fill="hold" nodeType="afterEffect" presetClass="entr" presetID="10" presetSubtype="0">
                                  <p:stCondLst>
                                    <p:cond delay="0"/>
                                  </p:stCondLst>
                                  <p:childTnLst>
                                    <p:set>
                                      <p:cBhvr>
                                        <p:cTn dur="1" fill="hold">
                                          <p:stCondLst>
                                            <p:cond delay="0"/>
                                          </p:stCondLst>
                                        </p:cTn>
                                        <p:tgtEl>
                                          <p:spTgt spid="551"/>
                                        </p:tgtEl>
                                        <p:attrNameLst>
                                          <p:attrName>style.visibility</p:attrName>
                                        </p:attrNameLst>
                                      </p:cBhvr>
                                      <p:to>
                                        <p:strVal val="visible"/>
                                      </p:to>
                                    </p:set>
                                    <p:animEffect filter="fade" transition="in">
                                      <p:cBhvr>
                                        <p:cTn dur="500"/>
                                        <p:tgtEl>
                                          <p:spTgt spid="551"/>
                                        </p:tgtEl>
                                      </p:cBhvr>
                                    </p:animEffect>
                                  </p:childTnLst>
                                </p:cTn>
                              </p:par>
                            </p:childTnLst>
                          </p:cTn>
                        </p:par>
                        <p:par>
                          <p:cTn fill="hold">
                            <p:stCondLst>
                              <p:cond delay="9000"/>
                            </p:stCondLst>
                            <p:childTnLst>
                              <p:par>
                                <p:cTn fill="hold" nodeType="afterEffect" presetClass="entr" presetID="10" presetSubtype="0">
                                  <p:stCondLst>
                                    <p:cond delay="0"/>
                                  </p:stCondLst>
                                  <p:childTnLst>
                                    <p:set>
                                      <p:cBhvr>
                                        <p:cTn dur="1" fill="hold">
                                          <p:stCondLst>
                                            <p:cond delay="0"/>
                                          </p:stCondLst>
                                        </p:cTn>
                                        <p:tgtEl>
                                          <p:spTgt spid="552"/>
                                        </p:tgtEl>
                                        <p:attrNameLst>
                                          <p:attrName>style.visibility</p:attrName>
                                        </p:attrNameLst>
                                      </p:cBhvr>
                                      <p:to>
                                        <p:strVal val="visible"/>
                                      </p:to>
                                    </p:set>
                                    <p:animEffect filter="fade" transition="in">
                                      <p:cBhvr>
                                        <p:cTn dur="500"/>
                                        <p:tgtEl>
                                          <p:spTgt spid="552"/>
                                        </p:tgtEl>
                                      </p:cBhvr>
                                    </p:animEffect>
                                  </p:childTnLst>
                                </p:cTn>
                              </p:par>
                            </p:childTnLst>
                          </p:cTn>
                        </p:par>
                        <p:par>
                          <p:cTn fill="hold">
                            <p:stCondLst>
                              <p:cond delay="9500"/>
                            </p:stCondLst>
                            <p:childTnLst>
                              <p:par>
                                <p:cTn fill="hold" nodeType="afterEffect" presetClass="entr" presetID="10" presetSubtype="0">
                                  <p:stCondLst>
                                    <p:cond delay="0"/>
                                  </p:stCondLst>
                                  <p:childTnLst>
                                    <p:set>
                                      <p:cBhvr>
                                        <p:cTn dur="1" fill="hold">
                                          <p:stCondLst>
                                            <p:cond delay="0"/>
                                          </p:stCondLst>
                                        </p:cTn>
                                        <p:tgtEl>
                                          <p:spTgt spid="553"/>
                                        </p:tgtEl>
                                        <p:attrNameLst>
                                          <p:attrName>style.visibility</p:attrName>
                                        </p:attrNameLst>
                                      </p:cBhvr>
                                      <p:to>
                                        <p:strVal val="visible"/>
                                      </p:to>
                                    </p:set>
                                    <p:animEffect filter="fade" transition="in">
                                      <p:cBhvr>
                                        <p:cTn dur="500"/>
                                        <p:tgtEl>
                                          <p:spTgt spid="553"/>
                                        </p:tgtEl>
                                      </p:cBhvr>
                                    </p:animEffect>
                                  </p:childTnLst>
                                </p:cTn>
                              </p:par>
                            </p:childTnLst>
                          </p:cTn>
                        </p:par>
                        <p:par>
                          <p:cTn fill="hold">
                            <p:stCondLst>
                              <p:cond delay="10000"/>
                            </p:stCondLst>
                            <p:childTnLst>
                              <p:par>
                                <p:cTn fill="hold" nodeType="afterEffect" presetClass="entr" presetID="10" presetSubtype="0">
                                  <p:stCondLst>
                                    <p:cond delay="0"/>
                                  </p:stCondLst>
                                  <p:childTnLst>
                                    <p:set>
                                      <p:cBhvr>
                                        <p:cTn dur="1" fill="hold">
                                          <p:stCondLst>
                                            <p:cond delay="0"/>
                                          </p:stCondLst>
                                        </p:cTn>
                                        <p:tgtEl>
                                          <p:spTgt spid="554"/>
                                        </p:tgtEl>
                                        <p:attrNameLst>
                                          <p:attrName>style.visibility</p:attrName>
                                        </p:attrNameLst>
                                      </p:cBhvr>
                                      <p:to>
                                        <p:strVal val="visible"/>
                                      </p:to>
                                    </p:set>
                                    <p:animEffect filter="fade" transition="in">
                                      <p:cBhvr>
                                        <p:cTn dur="500"/>
                                        <p:tgtEl>
                                          <p:spTgt spid="5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B10"/>
        </a:solidFill>
      </p:bgPr>
    </p:bg>
    <p:spTree>
      <p:nvGrpSpPr>
        <p:cNvPr id="559" name="Shape 559"/>
        <p:cNvGrpSpPr/>
        <p:nvPr/>
      </p:nvGrpSpPr>
      <p:grpSpPr>
        <a:xfrm>
          <a:off x="0" y="0"/>
          <a:ext cx="0" cy="0"/>
          <a:chOff x="0" y="0"/>
          <a:chExt cx="0" cy="0"/>
        </a:xfrm>
      </p:grpSpPr>
      <p:sp>
        <p:nvSpPr>
          <p:cNvPr id="560" name="Google Shape;560;p44"/>
          <p:cNvSpPr/>
          <p:nvPr/>
        </p:nvSpPr>
        <p:spPr>
          <a:xfrm>
            <a:off x="-1783128" y="2263139"/>
            <a:ext cx="4800728" cy="480060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1" name="Google Shape;561;p44"/>
          <p:cNvSpPr/>
          <p:nvPr/>
        </p:nvSpPr>
        <p:spPr>
          <a:xfrm>
            <a:off x="-1111026" y="2935224"/>
            <a:ext cx="3456524" cy="3456432"/>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2" name="Google Shape;562;p44"/>
          <p:cNvSpPr/>
          <p:nvPr/>
        </p:nvSpPr>
        <p:spPr>
          <a:xfrm>
            <a:off x="630953" y="788670"/>
            <a:ext cx="2057455" cy="16459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430"/>
              </a:buClr>
              <a:buSzPts val="11300"/>
              <a:buFont typeface="Arial"/>
              <a:buNone/>
            </a:pPr>
            <a:r>
              <a:rPr b="1" i="0" lang="en" sz="11300" u="none" cap="none" strike="noStrike">
                <a:solidFill>
                  <a:srgbClr val="1F2430"/>
                </a:solidFill>
                <a:latin typeface="Arial"/>
                <a:ea typeface="Arial"/>
                <a:cs typeface="Arial"/>
                <a:sym typeface="Arial"/>
              </a:rPr>
              <a:t>10</a:t>
            </a:r>
            <a:endParaRPr b="0" i="0" sz="11300" u="none" cap="none" strike="noStrike">
              <a:solidFill>
                <a:schemeClr val="dk1"/>
              </a:solidFill>
              <a:latin typeface="Calibri"/>
              <a:ea typeface="Calibri"/>
              <a:cs typeface="Calibri"/>
              <a:sym typeface="Calibri"/>
            </a:endParaRPr>
          </a:p>
        </p:txBody>
      </p:sp>
      <p:sp>
        <p:nvSpPr>
          <p:cNvPr id="563" name="Google Shape;563;p44"/>
          <p:cNvSpPr/>
          <p:nvPr/>
        </p:nvSpPr>
        <p:spPr>
          <a:xfrm>
            <a:off x="658386" y="2482595"/>
            <a:ext cx="6858183"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MAKING THESE YEARS COUNT</a:t>
            </a:r>
            <a:endParaRPr b="0" i="0" sz="1000" u="none" cap="none" strike="noStrike">
              <a:solidFill>
                <a:schemeClr val="dk1"/>
              </a:solidFill>
              <a:latin typeface="Calibri"/>
              <a:ea typeface="Calibri"/>
              <a:cs typeface="Calibri"/>
              <a:sym typeface="Calibri"/>
            </a:endParaRPr>
          </a:p>
        </p:txBody>
      </p:sp>
      <p:sp>
        <p:nvSpPr>
          <p:cNvPr id="564" name="Google Shape;564;p44"/>
          <p:cNvSpPr/>
          <p:nvPr/>
        </p:nvSpPr>
        <p:spPr>
          <a:xfrm>
            <a:off x="630953" y="2729484"/>
            <a:ext cx="7269674" cy="1068324"/>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4F6FA"/>
              </a:buClr>
              <a:buSzPts val="3500"/>
              <a:buFont typeface="Arial"/>
              <a:buNone/>
            </a:pPr>
            <a:r>
              <a:rPr b="1" i="0" lang="en" sz="3500" u="none" cap="none" strike="noStrike">
                <a:solidFill>
                  <a:srgbClr val="F4F6FA"/>
                </a:solidFill>
                <a:latin typeface="Arial"/>
                <a:ea typeface="Arial"/>
                <a:cs typeface="Arial"/>
                <a:sym typeface="Arial"/>
              </a:rPr>
              <a:t>A simple</a:t>
            </a:r>
            <a:endParaRPr b="0" i="0" sz="3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4F6FA"/>
              </a:buClr>
              <a:buSzPts val="3500"/>
              <a:buFont typeface="Arial"/>
              <a:buNone/>
            </a:pPr>
            <a:r>
              <a:rPr b="1" i="0" lang="en" sz="3500" u="none" cap="none" strike="noStrike">
                <a:solidFill>
                  <a:srgbClr val="F4F6FA"/>
                </a:solidFill>
                <a:latin typeface="Arial"/>
                <a:ea typeface="Arial"/>
                <a:cs typeface="Arial"/>
                <a:sym typeface="Arial"/>
              </a:rPr>
              <a:t>two-year playbook</a:t>
            </a:r>
            <a:endParaRPr b="0" i="0" sz="3500" u="none" cap="none" strike="noStrike">
              <a:solidFill>
                <a:schemeClr val="dk1"/>
              </a:solidFill>
              <a:latin typeface="Calibri"/>
              <a:ea typeface="Calibri"/>
              <a:cs typeface="Calibri"/>
              <a:sym typeface="Calibri"/>
            </a:endParaRPr>
          </a:p>
        </p:txBody>
      </p:sp>
      <p:sp>
        <p:nvSpPr>
          <p:cNvPr id="565" name="Google Shape;565;p44"/>
          <p:cNvSpPr/>
          <p:nvPr/>
        </p:nvSpPr>
        <p:spPr>
          <a:xfrm>
            <a:off x="630953" y="3880104"/>
            <a:ext cx="6721019"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44444"/>
              </a:lnSpc>
              <a:spcBef>
                <a:spcPts val="0"/>
              </a:spcBef>
              <a:spcAft>
                <a:spcPts val="0"/>
              </a:spcAft>
              <a:buClr>
                <a:srgbClr val="AEB6C4"/>
              </a:buClr>
              <a:buSzPts val="1400"/>
              <a:buFont typeface="Arial"/>
              <a:buNone/>
            </a:pPr>
            <a:r>
              <a:rPr b="0" i="0" lang="en" sz="1400" u="none" cap="none" strike="noStrike">
                <a:solidFill>
                  <a:srgbClr val="AEB6C4"/>
                </a:solidFill>
                <a:latin typeface="Arial"/>
                <a:ea typeface="Arial"/>
                <a:cs typeface="Arial"/>
                <a:sym typeface="Arial"/>
              </a:rPr>
              <a:t>A direction, not a syllabus. The only real rule: build something every single year.</a:t>
            </a:r>
            <a:endParaRPr b="0" i="0" sz="14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62"/>
                                        </p:tgtEl>
                                        <p:attrNameLst>
                                          <p:attrName>style.visibility</p:attrName>
                                        </p:attrNameLst>
                                      </p:cBhvr>
                                      <p:to>
                                        <p:strVal val="visible"/>
                                      </p:to>
                                    </p:set>
                                    <p:animEffect filter="fade" transition="in">
                                      <p:cBhvr>
                                        <p:cTn dur="500"/>
                                        <p:tgtEl>
                                          <p:spTgt spid="56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63"/>
                                        </p:tgtEl>
                                        <p:attrNameLst>
                                          <p:attrName>style.visibility</p:attrName>
                                        </p:attrNameLst>
                                      </p:cBhvr>
                                      <p:to>
                                        <p:strVal val="visible"/>
                                      </p:to>
                                    </p:set>
                                    <p:animEffect filter="fade" transition="in">
                                      <p:cBhvr>
                                        <p:cTn dur="500"/>
                                        <p:tgtEl>
                                          <p:spTgt spid="56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64"/>
                                        </p:tgtEl>
                                        <p:attrNameLst>
                                          <p:attrName>style.visibility</p:attrName>
                                        </p:attrNameLst>
                                      </p:cBhvr>
                                      <p:to>
                                        <p:strVal val="visible"/>
                                      </p:to>
                                    </p:set>
                                    <p:animEffect filter="fade" transition="in">
                                      <p:cBhvr>
                                        <p:cTn dur="500"/>
                                        <p:tgtEl>
                                          <p:spTgt spid="564"/>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65"/>
                                        </p:tgtEl>
                                        <p:attrNameLst>
                                          <p:attrName>style.visibility</p:attrName>
                                        </p:attrNameLst>
                                      </p:cBhvr>
                                      <p:to>
                                        <p:strVal val="visible"/>
                                      </p:to>
                                    </p:set>
                                    <p:animEffect filter="fade" transition="in">
                                      <p:cBhvr>
                                        <p:cTn dur="500"/>
                                        <p:tgtEl>
                                          <p:spTgt spid="5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117"/>
        </a:solidFill>
      </p:bgPr>
    </p:bg>
    <p:spTree>
      <p:nvGrpSpPr>
        <p:cNvPr id="570" name="Shape 570"/>
        <p:cNvGrpSpPr/>
        <p:nvPr/>
      </p:nvGrpSpPr>
      <p:grpSpPr>
        <a:xfrm>
          <a:off x="0" y="0"/>
          <a:ext cx="0" cy="0"/>
          <a:chOff x="0" y="0"/>
          <a:chExt cx="0" cy="0"/>
        </a:xfrm>
      </p:grpSpPr>
      <p:sp>
        <p:nvSpPr>
          <p:cNvPr id="571" name="Google Shape;571;p45"/>
          <p:cNvSpPr/>
          <p:nvPr/>
        </p:nvSpPr>
        <p:spPr>
          <a:xfrm>
            <a:off x="630953" y="425196"/>
            <a:ext cx="7882109" cy="23317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THE TWO-YEAR MAP</a:t>
            </a:r>
            <a:endParaRPr b="0" i="0" sz="1000" u="none" cap="none" strike="noStrike">
              <a:solidFill>
                <a:schemeClr val="dk1"/>
              </a:solidFill>
              <a:latin typeface="Calibri"/>
              <a:ea typeface="Calibri"/>
              <a:cs typeface="Calibri"/>
              <a:sym typeface="Calibri"/>
            </a:endParaRPr>
          </a:p>
        </p:txBody>
      </p:sp>
      <p:sp>
        <p:nvSpPr>
          <p:cNvPr id="572" name="Google Shape;572;p45"/>
          <p:cNvSpPr/>
          <p:nvPr/>
        </p:nvSpPr>
        <p:spPr>
          <a:xfrm>
            <a:off x="630953" y="685800"/>
            <a:ext cx="7882109" cy="5829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4F6FA"/>
              </a:buClr>
              <a:buSzPts val="2300"/>
              <a:buFont typeface="Arial"/>
              <a:buNone/>
            </a:pPr>
            <a:r>
              <a:rPr b="1" i="0" lang="en" sz="2300" u="none" cap="none" strike="noStrike">
                <a:solidFill>
                  <a:srgbClr val="F4F6FA"/>
                </a:solidFill>
                <a:latin typeface="Arial"/>
                <a:ea typeface="Arial"/>
                <a:cs typeface="Arial"/>
                <a:sym typeface="Arial"/>
              </a:rPr>
              <a:t>Explore → Build → Go deep → Choose ownership</a:t>
            </a:r>
            <a:endParaRPr b="0" i="0" sz="2300" u="none" cap="none" strike="noStrike">
              <a:solidFill>
                <a:schemeClr val="dk1"/>
              </a:solidFill>
              <a:latin typeface="Calibri"/>
              <a:ea typeface="Calibri"/>
              <a:cs typeface="Calibri"/>
              <a:sym typeface="Calibri"/>
            </a:endParaRPr>
          </a:p>
        </p:txBody>
      </p:sp>
      <p:cxnSp>
        <p:nvCxnSpPr>
          <p:cNvPr id="573" name="Google Shape;573;p45"/>
          <p:cNvCxnSpPr/>
          <p:nvPr/>
        </p:nvCxnSpPr>
        <p:spPr>
          <a:xfrm>
            <a:off x="1616217" y="2304288"/>
            <a:ext cx="5911582" cy="0"/>
          </a:xfrm>
          <a:prstGeom prst="straightConnector1">
            <a:avLst/>
          </a:prstGeom>
          <a:noFill/>
          <a:ln cap="flat" cmpd="sng" w="19050">
            <a:solidFill>
              <a:srgbClr val="2C3340"/>
            </a:solidFill>
            <a:prstDash val="solid"/>
            <a:round/>
            <a:headEnd len="sm" w="sm" type="none"/>
            <a:tailEnd len="sm" w="sm" type="none"/>
          </a:ln>
        </p:spPr>
      </p:cxnSp>
      <p:sp>
        <p:nvSpPr>
          <p:cNvPr id="574" name="Google Shape;574;p45"/>
          <p:cNvSpPr/>
          <p:nvPr/>
        </p:nvSpPr>
        <p:spPr>
          <a:xfrm>
            <a:off x="1403613" y="2091690"/>
            <a:ext cx="425207" cy="425196"/>
          </a:xfrm>
          <a:prstGeom prst="ellipse">
            <a:avLst/>
          </a:prstGeom>
          <a:solidFill>
            <a:srgbClr val="F59E0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5" name="Google Shape;575;p45"/>
          <p:cNvSpPr/>
          <p:nvPr/>
        </p:nvSpPr>
        <p:spPr>
          <a:xfrm>
            <a:off x="1403613" y="2091690"/>
            <a:ext cx="425207" cy="42519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E1117"/>
              </a:buClr>
              <a:buSzPts val="1400"/>
              <a:buFont typeface="Arial"/>
              <a:buNone/>
            </a:pPr>
            <a:r>
              <a:rPr b="1" i="0" lang="en" sz="1400" u="none" cap="none" strike="noStrike">
                <a:solidFill>
                  <a:srgbClr val="0E1117"/>
                </a:solidFill>
                <a:latin typeface="Arial"/>
                <a:ea typeface="Arial"/>
                <a:cs typeface="Arial"/>
                <a:sym typeface="Arial"/>
              </a:rPr>
              <a:t>1</a:t>
            </a:r>
            <a:endParaRPr b="0" i="0" sz="1400" u="none" cap="none" strike="noStrike">
              <a:solidFill>
                <a:schemeClr val="dk1"/>
              </a:solidFill>
              <a:latin typeface="Calibri"/>
              <a:ea typeface="Calibri"/>
              <a:cs typeface="Calibri"/>
              <a:sym typeface="Calibri"/>
            </a:endParaRPr>
          </a:p>
        </p:txBody>
      </p:sp>
      <p:sp>
        <p:nvSpPr>
          <p:cNvPr id="576" name="Google Shape;576;p45"/>
          <p:cNvSpPr/>
          <p:nvPr/>
        </p:nvSpPr>
        <p:spPr>
          <a:xfrm>
            <a:off x="699535" y="2640330"/>
            <a:ext cx="1833364"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4F6FA"/>
              </a:buClr>
              <a:buSzPts val="1100"/>
              <a:buFont typeface="Arial"/>
              <a:buNone/>
            </a:pPr>
            <a:r>
              <a:rPr b="1" i="0" lang="en" sz="1100" u="none" cap="none" strike="noStrike">
                <a:solidFill>
                  <a:srgbClr val="F4F6FA"/>
                </a:solidFill>
                <a:latin typeface="Arial"/>
                <a:ea typeface="Arial"/>
                <a:cs typeface="Arial"/>
                <a:sym typeface="Arial"/>
              </a:rPr>
              <a:t>Year 1</a:t>
            </a:r>
            <a:endParaRPr b="0" i="0" sz="1100" u="none" cap="none" strike="noStrike">
              <a:solidFill>
                <a:schemeClr val="dk1"/>
              </a:solidFill>
              <a:latin typeface="Calibri"/>
              <a:ea typeface="Calibri"/>
              <a:cs typeface="Calibri"/>
              <a:sym typeface="Calibri"/>
            </a:endParaRPr>
          </a:p>
        </p:txBody>
      </p:sp>
      <p:sp>
        <p:nvSpPr>
          <p:cNvPr id="577" name="Google Shape;577;p45"/>
          <p:cNvSpPr/>
          <p:nvPr/>
        </p:nvSpPr>
        <p:spPr>
          <a:xfrm>
            <a:off x="699535" y="2969514"/>
            <a:ext cx="1833364" cy="2400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900"/>
              <a:buFont typeface="Arial"/>
              <a:buNone/>
            </a:pPr>
            <a:r>
              <a:rPr b="1" i="0" lang="en" sz="900" u="none" cap="none" strike="noStrike">
                <a:solidFill>
                  <a:srgbClr val="F59E0B"/>
                </a:solidFill>
                <a:latin typeface="Arial"/>
                <a:ea typeface="Arial"/>
                <a:cs typeface="Arial"/>
                <a:sym typeface="Arial"/>
              </a:rPr>
              <a:t>Explore &amp; absorb</a:t>
            </a:r>
            <a:endParaRPr b="0" i="0" sz="900" u="none" cap="none" strike="noStrike">
              <a:solidFill>
                <a:schemeClr val="dk1"/>
              </a:solidFill>
              <a:latin typeface="Calibri"/>
              <a:ea typeface="Calibri"/>
              <a:cs typeface="Calibri"/>
              <a:sym typeface="Calibri"/>
            </a:endParaRPr>
          </a:p>
        </p:txBody>
      </p:sp>
      <p:sp>
        <p:nvSpPr>
          <p:cNvPr id="578" name="Google Shape;578;p45"/>
          <p:cNvSpPr/>
          <p:nvPr/>
        </p:nvSpPr>
        <p:spPr>
          <a:xfrm>
            <a:off x="733826" y="3202686"/>
            <a:ext cx="1764782" cy="960120"/>
          </a:xfrm>
          <a:prstGeom prst="rect">
            <a:avLst/>
          </a:prstGeom>
          <a:noFill/>
          <a:ln>
            <a:noFill/>
          </a:ln>
        </p:spPr>
        <p:txBody>
          <a:bodyPr anchorCtr="0" anchor="ctr" bIns="34275" lIns="68575" spcFirstLastPara="1" rIns="68575" wrap="square" tIns="34275">
            <a:noAutofit/>
          </a:bodyPr>
          <a:lstStyle/>
          <a:p>
            <a:pPr indent="0" lvl="0" marL="0" marR="0" rtl="0" algn="ctr">
              <a:lnSpc>
                <a:spcPct val="130434"/>
              </a:lnSpc>
              <a:spcBef>
                <a:spcPts val="0"/>
              </a:spcBef>
              <a:spcAft>
                <a:spcPts val="0"/>
              </a:spcAft>
              <a:buClr>
                <a:srgbClr val="AEB6C4"/>
              </a:buClr>
              <a:buSzPts val="900"/>
              <a:buFont typeface="Arial"/>
              <a:buNone/>
            </a:pPr>
            <a:r>
              <a:rPr b="0" i="0" lang="en" sz="900" u="none" cap="none" strike="noStrike">
                <a:solidFill>
                  <a:srgbClr val="AEB6C4"/>
                </a:solidFill>
                <a:latin typeface="Arial"/>
                <a:ea typeface="Arial"/>
                <a:cs typeface="Arial"/>
                <a:sym typeface="Arial"/>
              </a:rPr>
              <a:t>Nail fundamentals. Try everything clubs, sports, hackathons. Learn to code well whatever be your branch or find solutions to problems. Find seniors doing interesting things.</a:t>
            </a:r>
            <a:endParaRPr b="0" i="0" sz="900" u="none" cap="none" strike="noStrike">
              <a:solidFill>
                <a:schemeClr val="dk1"/>
              </a:solidFill>
              <a:latin typeface="Calibri"/>
              <a:ea typeface="Calibri"/>
              <a:cs typeface="Calibri"/>
              <a:sym typeface="Calibri"/>
            </a:endParaRPr>
          </a:p>
        </p:txBody>
      </p:sp>
      <p:sp>
        <p:nvSpPr>
          <p:cNvPr id="579" name="Google Shape;579;p45"/>
          <p:cNvSpPr/>
          <p:nvPr/>
        </p:nvSpPr>
        <p:spPr>
          <a:xfrm>
            <a:off x="3374140" y="2091690"/>
            <a:ext cx="425207" cy="425196"/>
          </a:xfrm>
          <a:prstGeom prst="ellipse">
            <a:avLst/>
          </a:prstGeom>
          <a:solidFill>
            <a:srgbClr val="F59E0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0" name="Google Shape;580;p45"/>
          <p:cNvSpPr/>
          <p:nvPr/>
        </p:nvSpPr>
        <p:spPr>
          <a:xfrm>
            <a:off x="3374140" y="2091690"/>
            <a:ext cx="425207" cy="42519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E1117"/>
              </a:buClr>
              <a:buSzPts val="1400"/>
              <a:buFont typeface="Arial"/>
              <a:buNone/>
            </a:pPr>
            <a:r>
              <a:rPr b="1" i="0" lang="en" sz="1400" u="none" cap="none" strike="noStrike">
                <a:solidFill>
                  <a:srgbClr val="0E1117"/>
                </a:solidFill>
                <a:latin typeface="Arial"/>
                <a:ea typeface="Arial"/>
                <a:cs typeface="Arial"/>
                <a:sym typeface="Arial"/>
              </a:rPr>
              <a:t>2</a:t>
            </a:r>
            <a:endParaRPr b="0" i="0" sz="1400" u="none" cap="none" strike="noStrike">
              <a:solidFill>
                <a:schemeClr val="dk1"/>
              </a:solidFill>
              <a:latin typeface="Calibri"/>
              <a:ea typeface="Calibri"/>
              <a:cs typeface="Calibri"/>
              <a:sym typeface="Calibri"/>
            </a:endParaRPr>
          </a:p>
        </p:txBody>
      </p:sp>
      <p:sp>
        <p:nvSpPr>
          <p:cNvPr id="581" name="Google Shape;581;p45"/>
          <p:cNvSpPr/>
          <p:nvPr/>
        </p:nvSpPr>
        <p:spPr>
          <a:xfrm>
            <a:off x="2670062" y="2640330"/>
            <a:ext cx="1833364"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4F6FA"/>
              </a:buClr>
              <a:buSzPts val="1100"/>
              <a:buFont typeface="Arial"/>
              <a:buNone/>
            </a:pPr>
            <a:r>
              <a:rPr b="1" i="0" lang="en" sz="1100" u="none" cap="none" strike="noStrike">
                <a:solidFill>
                  <a:srgbClr val="F4F6FA"/>
                </a:solidFill>
                <a:latin typeface="Arial"/>
                <a:ea typeface="Arial"/>
                <a:cs typeface="Arial"/>
                <a:sym typeface="Arial"/>
              </a:rPr>
              <a:t>Year 1</a:t>
            </a:r>
            <a:endParaRPr b="0" i="0" sz="1100" u="none" cap="none" strike="noStrike">
              <a:solidFill>
                <a:schemeClr val="dk1"/>
              </a:solidFill>
              <a:latin typeface="Calibri"/>
              <a:ea typeface="Calibri"/>
              <a:cs typeface="Calibri"/>
              <a:sym typeface="Calibri"/>
            </a:endParaRPr>
          </a:p>
        </p:txBody>
      </p:sp>
      <p:sp>
        <p:nvSpPr>
          <p:cNvPr id="582" name="Google Shape;582;p45"/>
          <p:cNvSpPr/>
          <p:nvPr/>
        </p:nvSpPr>
        <p:spPr>
          <a:xfrm>
            <a:off x="2670062" y="2969514"/>
            <a:ext cx="1833364" cy="2400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900"/>
              <a:buFont typeface="Arial"/>
              <a:buNone/>
            </a:pPr>
            <a:r>
              <a:rPr b="1" i="0" lang="en" sz="900" u="none" cap="none" strike="noStrike">
                <a:solidFill>
                  <a:srgbClr val="F59E0B"/>
                </a:solidFill>
                <a:latin typeface="Arial"/>
                <a:ea typeface="Arial"/>
                <a:cs typeface="Arial"/>
                <a:sym typeface="Arial"/>
              </a:rPr>
              <a:t>Build &amp; belong</a:t>
            </a:r>
            <a:endParaRPr b="0" i="0" sz="900" u="none" cap="none" strike="noStrike">
              <a:solidFill>
                <a:schemeClr val="dk1"/>
              </a:solidFill>
              <a:latin typeface="Calibri"/>
              <a:ea typeface="Calibri"/>
              <a:cs typeface="Calibri"/>
              <a:sym typeface="Calibri"/>
            </a:endParaRPr>
          </a:p>
        </p:txBody>
      </p:sp>
      <p:sp>
        <p:nvSpPr>
          <p:cNvPr id="583" name="Google Shape;583;p45"/>
          <p:cNvSpPr/>
          <p:nvPr/>
        </p:nvSpPr>
        <p:spPr>
          <a:xfrm>
            <a:off x="2704353" y="3202686"/>
            <a:ext cx="1764782" cy="960120"/>
          </a:xfrm>
          <a:prstGeom prst="rect">
            <a:avLst/>
          </a:prstGeom>
          <a:noFill/>
          <a:ln>
            <a:noFill/>
          </a:ln>
        </p:spPr>
        <p:txBody>
          <a:bodyPr anchorCtr="0" anchor="ctr" bIns="34275" lIns="68575" spcFirstLastPara="1" rIns="68575" wrap="square" tIns="34275">
            <a:noAutofit/>
          </a:bodyPr>
          <a:lstStyle/>
          <a:p>
            <a:pPr indent="0" lvl="0" marL="0" marR="0" rtl="0" algn="ctr">
              <a:lnSpc>
                <a:spcPct val="130434"/>
              </a:lnSpc>
              <a:spcBef>
                <a:spcPts val="0"/>
              </a:spcBef>
              <a:spcAft>
                <a:spcPts val="0"/>
              </a:spcAft>
              <a:buClr>
                <a:srgbClr val="AEB6C4"/>
              </a:buClr>
              <a:buSzPts val="900"/>
              <a:buFont typeface="Arial"/>
              <a:buNone/>
            </a:pPr>
            <a:r>
              <a:rPr b="0" i="0" lang="en" sz="900" u="none" cap="none" strike="noStrike">
                <a:solidFill>
                  <a:srgbClr val="AEB6C4"/>
                </a:solidFill>
                <a:latin typeface="Arial"/>
                <a:ea typeface="Arial"/>
                <a:cs typeface="Arial"/>
                <a:sym typeface="Arial"/>
              </a:rPr>
              <a:t>Ship 2–3 real projects, however small. Join a team and contribute. Start writing about what you learn.</a:t>
            </a:r>
            <a:endParaRPr b="0" i="0" sz="900" u="none" cap="none" strike="noStrike">
              <a:solidFill>
                <a:schemeClr val="dk1"/>
              </a:solidFill>
              <a:latin typeface="Calibri"/>
              <a:ea typeface="Calibri"/>
              <a:cs typeface="Calibri"/>
              <a:sym typeface="Calibri"/>
            </a:endParaRPr>
          </a:p>
        </p:txBody>
      </p:sp>
      <p:sp>
        <p:nvSpPr>
          <p:cNvPr id="584" name="Google Shape;584;p45"/>
          <p:cNvSpPr/>
          <p:nvPr/>
        </p:nvSpPr>
        <p:spPr>
          <a:xfrm>
            <a:off x="5344668" y="2091690"/>
            <a:ext cx="425207" cy="425196"/>
          </a:xfrm>
          <a:prstGeom prst="ellipse">
            <a:avLst/>
          </a:prstGeom>
          <a:solidFill>
            <a:srgbClr val="F59E0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5" name="Google Shape;585;p45"/>
          <p:cNvSpPr/>
          <p:nvPr/>
        </p:nvSpPr>
        <p:spPr>
          <a:xfrm>
            <a:off x="5344668" y="2091690"/>
            <a:ext cx="425207" cy="42519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E1117"/>
              </a:buClr>
              <a:buSzPts val="1400"/>
              <a:buFont typeface="Arial"/>
              <a:buNone/>
            </a:pPr>
            <a:r>
              <a:rPr b="1" i="0" lang="en" sz="1400" u="none" cap="none" strike="noStrike">
                <a:solidFill>
                  <a:srgbClr val="0E1117"/>
                </a:solidFill>
                <a:latin typeface="Arial"/>
                <a:ea typeface="Arial"/>
                <a:cs typeface="Arial"/>
                <a:sym typeface="Arial"/>
              </a:rPr>
              <a:t>3</a:t>
            </a:r>
            <a:endParaRPr b="0" i="0" sz="1400" u="none" cap="none" strike="noStrike">
              <a:solidFill>
                <a:schemeClr val="dk1"/>
              </a:solidFill>
              <a:latin typeface="Calibri"/>
              <a:ea typeface="Calibri"/>
              <a:cs typeface="Calibri"/>
              <a:sym typeface="Calibri"/>
            </a:endParaRPr>
          </a:p>
        </p:txBody>
      </p:sp>
      <p:sp>
        <p:nvSpPr>
          <p:cNvPr id="586" name="Google Shape;586;p45"/>
          <p:cNvSpPr/>
          <p:nvPr/>
        </p:nvSpPr>
        <p:spPr>
          <a:xfrm>
            <a:off x="4640590" y="2640330"/>
            <a:ext cx="1833364"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4F6FA"/>
              </a:buClr>
              <a:buSzPts val="1100"/>
              <a:buFont typeface="Arial"/>
              <a:buNone/>
            </a:pPr>
            <a:r>
              <a:rPr b="1" i="0" lang="en" sz="1100" u="none" cap="none" strike="noStrike">
                <a:solidFill>
                  <a:srgbClr val="F4F6FA"/>
                </a:solidFill>
                <a:latin typeface="Arial"/>
                <a:ea typeface="Arial"/>
                <a:cs typeface="Arial"/>
                <a:sym typeface="Arial"/>
              </a:rPr>
              <a:t>Year 2</a:t>
            </a:r>
            <a:endParaRPr b="0" i="0" sz="1100" u="none" cap="none" strike="noStrike">
              <a:solidFill>
                <a:schemeClr val="dk1"/>
              </a:solidFill>
              <a:latin typeface="Calibri"/>
              <a:ea typeface="Calibri"/>
              <a:cs typeface="Calibri"/>
              <a:sym typeface="Calibri"/>
            </a:endParaRPr>
          </a:p>
        </p:txBody>
      </p:sp>
      <p:sp>
        <p:nvSpPr>
          <p:cNvPr id="587" name="Google Shape;587;p45"/>
          <p:cNvSpPr/>
          <p:nvPr/>
        </p:nvSpPr>
        <p:spPr>
          <a:xfrm>
            <a:off x="4640590" y="2969514"/>
            <a:ext cx="1833364" cy="2400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900"/>
              <a:buFont typeface="Arial"/>
              <a:buNone/>
            </a:pPr>
            <a:r>
              <a:rPr b="1" i="0" lang="en" sz="900" u="none" cap="none" strike="noStrike">
                <a:solidFill>
                  <a:srgbClr val="F59E0B"/>
                </a:solidFill>
                <a:latin typeface="Arial"/>
                <a:ea typeface="Arial"/>
                <a:cs typeface="Arial"/>
                <a:sym typeface="Arial"/>
              </a:rPr>
              <a:t>Go deep &amp; go real</a:t>
            </a:r>
            <a:endParaRPr b="0" i="0" sz="900" u="none" cap="none" strike="noStrike">
              <a:solidFill>
                <a:schemeClr val="dk1"/>
              </a:solidFill>
              <a:latin typeface="Calibri"/>
              <a:ea typeface="Calibri"/>
              <a:cs typeface="Calibri"/>
              <a:sym typeface="Calibri"/>
            </a:endParaRPr>
          </a:p>
        </p:txBody>
      </p:sp>
      <p:sp>
        <p:nvSpPr>
          <p:cNvPr id="588" name="Google Shape;588;p45"/>
          <p:cNvSpPr/>
          <p:nvPr/>
        </p:nvSpPr>
        <p:spPr>
          <a:xfrm>
            <a:off x="4674881" y="3202686"/>
            <a:ext cx="1764782" cy="960120"/>
          </a:xfrm>
          <a:prstGeom prst="rect">
            <a:avLst/>
          </a:prstGeom>
          <a:noFill/>
          <a:ln>
            <a:noFill/>
          </a:ln>
        </p:spPr>
        <p:txBody>
          <a:bodyPr anchorCtr="0" anchor="ctr" bIns="34275" lIns="68575" spcFirstLastPara="1" rIns="68575" wrap="square" tIns="34275">
            <a:noAutofit/>
          </a:bodyPr>
          <a:lstStyle/>
          <a:p>
            <a:pPr indent="0" lvl="0" marL="0" marR="0" rtl="0" algn="ctr">
              <a:lnSpc>
                <a:spcPct val="130434"/>
              </a:lnSpc>
              <a:spcBef>
                <a:spcPts val="0"/>
              </a:spcBef>
              <a:spcAft>
                <a:spcPts val="0"/>
              </a:spcAft>
              <a:buClr>
                <a:srgbClr val="AEB6C4"/>
              </a:buClr>
              <a:buSzPts val="900"/>
              <a:buFont typeface="Arial"/>
              <a:buNone/>
            </a:pPr>
            <a:r>
              <a:rPr b="0" i="0" lang="en" sz="900" u="none" cap="none" strike="noStrike">
                <a:solidFill>
                  <a:srgbClr val="AEB6C4"/>
                </a:solidFill>
                <a:latin typeface="Arial"/>
                <a:ea typeface="Arial"/>
                <a:cs typeface="Arial"/>
                <a:sym typeface="Arial"/>
              </a:rPr>
              <a:t>Intern at a startup or research lab. Pick a domain and get seriously good. Build one thing strangers use or solves people’s problem.</a:t>
            </a:r>
            <a:endParaRPr b="0" i="0" sz="900" u="none" cap="none" strike="noStrike">
              <a:solidFill>
                <a:schemeClr val="dk1"/>
              </a:solidFill>
              <a:latin typeface="Calibri"/>
              <a:ea typeface="Calibri"/>
              <a:cs typeface="Calibri"/>
              <a:sym typeface="Calibri"/>
            </a:endParaRPr>
          </a:p>
        </p:txBody>
      </p:sp>
      <p:sp>
        <p:nvSpPr>
          <p:cNvPr id="589" name="Google Shape;589;p45"/>
          <p:cNvSpPr/>
          <p:nvPr/>
        </p:nvSpPr>
        <p:spPr>
          <a:xfrm>
            <a:off x="7315195" y="2091690"/>
            <a:ext cx="425207" cy="425196"/>
          </a:xfrm>
          <a:prstGeom prst="ellipse">
            <a:avLst/>
          </a:prstGeom>
          <a:solidFill>
            <a:srgbClr val="F59E0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0" name="Google Shape;590;p45"/>
          <p:cNvSpPr/>
          <p:nvPr/>
        </p:nvSpPr>
        <p:spPr>
          <a:xfrm>
            <a:off x="7315195" y="2091690"/>
            <a:ext cx="425207" cy="42519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E1117"/>
              </a:buClr>
              <a:buSzPts val="1400"/>
              <a:buFont typeface="Arial"/>
              <a:buNone/>
            </a:pPr>
            <a:r>
              <a:rPr b="1" i="0" lang="en" sz="1400" u="none" cap="none" strike="noStrike">
                <a:solidFill>
                  <a:srgbClr val="0E1117"/>
                </a:solidFill>
                <a:latin typeface="Arial"/>
                <a:ea typeface="Arial"/>
                <a:cs typeface="Arial"/>
                <a:sym typeface="Arial"/>
              </a:rPr>
              <a:t>4</a:t>
            </a:r>
            <a:endParaRPr b="0" i="0" sz="1400" u="none" cap="none" strike="noStrike">
              <a:solidFill>
                <a:schemeClr val="dk1"/>
              </a:solidFill>
              <a:latin typeface="Calibri"/>
              <a:ea typeface="Calibri"/>
              <a:cs typeface="Calibri"/>
              <a:sym typeface="Calibri"/>
            </a:endParaRPr>
          </a:p>
        </p:txBody>
      </p:sp>
      <p:sp>
        <p:nvSpPr>
          <p:cNvPr id="591" name="Google Shape;591;p45"/>
          <p:cNvSpPr/>
          <p:nvPr/>
        </p:nvSpPr>
        <p:spPr>
          <a:xfrm>
            <a:off x="6611116" y="2640330"/>
            <a:ext cx="1833364"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4F6FA"/>
              </a:buClr>
              <a:buSzPts val="1100"/>
              <a:buFont typeface="Arial"/>
              <a:buNone/>
            </a:pPr>
            <a:r>
              <a:rPr b="1" i="0" lang="en" sz="1100" u="none" cap="none" strike="noStrike">
                <a:solidFill>
                  <a:srgbClr val="F4F6FA"/>
                </a:solidFill>
                <a:latin typeface="Arial"/>
                <a:ea typeface="Arial"/>
                <a:cs typeface="Arial"/>
                <a:sym typeface="Arial"/>
              </a:rPr>
              <a:t>Year 2</a:t>
            </a:r>
            <a:endParaRPr b="0" i="0" sz="1100" u="none" cap="none" strike="noStrike">
              <a:solidFill>
                <a:schemeClr val="dk1"/>
              </a:solidFill>
              <a:latin typeface="Calibri"/>
              <a:ea typeface="Calibri"/>
              <a:cs typeface="Calibri"/>
              <a:sym typeface="Calibri"/>
            </a:endParaRPr>
          </a:p>
        </p:txBody>
      </p:sp>
      <p:sp>
        <p:nvSpPr>
          <p:cNvPr id="592" name="Google Shape;592;p45"/>
          <p:cNvSpPr/>
          <p:nvPr/>
        </p:nvSpPr>
        <p:spPr>
          <a:xfrm>
            <a:off x="6611116" y="2969514"/>
            <a:ext cx="1833364" cy="2400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59E0B"/>
              </a:buClr>
              <a:buSzPts val="900"/>
              <a:buFont typeface="Arial"/>
              <a:buNone/>
            </a:pPr>
            <a:r>
              <a:rPr b="1" i="0" lang="en" sz="900" u="none" cap="none" strike="noStrike">
                <a:solidFill>
                  <a:srgbClr val="F59E0B"/>
                </a:solidFill>
                <a:latin typeface="Arial"/>
                <a:ea typeface="Arial"/>
                <a:cs typeface="Arial"/>
                <a:sym typeface="Arial"/>
              </a:rPr>
              <a:t>Choose ownership</a:t>
            </a:r>
            <a:endParaRPr b="0" i="0" sz="900" u="none" cap="none" strike="noStrike">
              <a:solidFill>
                <a:schemeClr val="dk1"/>
              </a:solidFill>
              <a:latin typeface="Calibri"/>
              <a:ea typeface="Calibri"/>
              <a:cs typeface="Calibri"/>
              <a:sym typeface="Calibri"/>
            </a:endParaRPr>
          </a:p>
        </p:txBody>
      </p:sp>
      <p:sp>
        <p:nvSpPr>
          <p:cNvPr id="593" name="Google Shape;593;p45"/>
          <p:cNvSpPr/>
          <p:nvPr/>
        </p:nvSpPr>
        <p:spPr>
          <a:xfrm>
            <a:off x="6645407" y="3202686"/>
            <a:ext cx="1764782" cy="960120"/>
          </a:xfrm>
          <a:prstGeom prst="rect">
            <a:avLst/>
          </a:prstGeom>
          <a:noFill/>
          <a:ln>
            <a:noFill/>
          </a:ln>
        </p:spPr>
        <p:txBody>
          <a:bodyPr anchorCtr="0" anchor="ctr" bIns="34275" lIns="68575" spcFirstLastPara="1" rIns="68575" wrap="square" tIns="34275">
            <a:noAutofit/>
          </a:bodyPr>
          <a:lstStyle/>
          <a:p>
            <a:pPr indent="0" lvl="0" marL="0" marR="0" rtl="0" algn="ctr">
              <a:lnSpc>
                <a:spcPct val="130434"/>
              </a:lnSpc>
              <a:spcBef>
                <a:spcPts val="0"/>
              </a:spcBef>
              <a:spcAft>
                <a:spcPts val="0"/>
              </a:spcAft>
              <a:buClr>
                <a:srgbClr val="AEB6C4"/>
              </a:buClr>
              <a:buSzPts val="900"/>
              <a:buFont typeface="Arial"/>
              <a:buNone/>
            </a:pPr>
            <a:r>
              <a:rPr b="0" i="0" lang="en" sz="900" u="none" cap="none" strike="noStrike">
                <a:solidFill>
                  <a:srgbClr val="AEB6C4"/>
                </a:solidFill>
                <a:latin typeface="Arial"/>
                <a:ea typeface="Arial"/>
                <a:cs typeface="Arial"/>
                <a:sym typeface="Arial"/>
              </a:rPr>
              <a:t>Convert learning into a role you want. Optimise for team &amp; problem, not just pay. Keep one ambitious side project alive.</a:t>
            </a:r>
            <a:endParaRPr b="0" i="0" sz="900" u="none" cap="none" strike="noStrike">
              <a:solidFill>
                <a:schemeClr val="dk1"/>
              </a:solidFill>
              <a:latin typeface="Calibri"/>
              <a:ea typeface="Calibri"/>
              <a:cs typeface="Calibri"/>
              <a:sym typeface="Calibri"/>
            </a:endParaRPr>
          </a:p>
        </p:txBody>
      </p:sp>
      <p:sp>
        <p:nvSpPr>
          <p:cNvPr id="594" name="Google Shape;594;p45"/>
          <p:cNvSpPr/>
          <p:nvPr/>
        </p:nvSpPr>
        <p:spPr>
          <a:xfrm>
            <a:off x="630953" y="4149090"/>
            <a:ext cx="7882109" cy="48006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6B7382"/>
              </a:buClr>
              <a:buSzPts val="1200"/>
              <a:buFont typeface="Arial"/>
              <a:buNone/>
            </a:pPr>
            <a:r>
              <a:rPr b="0" i="1" lang="en" sz="1200" u="none" cap="none" strike="noStrike">
                <a:solidFill>
                  <a:srgbClr val="6B7382"/>
                </a:solidFill>
                <a:latin typeface="Arial"/>
                <a:ea typeface="Arial"/>
                <a:cs typeface="Arial"/>
                <a:sym typeface="Arial"/>
              </a:rPr>
              <a:t>Treat this as a direction, not a syllabus the only rule is: </a:t>
            </a:r>
            <a:r>
              <a:rPr b="1" i="1" lang="en" sz="1200" u="none" cap="none" strike="noStrike">
                <a:solidFill>
                  <a:srgbClr val="6B7382"/>
                </a:solidFill>
                <a:latin typeface="Arial"/>
                <a:ea typeface="Arial"/>
                <a:cs typeface="Arial"/>
                <a:sym typeface="Arial"/>
              </a:rPr>
              <a:t>build something every year!</a:t>
            </a:r>
            <a:endParaRPr b="0" i="0" sz="1200" u="none" cap="none" strike="noStrike">
              <a:solidFill>
                <a:schemeClr val="dk1"/>
              </a:solidFill>
              <a:latin typeface="Calibri"/>
              <a:ea typeface="Calibri"/>
              <a:cs typeface="Calibri"/>
              <a:sym typeface="Calibri"/>
            </a:endParaRPr>
          </a:p>
        </p:txBody>
      </p:sp>
      <p:sp>
        <p:nvSpPr>
          <p:cNvPr id="595" name="Google Shape;595;p45"/>
          <p:cNvSpPr/>
          <p:nvPr/>
        </p:nvSpPr>
        <p:spPr>
          <a:xfrm>
            <a:off x="630953" y="4800600"/>
            <a:ext cx="411491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FROM CAMPUS TO STARTUP</a:t>
            </a:r>
            <a:endParaRPr b="0" i="0" sz="700" u="none" cap="none" strike="noStrike">
              <a:solidFill>
                <a:schemeClr val="dk1"/>
              </a:solidFill>
              <a:latin typeface="Calibri"/>
              <a:ea typeface="Calibri"/>
              <a:cs typeface="Calibri"/>
              <a:sym typeface="Calibri"/>
            </a:endParaRPr>
          </a:p>
        </p:txBody>
      </p:sp>
      <p:sp>
        <p:nvSpPr>
          <p:cNvPr id="596" name="Google Shape;596;p45"/>
          <p:cNvSpPr/>
          <p:nvPr/>
        </p:nvSpPr>
        <p:spPr>
          <a:xfrm>
            <a:off x="7964407" y="4800600"/>
            <a:ext cx="548655"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19</a:t>
            </a:r>
            <a:endParaRPr b="0" i="0" sz="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71"/>
                                        </p:tgtEl>
                                        <p:attrNameLst>
                                          <p:attrName>style.visibility</p:attrName>
                                        </p:attrNameLst>
                                      </p:cBhvr>
                                      <p:to>
                                        <p:strVal val="visible"/>
                                      </p:to>
                                    </p:set>
                                    <p:animEffect filter="fade" transition="in">
                                      <p:cBhvr>
                                        <p:cTn dur="500"/>
                                        <p:tgtEl>
                                          <p:spTgt spid="57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72"/>
                                        </p:tgtEl>
                                        <p:attrNameLst>
                                          <p:attrName>style.visibility</p:attrName>
                                        </p:attrNameLst>
                                      </p:cBhvr>
                                      <p:to>
                                        <p:strVal val="visible"/>
                                      </p:to>
                                    </p:set>
                                    <p:animEffect filter="fade" transition="in">
                                      <p:cBhvr>
                                        <p:cTn dur="500"/>
                                        <p:tgtEl>
                                          <p:spTgt spid="57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73"/>
                                        </p:tgtEl>
                                        <p:attrNameLst>
                                          <p:attrName>style.visibility</p:attrName>
                                        </p:attrNameLst>
                                      </p:cBhvr>
                                      <p:to>
                                        <p:strVal val="visible"/>
                                      </p:to>
                                    </p:set>
                                    <p:animEffect filter="fade" transition="in">
                                      <p:cBhvr>
                                        <p:cTn dur="500"/>
                                        <p:tgtEl>
                                          <p:spTgt spid="57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75"/>
                                        </p:tgtEl>
                                        <p:attrNameLst>
                                          <p:attrName>style.visibility</p:attrName>
                                        </p:attrNameLst>
                                      </p:cBhvr>
                                      <p:to>
                                        <p:strVal val="visible"/>
                                      </p:to>
                                    </p:set>
                                    <p:animEffect filter="fade" transition="in">
                                      <p:cBhvr>
                                        <p:cTn dur="500"/>
                                        <p:tgtEl>
                                          <p:spTgt spid="57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76"/>
                                        </p:tgtEl>
                                        <p:attrNameLst>
                                          <p:attrName>style.visibility</p:attrName>
                                        </p:attrNameLst>
                                      </p:cBhvr>
                                      <p:to>
                                        <p:strVal val="visible"/>
                                      </p:to>
                                    </p:set>
                                    <p:animEffect filter="fade" transition="in">
                                      <p:cBhvr>
                                        <p:cTn dur="500"/>
                                        <p:tgtEl>
                                          <p:spTgt spid="576"/>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577"/>
                                        </p:tgtEl>
                                        <p:attrNameLst>
                                          <p:attrName>style.visibility</p:attrName>
                                        </p:attrNameLst>
                                      </p:cBhvr>
                                      <p:to>
                                        <p:strVal val="visible"/>
                                      </p:to>
                                    </p:set>
                                    <p:animEffect filter="fade" transition="in">
                                      <p:cBhvr>
                                        <p:cTn dur="500"/>
                                        <p:tgtEl>
                                          <p:spTgt spid="57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578"/>
                                        </p:tgtEl>
                                        <p:attrNameLst>
                                          <p:attrName>style.visibility</p:attrName>
                                        </p:attrNameLst>
                                      </p:cBhvr>
                                      <p:to>
                                        <p:strVal val="visible"/>
                                      </p:to>
                                    </p:set>
                                    <p:animEffect filter="fade" transition="in">
                                      <p:cBhvr>
                                        <p:cTn dur="500"/>
                                        <p:tgtEl>
                                          <p:spTgt spid="578"/>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500"/>
                                        <p:tgtEl>
                                          <p:spTgt spid="580"/>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581"/>
                                        </p:tgtEl>
                                        <p:attrNameLst>
                                          <p:attrName>style.visibility</p:attrName>
                                        </p:attrNameLst>
                                      </p:cBhvr>
                                      <p:to>
                                        <p:strVal val="visible"/>
                                      </p:to>
                                    </p:set>
                                    <p:animEffect filter="fade" transition="in">
                                      <p:cBhvr>
                                        <p:cTn dur="500"/>
                                        <p:tgtEl>
                                          <p:spTgt spid="581"/>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582"/>
                                        </p:tgtEl>
                                        <p:attrNameLst>
                                          <p:attrName>style.visibility</p:attrName>
                                        </p:attrNameLst>
                                      </p:cBhvr>
                                      <p:to>
                                        <p:strVal val="visible"/>
                                      </p:to>
                                    </p:set>
                                    <p:animEffect filter="fade" transition="in">
                                      <p:cBhvr>
                                        <p:cTn dur="500"/>
                                        <p:tgtEl>
                                          <p:spTgt spid="582"/>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583"/>
                                        </p:tgtEl>
                                        <p:attrNameLst>
                                          <p:attrName>style.visibility</p:attrName>
                                        </p:attrNameLst>
                                      </p:cBhvr>
                                      <p:to>
                                        <p:strVal val="visible"/>
                                      </p:to>
                                    </p:set>
                                    <p:animEffect filter="fade" transition="in">
                                      <p:cBhvr>
                                        <p:cTn dur="500"/>
                                        <p:tgtEl>
                                          <p:spTgt spid="583"/>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585"/>
                                        </p:tgtEl>
                                        <p:attrNameLst>
                                          <p:attrName>style.visibility</p:attrName>
                                        </p:attrNameLst>
                                      </p:cBhvr>
                                      <p:to>
                                        <p:strVal val="visible"/>
                                      </p:to>
                                    </p:set>
                                    <p:animEffect filter="fade" transition="in">
                                      <p:cBhvr>
                                        <p:cTn dur="500"/>
                                        <p:tgtEl>
                                          <p:spTgt spid="585"/>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586"/>
                                        </p:tgtEl>
                                        <p:attrNameLst>
                                          <p:attrName>style.visibility</p:attrName>
                                        </p:attrNameLst>
                                      </p:cBhvr>
                                      <p:to>
                                        <p:strVal val="visible"/>
                                      </p:to>
                                    </p:set>
                                    <p:animEffect filter="fade" transition="in">
                                      <p:cBhvr>
                                        <p:cTn dur="500"/>
                                        <p:tgtEl>
                                          <p:spTgt spid="586"/>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587"/>
                                        </p:tgtEl>
                                        <p:attrNameLst>
                                          <p:attrName>style.visibility</p:attrName>
                                        </p:attrNameLst>
                                      </p:cBhvr>
                                      <p:to>
                                        <p:strVal val="visible"/>
                                      </p:to>
                                    </p:set>
                                    <p:animEffect filter="fade" transition="in">
                                      <p:cBhvr>
                                        <p:cTn dur="500"/>
                                        <p:tgtEl>
                                          <p:spTgt spid="587"/>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588"/>
                                        </p:tgtEl>
                                        <p:attrNameLst>
                                          <p:attrName>style.visibility</p:attrName>
                                        </p:attrNameLst>
                                      </p:cBhvr>
                                      <p:to>
                                        <p:strVal val="visible"/>
                                      </p:to>
                                    </p:set>
                                    <p:animEffect filter="fade" transition="in">
                                      <p:cBhvr>
                                        <p:cTn dur="500"/>
                                        <p:tgtEl>
                                          <p:spTgt spid="588"/>
                                        </p:tgtEl>
                                      </p:cBhvr>
                                    </p:animEffect>
                                  </p:childTnLst>
                                </p:cTn>
                              </p:par>
                            </p:childTnLst>
                          </p:cTn>
                        </p:par>
                        <p:par>
                          <p:cTn fill="hold">
                            <p:stCondLst>
                              <p:cond delay="7500"/>
                            </p:stCondLst>
                            <p:childTnLst>
                              <p:par>
                                <p:cTn fill="hold" nodeType="afterEffect" presetClass="entr" presetID="10" presetSubtype="0">
                                  <p:stCondLst>
                                    <p:cond delay="0"/>
                                  </p:stCondLst>
                                  <p:childTnLst>
                                    <p:set>
                                      <p:cBhvr>
                                        <p:cTn dur="1" fill="hold">
                                          <p:stCondLst>
                                            <p:cond delay="0"/>
                                          </p:stCondLst>
                                        </p:cTn>
                                        <p:tgtEl>
                                          <p:spTgt spid="590"/>
                                        </p:tgtEl>
                                        <p:attrNameLst>
                                          <p:attrName>style.visibility</p:attrName>
                                        </p:attrNameLst>
                                      </p:cBhvr>
                                      <p:to>
                                        <p:strVal val="visible"/>
                                      </p:to>
                                    </p:set>
                                    <p:animEffect filter="fade" transition="in">
                                      <p:cBhvr>
                                        <p:cTn dur="500"/>
                                        <p:tgtEl>
                                          <p:spTgt spid="590"/>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591"/>
                                        </p:tgtEl>
                                        <p:attrNameLst>
                                          <p:attrName>style.visibility</p:attrName>
                                        </p:attrNameLst>
                                      </p:cBhvr>
                                      <p:to>
                                        <p:strVal val="visible"/>
                                      </p:to>
                                    </p:set>
                                    <p:animEffect filter="fade" transition="in">
                                      <p:cBhvr>
                                        <p:cTn dur="500"/>
                                        <p:tgtEl>
                                          <p:spTgt spid="591"/>
                                        </p:tgtEl>
                                      </p:cBhvr>
                                    </p:animEffect>
                                  </p:childTnLst>
                                </p:cTn>
                              </p:par>
                            </p:childTnLst>
                          </p:cTn>
                        </p:par>
                        <p:par>
                          <p:cTn fill="hold">
                            <p:stCondLst>
                              <p:cond delay="8500"/>
                            </p:stCondLst>
                            <p:childTnLst>
                              <p:par>
                                <p:cTn fill="hold" nodeType="afterEffect" presetClass="entr" presetID="10" presetSubtype="0">
                                  <p:stCondLst>
                                    <p:cond delay="0"/>
                                  </p:stCondLst>
                                  <p:childTnLst>
                                    <p:set>
                                      <p:cBhvr>
                                        <p:cTn dur="1" fill="hold">
                                          <p:stCondLst>
                                            <p:cond delay="0"/>
                                          </p:stCondLst>
                                        </p:cTn>
                                        <p:tgtEl>
                                          <p:spTgt spid="592"/>
                                        </p:tgtEl>
                                        <p:attrNameLst>
                                          <p:attrName>style.visibility</p:attrName>
                                        </p:attrNameLst>
                                      </p:cBhvr>
                                      <p:to>
                                        <p:strVal val="visible"/>
                                      </p:to>
                                    </p:set>
                                    <p:animEffect filter="fade" transition="in">
                                      <p:cBhvr>
                                        <p:cTn dur="500"/>
                                        <p:tgtEl>
                                          <p:spTgt spid="592"/>
                                        </p:tgtEl>
                                      </p:cBhvr>
                                    </p:animEffect>
                                  </p:childTnLst>
                                </p:cTn>
                              </p:par>
                            </p:childTnLst>
                          </p:cTn>
                        </p:par>
                        <p:par>
                          <p:cTn fill="hold">
                            <p:stCondLst>
                              <p:cond delay="9000"/>
                            </p:stCondLst>
                            <p:childTnLst>
                              <p:par>
                                <p:cTn fill="hold" nodeType="afterEffect" presetClass="entr" presetID="10" presetSubtype="0">
                                  <p:stCondLst>
                                    <p:cond delay="0"/>
                                  </p:stCondLst>
                                  <p:childTnLst>
                                    <p:set>
                                      <p:cBhvr>
                                        <p:cTn dur="1" fill="hold">
                                          <p:stCondLst>
                                            <p:cond delay="0"/>
                                          </p:stCondLst>
                                        </p:cTn>
                                        <p:tgtEl>
                                          <p:spTgt spid="593"/>
                                        </p:tgtEl>
                                        <p:attrNameLst>
                                          <p:attrName>style.visibility</p:attrName>
                                        </p:attrNameLst>
                                      </p:cBhvr>
                                      <p:to>
                                        <p:strVal val="visible"/>
                                      </p:to>
                                    </p:set>
                                    <p:animEffect filter="fade" transition="in">
                                      <p:cBhvr>
                                        <p:cTn dur="500"/>
                                        <p:tgtEl>
                                          <p:spTgt spid="593"/>
                                        </p:tgtEl>
                                      </p:cBhvr>
                                    </p:animEffect>
                                  </p:childTnLst>
                                </p:cTn>
                              </p:par>
                            </p:childTnLst>
                          </p:cTn>
                        </p:par>
                        <p:par>
                          <p:cTn fill="hold">
                            <p:stCondLst>
                              <p:cond delay="9500"/>
                            </p:stCondLst>
                            <p:childTnLst>
                              <p:par>
                                <p:cTn fill="hold" nodeType="afterEffect" presetClass="entr" presetID="10" presetSubtype="0">
                                  <p:stCondLst>
                                    <p:cond delay="0"/>
                                  </p:stCondLst>
                                  <p:childTnLst>
                                    <p:set>
                                      <p:cBhvr>
                                        <p:cTn dur="1" fill="hold">
                                          <p:stCondLst>
                                            <p:cond delay="0"/>
                                          </p:stCondLst>
                                        </p:cTn>
                                        <p:tgtEl>
                                          <p:spTgt spid="594"/>
                                        </p:tgtEl>
                                        <p:attrNameLst>
                                          <p:attrName>style.visibility</p:attrName>
                                        </p:attrNameLst>
                                      </p:cBhvr>
                                      <p:to>
                                        <p:strVal val="visible"/>
                                      </p:to>
                                    </p:set>
                                    <p:animEffect filter="fade" transition="in">
                                      <p:cBhvr>
                                        <p:cTn dur="500"/>
                                        <p:tgtEl>
                                          <p:spTgt spid="594"/>
                                        </p:tgtEl>
                                      </p:cBhvr>
                                    </p:animEffect>
                                  </p:childTnLst>
                                </p:cTn>
                              </p:par>
                            </p:childTnLst>
                          </p:cTn>
                        </p:par>
                        <p:par>
                          <p:cTn fill="hold">
                            <p:stCondLst>
                              <p:cond delay="10000"/>
                            </p:stCondLst>
                            <p:childTnLst>
                              <p:par>
                                <p:cTn fill="hold" nodeType="afterEffect" presetClass="entr" presetID="10" presetSubtype="0">
                                  <p:stCondLst>
                                    <p:cond delay="0"/>
                                  </p:stCondLst>
                                  <p:childTnLst>
                                    <p:set>
                                      <p:cBhvr>
                                        <p:cTn dur="1" fill="hold">
                                          <p:stCondLst>
                                            <p:cond delay="0"/>
                                          </p:stCondLst>
                                        </p:cTn>
                                        <p:tgtEl>
                                          <p:spTgt spid="595"/>
                                        </p:tgtEl>
                                        <p:attrNameLst>
                                          <p:attrName>style.visibility</p:attrName>
                                        </p:attrNameLst>
                                      </p:cBhvr>
                                      <p:to>
                                        <p:strVal val="visible"/>
                                      </p:to>
                                    </p:set>
                                    <p:animEffect filter="fade" transition="in">
                                      <p:cBhvr>
                                        <p:cTn dur="500"/>
                                        <p:tgtEl>
                                          <p:spTgt spid="595"/>
                                        </p:tgtEl>
                                      </p:cBhvr>
                                    </p:animEffect>
                                  </p:childTnLst>
                                </p:cTn>
                              </p:par>
                            </p:childTnLst>
                          </p:cTn>
                        </p:par>
                        <p:par>
                          <p:cTn fill="hold">
                            <p:stCondLst>
                              <p:cond delay="10500"/>
                            </p:stCondLst>
                            <p:childTnLst>
                              <p:par>
                                <p:cTn fill="hold" nodeType="afterEffect" presetClass="entr" presetID="10" presetSubtype="0">
                                  <p:stCondLst>
                                    <p:cond delay="0"/>
                                  </p:stCondLst>
                                  <p:childTnLst>
                                    <p:set>
                                      <p:cBhvr>
                                        <p:cTn dur="1" fill="hold">
                                          <p:stCondLst>
                                            <p:cond delay="0"/>
                                          </p:stCondLst>
                                        </p:cTn>
                                        <p:tgtEl>
                                          <p:spTgt spid="596"/>
                                        </p:tgtEl>
                                        <p:attrNameLst>
                                          <p:attrName>style.visibility</p:attrName>
                                        </p:attrNameLst>
                                      </p:cBhvr>
                                      <p:to>
                                        <p:strVal val="visible"/>
                                      </p:to>
                                    </p:set>
                                    <p:animEffect filter="fade" transition="in">
                                      <p:cBhvr>
                                        <p:cTn dur="500"/>
                                        <p:tgtEl>
                                          <p:spTgt spid="5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B10"/>
        </a:solidFill>
      </p:bgPr>
    </p:bg>
    <p:spTree>
      <p:nvGrpSpPr>
        <p:cNvPr id="601" name="Shape 601"/>
        <p:cNvGrpSpPr/>
        <p:nvPr/>
      </p:nvGrpSpPr>
      <p:grpSpPr>
        <a:xfrm>
          <a:off x="0" y="0"/>
          <a:ext cx="0" cy="0"/>
          <a:chOff x="0" y="0"/>
          <a:chExt cx="0" cy="0"/>
        </a:xfrm>
      </p:grpSpPr>
      <p:sp>
        <p:nvSpPr>
          <p:cNvPr id="602" name="Google Shape;602;p46"/>
          <p:cNvSpPr/>
          <p:nvPr/>
        </p:nvSpPr>
        <p:spPr>
          <a:xfrm>
            <a:off x="-1783128" y="2263139"/>
            <a:ext cx="4800728" cy="480060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3" name="Google Shape;603;p46"/>
          <p:cNvSpPr/>
          <p:nvPr/>
        </p:nvSpPr>
        <p:spPr>
          <a:xfrm>
            <a:off x="-1111026" y="2935224"/>
            <a:ext cx="3456524" cy="3456432"/>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4" name="Google Shape;604;p46"/>
          <p:cNvSpPr/>
          <p:nvPr/>
        </p:nvSpPr>
        <p:spPr>
          <a:xfrm>
            <a:off x="630953" y="788670"/>
            <a:ext cx="2057455" cy="16459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430"/>
              </a:buClr>
              <a:buSzPts val="11300"/>
              <a:buFont typeface="Arial"/>
              <a:buNone/>
            </a:pPr>
            <a:r>
              <a:rPr b="1" i="0" lang="en" sz="11300" u="none" cap="none" strike="noStrike">
                <a:solidFill>
                  <a:srgbClr val="1F2430"/>
                </a:solidFill>
                <a:latin typeface="Arial"/>
                <a:ea typeface="Arial"/>
                <a:cs typeface="Arial"/>
                <a:sym typeface="Arial"/>
              </a:rPr>
              <a:t>11</a:t>
            </a:r>
            <a:endParaRPr b="0" i="0" sz="11300" u="none" cap="none" strike="noStrike">
              <a:solidFill>
                <a:schemeClr val="dk1"/>
              </a:solidFill>
              <a:latin typeface="Calibri"/>
              <a:ea typeface="Calibri"/>
              <a:cs typeface="Calibri"/>
              <a:sym typeface="Calibri"/>
            </a:endParaRPr>
          </a:p>
        </p:txBody>
      </p:sp>
      <p:sp>
        <p:nvSpPr>
          <p:cNvPr id="605" name="Google Shape;605;p46"/>
          <p:cNvSpPr/>
          <p:nvPr/>
        </p:nvSpPr>
        <p:spPr>
          <a:xfrm>
            <a:off x="658386" y="2482595"/>
            <a:ext cx="6858183"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IF YOU REMEMBER ONLY THREE THINGS</a:t>
            </a:r>
            <a:endParaRPr b="0" i="0" sz="1000" u="none" cap="none" strike="noStrike">
              <a:solidFill>
                <a:schemeClr val="dk1"/>
              </a:solidFill>
              <a:latin typeface="Calibri"/>
              <a:ea typeface="Calibri"/>
              <a:cs typeface="Calibri"/>
              <a:sym typeface="Calibri"/>
            </a:endParaRPr>
          </a:p>
        </p:txBody>
      </p:sp>
      <p:sp>
        <p:nvSpPr>
          <p:cNvPr id="606" name="Google Shape;606;p46"/>
          <p:cNvSpPr/>
          <p:nvPr/>
        </p:nvSpPr>
        <p:spPr>
          <a:xfrm>
            <a:off x="630953" y="2729484"/>
            <a:ext cx="7269674" cy="1392174"/>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4F6FA"/>
              </a:buClr>
              <a:buSzPts val="3200"/>
              <a:buFont typeface="Arial"/>
              <a:buNone/>
            </a:pPr>
            <a:r>
              <a:rPr b="1" i="0" lang="en" sz="3200" u="none" cap="none" strike="noStrike">
                <a:solidFill>
                  <a:srgbClr val="F4F6FA"/>
                </a:solidFill>
                <a:latin typeface="Arial"/>
                <a:ea typeface="Arial"/>
                <a:cs typeface="Arial"/>
                <a:sym typeface="Arial"/>
              </a:rPr>
              <a:t>Three ideas</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4F6FA"/>
              </a:buClr>
              <a:buSzPts val="3200"/>
              <a:buFont typeface="Arial"/>
              <a:buNone/>
            </a:pPr>
            <a:r>
              <a:rPr b="1" i="0" lang="en" sz="3200" u="none" cap="none" strike="noStrike">
                <a:solidFill>
                  <a:srgbClr val="F4F6FA"/>
                </a:solidFill>
                <a:latin typeface="Arial"/>
                <a:ea typeface="Arial"/>
                <a:cs typeface="Arial"/>
                <a:sym typeface="Arial"/>
              </a:rPr>
              <a:t>to carry out</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4F6FA"/>
              </a:buClr>
              <a:buSzPts val="3200"/>
              <a:buFont typeface="Arial"/>
              <a:buNone/>
            </a:pPr>
            <a:r>
              <a:rPr b="1" i="0" lang="en" sz="3200" u="none" cap="none" strike="noStrike">
                <a:solidFill>
                  <a:srgbClr val="F4F6FA"/>
                </a:solidFill>
                <a:latin typeface="Arial"/>
                <a:ea typeface="Arial"/>
                <a:cs typeface="Arial"/>
                <a:sym typeface="Arial"/>
              </a:rPr>
              <a:t>of this room</a:t>
            </a:r>
            <a:endParaRPr b="0" i="0" sz="3200" u="none" cap="none" strike="noStrike">
              <a:solidFill>
                <a:schemeClr val="dk1"/>
              </a:solidFill>
              <a:latin typeface="Calibri"/>
              <a:ea typeface="Calibri"/>
              <a:cs typeface="Calibri"/>
              <a:sym typeface="Calibri"/>
            </a:endParaRPr>
          </a:p>
        </p:txBody>
      </p:sp>
      <p:sp>
        <p:nvSpPr>
          <p:cNvPr id="607" name="Google Shape;607;p46"/>
          <p:cNvSpPr/>
          <p:nvPr/>
        </p:nvSpPr>
        <p:spPr>
          <a:xfrm>
            <a:off x="630953" y="4203954"/>
            <a:ext cx="6721019"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44444"/>
              </a:lnSpc>
              <a:spcBef>
                <a:spcPts val="0"/>
              </a:spcBef>
              <a:spcAft>
                <a:spcPts val="0"/>
              </a:spcAft>
              <a:buClr>
                <a:srgbClr val="AEB6C4"/>
              </a:buClr>
              <a:buSzPts val="1400"/>
              <a:buFont typeface="Arial"/>
              <a:buNone/>
            </a:pPr>
            <a:r>
              <a:rPr b="0" i="0" lang="en" sz="1400" u="none" cap="none" strike="noStrike">
                <a:solidFill>
                  <a:srgbClr val="AEB6C4"/>
                </a:solidFill>
                <a:latin typeface="Arial"/>
                <a:ea typeface="Arial"/>
                <a:cs typeface="Arial"/>
                <a:sym typeface="Arial"/>
              </a:rPr>
              <a:t>Forget the rest. Keep these.</a:t>
            </a:r>
            <a:endParaRPr b="0" i="0" sz="14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04"/>
                                        </p:tgtEl>
                                        <p:attrNameLst>
                                          <p:attrName>style.visibility</p:attrName>
                                        </p:attrNameLst>
                                      </p:cBhvr>
                                      <p:to>
                                        <p:strVal val="visible"/>
                                      </p:to>
                                    </p:set>
                                    <p:animEffect filter="fade" transition="in">
                                      <p:cBhvr>
                                        <p:cTn dur="500"/>
                                        <p:tgtEl>
                                          <p:spTgt spid="60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05"/>
                                        </p:tgtEl>
                                        <p:attrNameLst>
                                          <p:attrName>style.visibility</p:attrName>
                                        </p:attrNameLst>
                                      </p:cBhvr>
                                      <p:to>
                                        <p:strVal val="visible"/>
                                      </p:to>
                                    </p:set>
                                    <p:animEffect filter="fade" transition="in">
                                      <p:cBhvr>
                                        <p:cTn dur="500"/>
                                        <p:tgtEl>
                                          <p:spTgt spid="60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06"/>
                                        </p:tgtEl>
                                        <p:attrNameLst>
                                          <p:attrName>style.visibility</p:attrName>
                                        </p:attrNameLst>
                                      </p:cBhvr>
                                      <p:to>
                                        <p:strVal val="visible"/>
                                      </p:to>
                                    </p:set>
                                    <p:animEffect filter="fade" transition="in">
                                      <p:cBhvr>
                                        <p:cTn dur="500"/>
                                        <p:tgtEl>
                                          <p:spTgt spid="60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607"/>
                                        </p:tgtEl>
                                        <p:attrNameLst>
                                          <p:attrName>style.visibility</p:attrName>
                                        </p:attrNameLst>
                                      </p:cBhvr>
                                      <p:to>
                                        <p:strVal val="visible"/>
                                      </p:to>
                                    </p:set>
                                    <p:animEffect filter="fade" transition="in">
                                      <p:cBhvr>
                                        <p:cTn dur="500"/>
                                        <p:tgtEl>
                                          <p:spTgt spid="6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117"/>
        </a:solidFill>
      </p:bgPr>
    </p:bg>
    <p:spTree>
      <p:nvGrpSpPr>
        <p:cNvPr id="612" name="Shape 612"/>
        <p:cNvGrpSpPr/>
        <p:nvPr/>
      </p:nvGrpSpPr>
      <p:grpSpPr>
        <a:xfrm>
          <a:off x="0" y="0"/>
          <a:ext cx="0" cy="0"/>
          <a:chOff x="0" y="0"/>
          <a:chExt cx="0" cy="0"/>
        </a:xfrm>
      </p:grpSpPr>
      <p:sp>
        <p:nvSpPr>
          <p:cNvPr id="613" name="Google Shape;613;p47"/>
          <p:cNvSpPr/>
          <p:nvPr/>
        </p:nvSpPr>
        <p:spPr>
          <a:xfrm>
            <a:off x="7086559" y="-1234440"/>
            <a:ext cx="3703419" cy="370332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4" name="Google Shape;614;p47"/>
          <p:cNvSpPr/>
          <p:nvPr/>
        </p:nvSpPr>
        <p:spPr>
          <a:xfrm>
            <a:off x="7605039" y="-715975"/>
            <a:ext cx="2666461" cy="2666390"/>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5" name="Google Shape;615;p47"/>
          <p:cNvSpPr/>
          <p:nvPr/>
        </p:nvSpPr>
        <p:spPr>
          <a:xfrm>
            <a:off x="630953" y="617220"/>
            <a:ext cx="7882109" cy="23317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01</a:t>
            </a:r>
            <a:endParaRPr b="0" i="0" sz="1000" u="none" cap="none" strike="noStrike">
              <a:solidFill>
                <a:schemeClr val="dk1"/>
              </a:solidFill>
              <a:latin typeface="Calibri"/>
              <a:ea typeface="Calibri"/>
              <a:cs typeface="Calibri"/>
              <a:sym typeface="Calibri"/>
            </a:endParaRPr>
          </a:p>
        </p:txBody>
      </p:sp>
      <p:sp>
        <p:nvSpPr>
          <p:cNvPr id="616" name="Google Shape;616;p47"/>
          <p:cNvSpPr/>
          <p:nvPr/>
        </p:nvSpPr>
        <p:spPr>
          <a:xfrm>
            <a:off x="630953" y="1371600"/>
            <a:ext cx="7607782" cy="2297430"/>
          </a:xfrm>
          <a:prstGeom prst="rect">
            <a:avLst/>
          </a:prstGeom>
          <a:noFill/>
          <a:ln>
            <a:noFill/>
          </a:ln>
        </p:spPr>
        <p:txBody>
          <a:bodyPr anchorCtr="0" anchor="t" bIns="34275" lIns="68575" spcFirstLastPara="1" rIns="68575" wrap="square" tIns="34275">
            <a:noAutofit/>
          </a:bodyPr>
          <a:lstStyle/>
          <a:p>
            <a:pPr indent="0" lvl="0" marL="0" marR="0" rtl="0" algn="l">
              <a:lnSpc>
                <a:spcPct val="108000"/>
              </a:lnSpc>
              <a:spcBef>
                <a:spcPts val="0"/>
              </a:spcBef>
              <a:spcAft>
                <a:spcPts val="0"/>
              </a:spcAft>
              <a:buClr>
                <a:srgbClr val="F4F6FA"/>
              </a:buClr>
              <a:buSzPts val="3800"/>
              <a:buFont typeface="Arial"/>
              <a:buNone/>
            </a:pPr>
            <a:r>
              <a:rPr b="1" i="0" lang="en" sz="3800" u="none" cap="none" strike="noStrike">
                <a:solidFill>
                  <a:srgbClr val="F4F6FA"/>
                </a:solidFill>
                <a:latin typeface="Arial"/>
                <a:ea typeface="Arial"/>
                <a:cs typeface="Arial"/>
                <a:sym typeface="Arial"/>
              </a:rPr>
              <a:t>Bias for</a:t>
            </a:r>
            <a:br>
              <a:rPr b="1" i="0" lang="en" sz="3800" u="none" cap="none" strike="noStrike">
                <a:solidFill>
                  <a:srgbClr val="F4F6FA"/>
                </a:solidFill>
                <a:latin typeface="Arial"/>
                <a:ea typeface="Arial"/>
                <a:cs typeface="Arial"/>
                <a:sym typeface="Arial"/>
              </a:rPr>
            </a:br>
            <a:r>
              <a:rPr b="1" i="0" lang="en" sz="3800" u="none" cap="none" strike="noStrike">
                <a:solidFill>
                  <a:srgbClr val="F59E0B"/>
                </a:solidFill>
                <a:latin typeface="Arial"/>
                <a:ea typeface="Arial"/>
                <a:cs typeface="Arial"/>
                <a:sym typeface="Arial"/>
              </a:rPr>
              <a:t>building.</a:t>
            </a:r>
            <a:endParaRPr b="0" i="0" sz="3800" u="none" cap="none" strike="noStrike">
              <a:solidFill>
                <a:schemeClr val="dk1"/>
              </a:solidFill>
              <a:latin typeface="Calibri"/>
              <a:ea typeface="Calibri"/>
              <a:cs typeface="Calibri"/>
              <a:sym typeface="Calibri"/>
            </a:endParaRPr>
          </a:p>
        </p:txBody>
      </p:sp>
      <p:sp>
        <p:nvSpPr>
          <p:cNvPr id="617" name="Google Shape;617;p47"/>
          <p:cNvSpPr/>
          <p:nvPr/>
        </p:nvSpPr>
        <p:spPr>
          <a:xfrm>
            <a:off x="630953" y="3463290"/>
            <a:ext cx="6721019" cy="754380"/>
          </a:xfrm>
          <a:prstGeom prst="rect">
            <a:avLst/>
          </a:prstGeom>
          <a:noFill/>
          <a:ln>
            <a:noFill/>
          </a:ln>
        </p:spPr>
        <p:txBody>
          <a:bodyPr anchorCtr="0" anchor="ctr" bIns="34275" lIns="68575" spcFirstLastPara="1" rIns="68575" wrap="square" tIns="34275">
            <a:noAutofit/>
          </a:bodyPr>
          <a:lstStyle/>
          <a:p>
            <a:pPr indent="0" lvl="0" marL="0" marR="0" rtl="0" algn="l">
              <a:lnSpc>
                <a:spcPct val="122727"/>
              </a:lnSpc>
              <a:spcBef>
                <a:spcPts val="0"/>
              </a:spcBef>
              <a:spcAft>
                <a:spcPts val="0"/>
              </a:spcAft>
              <a:buClr>
                <a:srgbClr val="AEB6C4"/>
              </a:buClr>
              <a:buSzPts val="1700"/>
              <a:buFont typeface="Arial"/>
              <a:buNone/>
            </a:pPr>
            <a:r>
              <a:rPr b="0" i="0" lang="en" sz="1700" u="none" cap="none" strike="noStrike">
                <a:solidFill>
                  <a:srgbClr val="AEB6C4"/>
                </a:solidFill>
                <a:latin typeface="Arial"/>
                <a:ea typeface="Arial"/>
                <a:cs typeface="Arial"/>
                <a:sym typeface="Arial"/>
              </a:rPr>
              <a:t>Ideas are cheap, courses are abundant, talk is free. The rarest habit in college and in careers is finishing and shipping real things.</a:t>
            </a:r>
            <a:endParaRPr b="0" i="0" sz="1700" u="none" cap="none" strike="noStrike">
              <a:solidFill>
                <a:schemeClr val="dk1"/>
              </a:solidFill>
              <a:latin typeface="Calibri"/>
              <a:ea typeface="Calibri"/>
              <a:cs typeface="Calibri"/>
              <a:sym typeface="Calibri"/>
            </a:endParaRPr>
          </a:p>
        </p:txBody>
      </p:sp>
      <p:sp>
        <p:nvSpPr>
          <p:cNvPr id="618" name="Google Shape;618;p47"/>
          <p:cNvSpPr/>
          <p:nvPr/>
        </p:nvSpPr>
        <p:spPr>
          <a:xfrm>
            <a:off x="630953" y="4800600"/>
            <a:ext cx="411491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FROM CAMPUS TO STARTUP</a:t>
            </a:r>
            <a:endParaRPr b="0" i="0" sz="700" u="none" cap="none" strike="noStrike">
              <a:solidFill>
                <a:schemeClr val="dk1"/>
              </a:solidFill>
              <a:latin typeface="Calibri"/>
              <a:ea typeface="Calibri"/>
              <a:cs typeface="Calibri"/>
              <a:sym typeface="Calibri"/>
            </a:endParaRPr>
          </a:p>
        </p:txBody>
      </p:sp>
      <p:sp>
        <p:nvSpPr>
          <p:cNvPr id="619" name="Google Shape;619;p47"/>
          <p:cNvSpPr/>
          <p:nvPr/>
        </p:nvSpPr>
        <p:spPr>
          <a:xfrm>
            <a:off x="7964407" y="4800600"/>
            <a:ext cx="548655"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20</a:t>
            </a:r>
            <a:endParaRPr b="0" i="0" sz="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15"/>
                                        </p:tgtEl>
                                        <p:attrNameLst>
                                          <p:attrName>style.visibility</p:attrName>
                                        </p:attrNameLst>
                                      </p:cBhvr>
                                      <p:to>
                                        <p:strVal val="visible"/>
                                      </p:to>
                                    </p:set>
                                    <p:animEffect filter="fade" transition="in">
                                      <p:cBhvr>
                                        <p:cTn dur="500"/>
                                        <p:tgtEl>
                                          <p:spTgt spid="61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16"/>
                                        </p:tgtEl>
                                        <p:attrNameLst>
                                          <p:attrName>style.visibility</p:attrName>
                                        </p:attrNameLst>
                                      </p:cBhvr>
                                      <p:to>
                                        <p:strVal val="visible"/>
                                      </p:to>
                                    </p:set>
                                    <p:animEffect filter="fade" transition="in">
                                      <p:cBhvr>
                                        <p:cTn dur="500"/>
                                        <p:tgtEl>
                                          <p:spTgt spid="61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17"/>
                                        </p:tgtEl>
                                        <p:attrNameLst>
                                          <p:attrName>style.visibility</p:attrName>
                                        </p:attrNameLst>
                                      </p:cBhvr>
                                      <p:to>
                                        <p:strVal val="visible"/>
                                      </p:to>
                                    </p:set>
                                    <p:animEffect filter="fade" transition="in">
                                      <p:cBhvr>
                                        <p:cTn dur="500"/>
                                        <p:tgtEl>
                                          <p:spTgt spid="61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618"/>
                                        </p:tgtEl>
                                        <p:attrNameLst>
                                          <p:attrName>style.visibility</p:attrName>
                                        </p:attrNameLst>
                                      </p:cBhvr>
                                      <p:to>
                                        <p:strVal val="visible"/>
                                      </p:to>
                                    </p:set>
                                    <p:animEffect filter="fade" transition="in">
                                      <p:cBhvr>
                                        <p:cTn dur="500"/>
                                        <p:tgtEl>
                                          <p:spTgt spid="61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19"/>
                                        </p:tgtEl>
                                        <p:attrNameLst>
                                          <p:attrName>style.visibility</p:attrName>
                                        </p:attrNameLst>
                                      </p:cBhvr>
                                      <p:to>
                                        <p:strVal val="visible"/>
                                      </p:to>
                                    </p:set>
                                    <p:animEffect filter="fade" transition="in">
                                      <p:cBhvr>
                                        <p:cTn dur="500"/>
                                        <p:tgtEl>
                                          <p:spTgt spid="6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117"/>
        </a:solidFill>
      </p:bgPr>
    </p:bg>
    <p:spTree>
      <p:nvGrpSpPr>
        <p:cNvPr id="624" name="Shape 624"/>
        <p:cNvGrpSpPr/>
        <p:nvPr/>
      </p:nvGrpSpPr>
      <p:grpSpPr>
        <a:xfrm>
          <a:off x="0" y="0"/>
          <a:ext cx="0" cy="0"/>
          <a:chOff x="0" y="0"/>
          <a:chExt cx="0" cy="0"/>
        </a:xfrm>
      </p:grpSpPr>
      <p:sp>
        <p:nvSpPr>
          <p:cNvPr id="625" name="Google Shape;625;p48"/>
          <p:cNvSpPr/>
          <p:nvPr/>
        </p:nvSpPr>
        <p:spPr>
          <a:xfrm>
            <a:off x="7086559" y="-1234440"/>
            <a:ext cx="3703419" cy="370332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26" name="Google Shape;626;p48"/>
          <p:cNvSpPr/>
          <p:nvPr/>
        </p:nvSpPr>
        <p:spPr>
          <a:xfrm>
            <a:off x="7605039" y="-715975"/>
            <a:ext cx="2666461" cy="2666390"/>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27" name="Google Shape;627;p48"/>
          <p:cNvSpPr/>
          <p:nvPr/>
        </p:nvSpPr>
        <p:spPr>
          <a:xfrm>
            <a:off x="630953" y="617220"/>
            <a:ext cx="7882109" cy="23317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02</a:t>
            </a:r>
            <a:endParaRPr b="0" i="0" sz="1000" u="none" cap="none" strike="noStrike">
              <a:solidFill>
                <a:schemeClr val="dk1"/>
              </a:solidFill>
              <a:latin typeface="Calibri"/>
              <a:ea typeface="Calibri"/>
              <a:cs typeface="Calibri"/>
              <a:sym typeface="Calibri"/>
            </a:endParaRPr>
          </a:p>
        </p:txBody>
      </p:sp>
      <p:sp>
        <p:nvSpPr>
          <p:cNvPr id="628" name="Google Shape;628;p48"/>
          <p:cNvSpPr/>
          <p:nvPr/>
        </p:nvSpPr>
        <p:spPr>
          <a:xfrm>
            <a:off x="630953" y="1371600"/>
            <a:ext cx="7607782" cy="2297430"/>
          </a:xfrm>
          <a:prstGeom prst="rect">
            <a:avLst/>
          </a:prstGeom>
          <a:noFill/>
          <a:ln>
            <a:noFill/>
          </a:ln>
        </p:spPr>
        <p:txBody>
          <a:bodyPr anchorCtr="0" anchor="t" bIns="34275" lIns="68575" spcFirstLastPara="1" rIns="68575" wrap="square" tIns="34275">
            <a:noAutofit/>
          </a:bodyPr>
          <a:lstStyle/>
          <a:p>
            <a:pPr indent="0" lvl="0" marL="0" marR="0" rtl="0" algn="l">
              <a:lnSpc>
                <a:spcPct val="108000"/>
              </a:lnSpc>
              <a:spcBef>
                <a:spcPts val="0"/>
              </a:spcBef>
              <a:spcAft>
                <a:spcPts val="0"/>
              </a:spcAft>
              <a:buClr>
                <a:srgbClr val="F4F6FA"/>
              </a:buClr>
              <a:buSzPts val="3800"/>
              <a:buFont typeface="Arial"/>
              <a:buNone/>
            </a:pPr>
            <a:r>
              <a:rPr b="1" i="0" lang="en" sz="3800" u="none" cap="none" strike="noStrike">
                <a:solidFill>
                  <a:srgbClr val="F4F6FA"/>
                </a:solidFill>
                <a:latin typeface="Arial"/>
                <a:ea typeface="Arial"/>
                <a:cs typeface="Arial"/>
                <a:sym typeface="Arial"/>
              </a:rPr>
              <a:t>Compound</a:t>
            </a:r>
            <a:br>
              <a:rPr b="1" i="0" lang="en" sz="3800" u="none" cap="none" strike="noStrike">
                <a:solidFill>
                  <a:srgbClr val="F4F6FA"/>
                </a:solidFill>
                <a:latin typeface="Arial"/>
                <a:ea typeface="Arial"/>
                <a:cs typeface="Arial"/>
                <a:sym typeface="Arial"/>
              </a:rPr>
            </a:br>
            <a:r>
              <a:rPr b="1" i="0" lang="en" sz="3800" u="none" cap="none" strike="noStrike">
                <a:solidFill>
                  <a:srgbClr val="F59E0B"/>
                </a:solidFill>
                <a:latin typeface="Arial"/>
                <a:ea typeface="Arial"/>
                <a:cs typeface="Arial"/>
                <a:sym typeface="Arial"/>
              </a:rPr>
              <a:t>people &amp; skills.</a:t>
            </a:r>
            <a:endParaRPr b="0" i="0" sz="3800" u="none" cap="none" strike="noStrike">
              <a:solidFill>
                <a:schemeClr val="dk1"/>
              </a:solidFill>
              <a:latin typeface="Calibri"/>
              <a:ea typeface="Calibri"/>
              <a:cs typeface="Calibri"/>
              <a:sym typeface="Calibri"/>
            </a:endParaRPr>
          </a:p>
        </p:txBody>
      </p:sp>
      <p:sp>
        <p:nvSpPr>
          <p:cNvPr id="629" name="Google Shape;629;p48"/>
          <p:cNvSpPr/>
          <p:nvPr/>
        </p:nvSpPr>
        <p:spPr>
          <a:xfrm>
            <a:off x="630953" y="3291839"/>
            <a:ext cx="6721019" cy="754380"/>
          </a:xfrm>
          <a:prstGeom prst="rect">
            <a:avLst/>
          </a:prstGeom>
          <a:noFill/>
          <a:ln>
            <a:noFill/>
          </a:ln>
        </p:spPr>
        <p:txBody>
          <a:bodyPr anchorCtr="0" anchor="ctr" bIns="34275" lIns="68575" spcFirstLastPara="1" rIns="68575" wrap="square" tIns="34275">
            <a:noAutofit/>
          </a:bodyPr>
          <a:lstStyle/>
          <a:p>
            <a:pPr indent="0" lvl="0" marL="0" marR="0" rtl="0" algn="l">
              <a:lnSpc>
                <a:spcPct val="122727"/>
              </a:lnSpc>
              <a:spcBef>
                <a:spcPts val="0"/>
              </a:spcBef>
              <a:spcAft>
                <a:spcPts val="0"/>
              </a:spcAft>
              <a:buClr>
                <a:srgbClr val="AEB6C4"/>
              </a:buClr>
              <a:buSzPts val="1700"/>
              <a:buFont typeface="Arial"/>
              <a:buNone/>
            </a:pPr>
            <a:r>
              <a:rPr b="0" i="0" lang="en" sz="1700" u="none" cap="none" strike="noStrike">
                <a:solidFill>
                  <a:srgbClr val="AEB6C4"/>
                </a:solidFill>
                <a:latin typeface="Arial"/>
                <a:ea typeface="Arial"/>
                <a:cs typeface="Arial"/>
                <a:sym typeface="Arial"/>
              </a:rPr>
              <a:t>Your network and your fundamentals grow like interest. Invest early in friends who build, mentors who care, and skills that don't expire.</a:t>
            </a:r>
            <a:endParaRPr b="0" i="0" sz="1700" u="none" cap="none" strike="noStrike">
              <a:solidFill>
                <a:schemeClr val="dk1"/>
              </a:solidFill>
              <a:latin typeface="Calibri"/>
              <a:ea typeface="Calibri"/>
              <a:cs typeface="Calibri"/>
              <a:sym typeface="Calibri"/>
            </a:endParaRPr>
          </a:p>
        </p:txBody>
      </p:sp>
      <p:sp>
        <p:nvSpPr>
          <p:cNvPr id="630" name="Google Shape;630;p48"/>
          <p:cNvSpPr/>
          <p:nvPr/>
        </p:nvSpPr>
        <p:spPr>
          <a:xfrm>
            <a:off x="630953" y="4800600"/>
            <a:ext cx="411491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FROM CAMPUS TO STARTUP</a:t>
            </a:r>
            <a:endParaRPr b="0" i="0" sz="700" u="none" cap="none" strike="noStrike">
              <a:solidFill>
                <a:schemeClr val="dk1"/>
              </a:solidFill>
              <a:latin typeface="Calibri"/>
              <a:ea typeface="Calibri"/>
              <a:cs typeface="Calibri"/>
              <a:sym typeface="Calibri"/>
            </a:endParaRPr>
          </a:p>
        </p:txBody>
      </p:sp>
      <p:sp>
        <p:nvSpPr>
          <p:cNvPr id="631" name="Google Shape;631;p48"/>
          <p:cNvSpPr/>
          <p:nvPr/>
        </p:nvSpPr>
        <p:spPr>
          <a:xfrm>
            <a:off x="7964407" y="4800600"/>
            <a:ext cx="548655"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21</a:t>
            </a:r>
            <a:endParaRPr b="0" i="0" sz="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27"/>
                                        </p:tgtEl>
                                        <p:attrNameLst>
                                          <p:attrName>style.visibility</p:attrName>
                                        </p:attrNameLst>
                                      </p:cBhvr>
                                      <p:to>
                                        <p:strVal val="visible"/>
                                      </p:to>
                                    </p:set>
                                    <p:animEffect filter="fade" transition="in">
                                      <p:cBhvr>
                                        <p:cTn dur="500"/>
                                        <p:tgtEl>
                                          <p:spTgt spid="62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28"/>
                                        </p:tgtEl>
                                        <p:attrNameLst>
                                          <p:attrName>style.visibility</p:attrName>
                                        </p:attrNameLst>
                                      </p:cBhvr>
                                      <p:to>
                                        <p:strVal val="visible"/>
                                      </p:to>
                                    </p:set>
                                    <p:animEffect filter="fade" transition="in">
                                      <p:cBhvr>
                                        <p:cTn dur="500"/>
                                        <p:tgtEl>
                                          <p:spTgt spid="62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29"/>
                                        </p:tgtEl>
                                        <p:attrNameLst>
                                          <p:attrName>style.visibility</p:attrName>
                                        </p:attrNameLst>
                                      </p:cBhvr>
                                      <p:to>
                                        <p:strVal val="visible"/>
                                      </p:to>
                                    </p:set>
                                    <p:animEffect filter="fade" transition="in">
                                      <p:cBhvr>
                                        <p:cTn dur="500"/>
                                        <p:tgtEl>
                                          <p:spTgt spid="62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630"/>
                                        </p:tgtEl>
                                        <p:attrNameLst>
                                          <p:attrName>style.visibility</p:attrName>
                                        </p:attrNameLst>
                                      </p:cBhvr>
                                      <p:to>
                                        <p:strVal val="visible"/>
                                      </p:to>
                                    </p:set>
                                    <p:animEffect filter="fade" transition="in">
                                      <p:cBhvr>
                                        <p:cTn dur="500"/>
                                        <p:tgtEl>
                                          <p:spTgt spid="63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31"/>
                                        </p:tgtEl>
                                        <p:attrNameLst>
                                          <p:attrName>style.visibility</p:attrName>
                                        </p:attrNameLst>
                                      </p:cBhvr>
                                      <p:to>
                                        <p:strVal val="visible"/>
                                      </p:to>
                                    </p:set>
                                    <p:animEffect filter="fade" transition="in">
                                      <p:cBhvr>
                                        <p:cTn dur="500"/>
                                        <p:tgtEl>
                                          <p:spTgt spid="6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117"/>
        </a:solidFill>
      </p:bgPr>
    </p:bg>
    <p:spTree>
      <p:nvGrpSpPr>
        <p:cNvPr id="636" name="Shape 636"/>
        <p:cNvGrpSpPr/>
        <p:nvPr/>
      </p:nvGrpSpPr>
      <p:grpSpPr>
        <a:xfrm>
          <a:off x="0" y="0"/>
          <a:ext cx="0" cy="0"/>
          <a:chOff x="0" y="0"/>
          <a:chExt cx="0" cy="0"/>
        </a:xfrm>
      </p:grpSpPr>
      <p:sp>
        <p:nvSpPr>
          <p:cNvPr id="637" name="Google Shape;637;p49"/>
          <p:cNvSpPr/>
          <p:nvPr/>
        </p:nvSpPr>
        <p:spPr>
          <a:xfrm>
            <a:off x="7086559" y="-1234440"/>
            <a:ext cx="3703419" cy="3703320"/>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38" name="Google Shape;638;p49"/>
          <p:cNvSpPr/>
          <p:nvPr/>
        </p:nvSpPr>
        <p:spPr>
          <a:xfrm>
            <a:off x="7605039" y="-715975"/>
            <a:ext cx="2666461" cy="2666390"/>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39" name="Google Shape;639;p49"/>
          <p:cNvSpPr/>
          <p:nvPr/>
        </p:nvSpPr>
        <p:spPr>
          <a:xfrm>
            <a:off x="630953" y="617220"/>
            <a:ext cx="7882109" cy="23317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000"/>
              <a:buFont typeface="Arial"/>
              <a:buNone/>
            </a:pPr>
            <a:r>
              <a:rPr b="1" i="0" lang="en" sz="1000" u="none" cap="none" strike="noStrike">
                <a:solidFill>
                  <a:srgbClr val="F59E0B"/>
                </a:solidFill>
                <a:latin typeface="Arial"/>
                <a:ea typeface="Arial"/>
                <a:cs typeface="Arial"/>
                <a:sym typeface="Arial"/>
              </a:rPr>
              <a:t>03</a:t>
            </a:r>
            <a:endParaRPr b="0" i="0" sz="1000" u="none" cap="none" strike="noStrike">
              <a:solidFill>
                <a:schemeClr val="dk1"/>
              </a:solidFill>
              <a:latin typeface="Calibri"/>
              <a:ea typeface="Calibri"/>
              <a:cs typeface="Calibri"/>
              <a:sym typeface="Calibri"/>
            </a:endParaRPr>
          </a:p>
        </p:txBody>
      </p:sp>
      <p:sp>
        <p:nvSpPr>
          <p:cNvPr id="640" name="Google Shape;640;p49"/>
          <p:cNvSpPr/>
          <p:nvPr/>
        </p:nvSpPr>
        <p:spPr>
          <a:xfrm>
            <a:off x="630953" y="1371600"/>
            <a:ext cx="7607782" cy="2297430"/>
          </a:xfrm>
          <a:prstGeom prst="rect">
            <a:avLst/>
          </a:prstGeom>
          <a:noFill/>
          <a:ln>
            <a:noFill/>
          </a:ln>
        </p:spPr>
        <p:txBody>
          <a:bodyPr anchorCtr="0" anchor="t" bIns="34275" lIns="68575" spcFirstLastPara="1" rIns="68575" wrap="square" tIns="34275">
            <a:noAutofit/>
          </a:bodyPr>
          <a:lstStyle/>
          <a:p>
            <a:pPr indent="0" lvl="0" marL="0" marR="0" rtl="0" algn="l">
              <a:lnSpc>
                <a:spcPct val="108000"/>
              </a:lnSpc>
              <a:spcBef>
                <a:spcPts val="0"/>
              </a:spcBef>
              <a:spcAft>
                <a:spcPts val="0"/>
              </a:spcAft>
              <a:buClr>
                <a:srgbClr val="F4F6FA"/>
              </a:buClr>
              <a:buSzPts val="3800"/>
              <a:buFont typeface="Arial"/>
              <a:buNone/>
            </a:pPr>
            <a:r>
              <a:rPr b="1" i="0" lang="en" sz="3800" u="none" cap="none" strike="noStrike">
                <a:solidFill>
                  <a:srgbClr val="F4F6FA"/>
                </a:solidFill>
                <a:latin typeface="Arial"/>
                <a:ea typeface="Arial"/>
                <a:cs typeface="Arial"/>
                <a:sym typeface="Arial"/>
              </a:rPr>
              <a:t>Choose problems</a:t>
            </a:r>
            <a:br>
              <a:rPr b="1" i="0" lang="en" sz="3800" u="none" cap="none" strike="noStrike">
                <a:solidFill>
                  <a:srgbClr val="F4F6FA"/>
                </a:solidFill>
                <a:latin typeface="Arial"/>
                <a:ea typeface="Arial"/>
                <a:cs typeface="Arial"/>
                <a:sym typeface="Arial"/>
              </a:rPr>
            </a:br>
            <a:r>
              <a:rPr b="1" i="0" lang="en" sz="3800" u="none" cap="none" strike="noStrike">
                <a:solidFill>
                  <a:srgbClr val="F59E0B"/>
                </a:solidFill>
                <a:latin typeface="Arial"/>
                <a:ea typeface="Arial"/>
                <a:cs typeface="Arial"/>
                <a:sym typeface="Arial"/>
              </a:rPr>
              <a:t>over prestige.</a:t>
            </a:r>
            <a:endParaRPr b="0" i="0" sz="3800" u="none" cap="none" strike="noStrike">
              <a:solidFill>
                <a:schemeClr val="dk1"/>
              </a:solidFill>
              <a:latin typeface="Calibri"/>
              <a:ea typeface="Calibri"/>
              <a:cs typeface="Calibri"/>
              <a:sym typeface="Calibri"/>
            </a:endParaRPr>
          </a:p>
        </p:txBody>
      </p:sp>
      <p:sp>
        <p:nvSpPr>
          <p:cNvPr id="641" name="Google Shape;641;p49"/>
          <p:cNvSpPr/>
          <p:nvPr/>
        </p:nvSpPr>
        <p:spPr>
          <a:xfrm>
            <a:off x="630953" y="3377837"/>
            <a:ext cx="6721019" cy="754380"/>
          </a:xfrm>
          <a:prstGeom prst="rect">
            <a:avLst/>
          </a:prstGeom>
          <a:noFill/>
          <a:ln>
            <a:noFill/>
          </a:ln>
        </p:spPr>
        <p:txBody>
          <a:bodyPr anchorCtr="0" anchor="ctr" bIns="34275" lIns="68575" spcFirstLastPara="1" rIns="68575" wrap="square" tIns="34275">
            <a:noAutofit/>
          </a:bodyPr>
          <a:lstStyle/>
          <a:p>
            <a:pPr indent="0" lvl="0" marL="0" marR="0" rtl="0" algn="l">
              <a:lnSpc>
                <a:spcPct val="122727"/>
              </a:lnSpc>
              <a:spcBef>
                <a:spcPts val="0"/>
              </a:spcBef>
              <a:spcAft>
                <a:spcPts val="0"/>
              </a:spcAft>
              <a:buClr>
                <a:srgbClr val="AEB6C4"/>
              </a:buClr>
              <a:buSzPts val="1700"/>
              <a:buFont typeface="Arial"/>
              <a:buNone/>
            </a:pPr>
            <a:r>
              <a:rPr b="0" i="0" lang="en" sz="1700" u="none" cap="none" strike="noStrike">
                <a:solidFill>
                  <a:srgbClr val="AEB6C4"/>
                </a:solidFill>
                <a:latin typeface="Arial"/>
                <a:ea typeface="Arial"/>
                <a:cs typeface="Arial"/>
                <a:sym typeface="Arial"/>
              </a:rPr>
              <a:t>Chase problems that matter to real people sites, farms, clinics, classrooms. Prestige follows impact; it rarely works the other way.</a:t>
            </a:r>
            <a:endParaRPr b="0" i="0" sz="1700" u="none" cap="none" strike="noStrike">
              <a:solidFill>
                <a:schemeClr val="dk1"/>
              </a:solidFill>
              <a:latin typeface="Calibri"/>
              <a:ea typeface="Calibri"/>
              <a:cs typeface="Calibri"/>
              <a:sym typeface="Calibri"/>
            </a:endParaRPr>
          </a:p>
        </p:txBody>
      </p:sp>
      <p:sp>
        <p:nvSpPr>
          <p:cNvPr id="642" name="Google Shape;642;p49"/>
          <p:cNvSpPr/>
          <p:nvPr/>
        </p:nvSpPr>
        <p:spPr>
          <a:xfrm>
            <a:off x="630953" y="4800600"/>
            <a:ext cx="411491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FROM CAMPUS TO STARTUP</a:t>
            </a:r>
            <a:endParaRPr b="0" i="0" sz="700" u="none" cap="none" strike="noStrike">
              <a:solidFill>
                <a:schemeClr val="dk1"/>
              </a:solidFill>
              <a:latin typeface="Calibri"/>
              <a:ea typeface="Calibri"/>
              <a:cs typeface="Calibri"/>
              <a:sym typeface="Calibri"/>
            </a:endParaRPr>
          </a:p>
        </p:txBody>
      </p:sp>
      <p:sp>
        <p:nvSpPr>
          <p:cNvPr id="643" name="Google Shape;643;p49"/>
          <p:cNvSpPr/>
          <p:nvPr/>
        </p:nvSpPr>
        <p:spPr>
          <a:xfrm>
            <a:off x="7964407" y="4800600"/>
            <a:ext cx="548655"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22</a:t>
            </a:r>
            <a:endParaRPr b="0" i="0" sz="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39"/>
                                        </p:tgtEl>
                                        <p:attrNameLst>
                                          <p:attrName>style.visibility</p:attrName>
                                        </p:attrNameLst>
                                      </p:cBhvr>
                                      <p:to>
                                        <p:strVal val="visible"/>
                                      </p:to>
                                    </p:set>
                                    <p:animEffect filter="fade" transition="in">
                                      <p:cBhvr>
                                        <p:cTn dur="500"/>
                                        <p:tgtEl>
                                          <p:spTgt spid="63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40"/>
                                        </p:tgtEl>
                                        <p:attrNameLst>
                                          <p:attrName>style.visibility</p:attrName>
                                        </p:attrNameLst>
                                      </p:cBhvr>
                                      <p:to>
                                        <p:strVal val="visible"/>
                                      </p:to>
                                    </p:set>
                                    <p:animEffect filter="fade" transition="in">
                                      <p:cBhvr>
                                        <p:cTn dur="500"/>
                                        <p:tgtEl>
                                          <p:spTgt spid="64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41"/>
                                        </p:tgtEl>
                                        <p:attrNameLst>
                                          <p:attrName>style.visibility</p:attrName>
                                        </p:attrNameLst>
                                      </p:cBhvr>
                                      <p:to>
                                        <p:strVal val="visible"/>
                                      </p:to>
                                    </p:set>
                                    <p:animEffect filter="fade" transition="in">
                                      <p:cBhvr>
                                        <p:cTn dur="500"/>
                                        <p:tgtEl>
                                          <p:spTgt spid="64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642"/>
                                        </p:tgtEl>
                                        <p:attrNameLst>
                                          <p:attrName>style.visibility</p:attrName>
                                        </p:attrNameLst>
                                      </p:cBhvr>
                                      <p:to>
                                        <p:strVal val="visible"/>
                                      </p:to>
                                    </p:set>
                                    <p:animEffect filter="fade" transition="in">
                                      <p:cBhvr>
                                        <p:cTn dur="500"/>
                                        <p:tgtEl>
                                          <p:spTgt spid="64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43"/>
                                        </p:tgtEl>
                                        <p:attrNameLst>
                                          <p:attrName>style.visibility</p:attrName>
                                        </p:attrNameLst>
                                      </p:cBhvr>
                                      <p:to>
                                        <p:strVal val="visible"/>
                                      </p:to>
                                    </p:set>
                                    <p:animEffect filter="fade" transition="in">
                                      <p:cBhvr>
                                        <p:cTn dur="500"/>
                                        <p:tgtEl>
                                          <p:spTgt spid="6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B10"/>
        </a:solidFill>
      </p:bgPr>
    </p:bg>
    <p:spTree>
      <p:nvGrpSpPr>
        <p:cNvPr id="648" name="Shape 648"/>
        <p:cNvGrpSpPr/>
        <p:nvPr/>
      </p:nvGrpSpPr>
      <p:grpSpPr>
        <a:xfrm>
          <a:off x="0" y="0"/>
          <a:ext cx="0" cy="0"/>
          <a:chOff x="0" y="0"/>
          <a:chExt cx="0" cy="0"/>
        </a:xfrm>
      </p:grpSpPr>
      <p:sp>
        <p:nvSpPr>
          <p:cNvPr id="649" name="Google Shape;649;p50"/>
          <p:cNvSpPr/>
          <p:nvPr/>
        </p:nvSpPr>
        <p:spPr>
          <a:xfrm>
            <a:off x="528080" y="685800"/>
            <a:ext cx="1371637" cy="10972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1300"/>
              <a:buFont typeface="Arial"/>
              <a:buNone/>
            </a:pPr>
            <a:r>
              <a:rPr b="1" i="0" lang="en" sz="11300" u="none" cap="none" strike="noStrike">
                <a:solidFill>
                  <a:srgbClr val="F59E0B"/>
                </a:solidFill>
                <a:latin typeface="Arial"/>
                <a:ea typeface="Arial"/>
                <a:cs typeface="Arial"/>
                <a:sym typeface="Arial"/>
              </a:rPr>
              <a:t>“</a:t>
            </a:r>
            <a:endParaRPr b="0" i="0" sz="11300" u="none" cap="none" strike="noStrike">
              <a:solidFill>
                <a:schemeClr val="dk1"/>
              </a:solidFill>
              <a:latin typeface="Calibri"/>
              <a:ea typeface="Calibri"/>
              <a:cs typeface="Calibri"/>
              <a:sym typeface="Calibri"/>
            </a:endParaRPr>
          </a:p>
        </p:txBody>
      </p:sp>
      <p:sp>
        <p:nvSpPr>
          <p:cNvPr id="650" name="Google Shape;650;p50"/>
          <p:cNvSpPr/>
          <p:nvPr/>
        </p:nvSpPr>
        <p:spPr>
          <a:xfrm>
            <a:off x="630953" y="1714500"/>
            <a:ext cx="7882109" cy="1920240"/>
          </a:xfrm>
          <a:prstGeom prst="rect">
            <a:avLst/>
          </a:prstGeom>
          <a:noFill/>
          <a:ln>
            <a:noFill/>
          </a:ln>
        </p:spPr>
        <p:txBody>
          <a:bodyPr anchorCtr="0" anchor="ctr" bIns="34275" lIns="68575" spcFirstLastPara="1" rIns="68575" wrap="square" tIns="34275">
            <a:noAutofit/>
          </a:bodyPr>
          <a:lstStyle/>
          <a:p>
            <a:pPr indent="0" lvl="0" marL="0" marR="0" rtl="0" algn="l">
              <a:lnSpc>
                <a:spcPct val="126315"/>
              </a:lnSpc>
              <a:spcBef>
                <a:spcPts val="0"/>
              </a:spcBef>
              <a:spcAft>
                <a:spcPts val="0"/>
              </a:spcAft>
              <a:buClr>
                <a:srgbClr val="F4F6FA"/>
              </a:buClr>
              <a:buSzPts val="2900"/>
              <a:buFont typeface="Arial"/>
              <a:buNone/>
            </a:pPr>
            <a:r>
              <a:rPr b="1" i="1" lang="en" sz="2900" u="none" cap="none" strike="noStrike">
                <a:solidFill>
                  <a:srgbClr val="F4F6FA"/>
                </a:solidFill>
                <a:latin typeface="Arial"/>
                <a:ea typeface="Arial"/>
                <a:cs typeface="Arial"/>
                <a:sym typeface="Arial"/>
              </a:rPr>
              <a:t>The future belongs to those who build it and you have two whole years to practise!</a:t>
            </a:r>
            <a:endParaRPr b="0" i="0" sz="2900" u="none" cap="none" strike="noStrike">
              <a:solidFill>
                <a:schemeClr val="dk1"/>
              </a:solidFill>
              <a:latin typeface="Calibri"/>
              <a:ea typeface="Calibri"/>
              <a:cs typeface="Calibri"/>
              <a:sym typeface="Calibri"/>
            </a:endParaRPr>
          </a:p>
        </p:txBody>
      </p:sp>
      <p:sp>
        <p:nvSpPr>
          <p:cNvPr id="651" name="Google Shape;651;p50"/>
          <p:cNvSpPr/>
          <p:nvPr/>
        </p:nvSpPr>
        <p:spPr>
          <a:xfrm>
            <a:off x="630953" y="4800600"/>
            <a:ext cx="411491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FROM CAMPUS TO STARTUP</a:t>
            </a:r>
            <a:endParaRPr b="0" i="0" sz="700" u="none" cap="none" strike="noStrike">
              <a:solidFill>
                <a:schemeClr val="dk1"/>
              </a:solidFill>
              <a:latin typeface="Calibri"/>
              <a:ea typeface="Calibri"/>
              <a:cs typeface="Calibri"/>
              <a:sym typeface="Calibri"/>
            </a:endParaRPr>
          </a:p>
        </p:txBody>
      </p:sp>
      <p:sp>
        <p:nvSpPr>
          <p:cNvPr id="652" name="Google Shape;652;p50"/>
          <p:cNvSpPr/>
          <p:nvPr/>
        </p:nvSpPr>
        <p:spPr>
          <a:xfrm>
            <a:off x="7964407" y="4800600"/>
            <a:ext cx="548655"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B7382"/>
              </a:buClr>
              <a:buSzPts val="700"/>
              <a:buFont typeface="Arial"/>
              <a:buNone/>
            </a:pPr>
            <a:r>
              <a:rPr b="0" i="0" lang="en" sz="700" u="none" cap="none" strike="noStrike">
                <a:solidFill>
                  <a:srgbClr val="6B7382"/>
                </a:solidFill>
                <a:latin typeface="Arial"/>
                <a:ea typeface="Arial"/>
                <a:cs typeface="Arial"/>
                <a:sym typeface="Arial"/>
              </a:rPr>
              <a:t>23</a:t>
            </a:r>
            <a:endParaRPr b="0" i="0" sz="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49"/>
                                        </p:tgtEl>
                                        <p:attrNameLst>
                                          <p:attrName>style.visibility</p:attrName>
                                        </p:attrNameLst>
                                      </p:cBhvr>
                                      <p:to>
                                        <p:strVal val="visible"/>
                                      </p:to>
                                    </p:set>
                                    <p:animEffect filter="fade" transition="in">
                                      <p:cBhvr>
                                        <p:cTn dur="500"/>
                                        <p:tgtEl>
                                          <p:spTgt spid="64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50"/>
                                        </p:tgtEl>
                                        <p:attrNameLst>
                                          <p:attrName>style.visibility</p:attrName>
                                        </p:attrNameLst>
                                      </p:cBhvr>
                                      <p:to>
                                        <p:strVal val="visible"/>
                                      </p:to>
                                    </p:set>
                                    <p:animEffect filter="fade" transition="in">
                                      <p:cBhvr>
                                        <p:cTn dur="500"/>
                                        <p:tgtEl>
                                          <p:spTgt spid="65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51"/>
                                        </p:tgtEl>
                                        <p:attrNameLst>
                                          <p:attrName>style.visibility</p:attrName>
                                        </p:attrNameLst>
                                      </p:cBhvr>
                                      <p:to>
                                        <p:strVal val="visible"/>
                                      </p:to>
                                    </p:set>
                                    <p:animEffect filter="fade" transition="in">
                                      <p:cBhvr>
                                        <p:cTn dur="500"/>
                                        <p:tgtEl>
                                          <p:spTgt spid="65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652"/>
                                        </p:tgtEl>
                                        <p:attrNameLst>
                                          <p:attrName>style.visibility</p:attrName>
                                        </p:attrNameLst>
                                      </p:cBhvr>
                                      <p:to>
                                        <p:strVal val="visible"/>
                                      </p:to>
                                    </p:set>
                                    <p:animEffect filter="fade" transition="in">
                                      <p:cBhvr>
                                        <p:cTn dur="500"/>
                                        <p:tgtEl>
                                          <p:spTgt spid="6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117"/>
        </a:solidFill>
      </p:bgPr>
    </p:bg>
    <p:spTree>
      <p:nvGrpSpPr>
        <p:cNvPr id="657" name="Shape 657"/>
        <p:cNvGrpSpPr/>
        <p:nvPr/>
      </p:nvGrpSpPr>
      <p:grpSpPr>
        <a:xfrm>
          <a:off x="0" y="0"/>
          <a:ext cx="0" cy="0"/>
          <a:chOff x="0" y="0"/>
          <a:chExt cx="0" cy="0"/>
        </a:xfrm>
      </p:grpSpPr>
      <p:sp>
        <p:nvSpPr>
          <p:cNvPr id="658" name="Google Shape;658;p51"/>
          <p:cNvSpPr/>
          <p:nvPr/>
        </p:nvSpPr>
        <p:spPr>
          <a:xfrm>
            <a:off x="6675069" y="2811780"/>
            <a:ext cx="4526400" cy="4526279"/>
          </a:xfrm>
          <a:prstGeom prst="ellipse">
            <a:avLst/>
          </a:prstGeom>
          <a:solidFill>
            <a:srgbClr val="171B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59" name="Google Shape;659;p51"/>
          <p:cNvSpPr/>
          <p:nvPr/>
        </p:nvSpPr>
        <p:spPr>
          <a:xfrm>
            <a:off x="7308766" y="3445460"/>
            <a:ext cx="3259009" cy="3258922"/>
          </a:xfrm>
          <a:prstGeom prst="ellipse">
            <a:avLst/>
          </a:prstGeom>
          <a:solidFill>
            <a:srgbClr val="F59E0B">
              <a:alpha val="7843"/>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60" name="Google Shape;660;p51"/>
          <p:cNvSpPr/>
          <p:nvPr/>
        </p:nvSpPr>
        <p:spPr>
          <a:xfrm>
            <a:off x="630953" y="1028700"/>
            <a:ext cx="6858183"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59E0B"/>
              </a:buClr>
              <a:buSzPts val="1100"/>
              <a:buFont typeface="Arial"/>
              <a:buNone/>
            </a:pPr>
            <a:r>
              <a:rPr b="1" i="0" lang="en" sz="1100" u="none" cap="none" strike="noStrike">
                <a:solidFill>
                  <a:srgbClr val="F59E0B"/>
                </a:solidFill>
                <a:latin typeface="Arial"/>
                <a:ea typeface="Arial"/>
                <a:cs typeface="Arial"/>
                <a:sym typeface="Arial"/>
              </a:rPr>
              <a:t>THANK YOU</a:t>
            </a:r>
            <a:endParaRPr b="0" i="0" sz="1100" u="none" cap="none" strike="noStrike">
              <a:solidFill>
                <a:schemeClr val="dk1"/>
              </a:solidFill>
              <a:latin typeface="Calibri"/>
              <a:ea typeface="Calibri"/>
              <a:cs typeface="Calibri"/>
              <a:sym typeface="Calibri"/>
            </a:endParaRPr>
          </a:p>
        </p:txBody>
      </p:sp>
      <p:sp>
        <p:nvSpPr>
          <p:cNvPr id="661" name="Google Shape;661;p51"/>
          <p:cNvSpPr/>
          <p:nvPr/>
        </p:nvSpPr>
        <p:spPr>
          <a:xfrm>
            <a:off x="630953" y="1371600"/>
            <a:ext cx="7269674" cy="1371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4F6FA"/>
              </a:buClr>
              <a:buSzPts val="4400"/>
              <a:buFont typeface="Arial"/>
              <a:buNone/>
            </a:pPr>
            <a:r>
              <a:rPr b="1" i="0" lang="en" sz="4400" u="none" cap="none" strike="noStrike">
                <a:solidFill>
                  <a:srgbClr val="F4F6FA"/>
                </a:solidFill>
                <a:latin typeface="Arial"/>
                <a:ea typeface="Arial"/>
                <a:cs typeface="Arial"/>
                <a:sym typeface="Arial"/>
              </a:rPr>
              <a:t>Questions?</a:t>
            </a:r>
            <a:endParaRPr b="0" i="0" sz="4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4F6FA"/>
              </a:buClr>
              <a:buSzPts val="4400"/>
              <a:buFont typeface="Arial"/>
              <a:buNone/>
            </a:pPr>
            <a:r>
              <a:rPr b="1" i="0" lang="en" sz="4400" u="none" cap="none" strike="noStrike">
                <a:solidFill>
                  <a:srgbClr val="F4F6FA"/>
                </a:solidFill>
                <a:latin typeface="Arial"/>
                <a:ea typeface="Arial"/>
                <a:cs typeface="Arial"/>
                <a:sym typeface="Arial"/>
              </a:rPr>
              <a:t>Let's talk.</a:t>
            </a:r>
            <a:endParaRPr b="0" i="0" sz="4400" u="none" cap="none" strike="noStrike">
              <a:solidFill>
                <a:schemeClr val="dk1"/>
              </a:solidFill>
              <a:latin typeface="Calibri"/>
              <a:ea typeface="Calibri"/>
              <a:cs typeface="Calibri"/>
              <a:sym typeface="Calibri"/>
            </a:endParaRPr>
          </a:p>
        </p:txBody>
      </p:sp>
      <p:sp>
        <p:nvSpPr>
          <p:cNvPr id="662" name="Google Shape;662;p51"/>
          <p:cNvSpPr/>
          <p:nvPr/>
        </p:nvSpPr>
        <p:spPr>
          <a:xfrm>
            <a:off x="630953" y="2983230"/>
            <a:ext cx="6721019" cy="754380"/>
          </a:xfrm>
          <a:prstGeom prst="rect">
            <a:avLst/>
          </a:prstGeom>
          <a:noFill/>
          <a:ln>
            <a:noFill/>
          </a:ln>
        </p:spPr>
        <p:txBody>
          <a:bodyPr anchorCtr="0" anchor="ctr" bIns="34275" lIns="68575" spcFirstLastPara="1" rIns="68575" wrap="square" tIns="34275">
            <a:noAutofit/>
          </a:bodyPr>
          <a:lstStyle/>
          <a:p>
            <a:pPr indent="0" lvl="0" marL="0" marR="0" rtl="0" algn="l">
              <a:lnSpc>
                <a:spcPct val="140000"/>
              </a:lnSpc>
              <a:spcBef>
                <a:spcPts val="0"/>
              </a:spcBef>
              <a:spcAft>
                <a:spcPts val="0"/>
              </a:spcAft>
              <a:buClr>
                <a:srgbClr val="AEB6C4"/>
              </a:buClr>
              <a:buSzPts val="1500"/>
              <a:buFont typeface="Arial"/>
              <a:buNone/>
            </a:pPr>
            <a:r>
              <a:rPr b="0" i="0" lang="en" sz="1500" u="none" cap="none" strike="noStrike">
                <a:solidFill>
                  <a:srgbClr val="AEB6C4"/>
                </a:solidFill>
                <a:latin typeface="Arial"/>
                <a:ea typeface="Arial"/>
                <a:cs typeface="Arial"/>
                <a:sym typeface="Arial"/>
              </a:rPr>
              <a:t>Ask me anything - startups, careers, tech, failures, IIT life, or what I'd do differently in your seat.</a:t>
            </a:r>
            <a:endParaRPr b="0" i="0" sz="1500" u="none" cap="none" strike="noStrike">
              <a:solidFill>
                <a:schemeClr val="dk1"/>
              </a:solidFill>
              <a:latin typeface="Calibri"/>
              <a:ea typeface="Calibri"/>
              <a:cs typeface="Calibri"/>
              <a:sym typeface="Calibri"/>
            </a:endParaRPr>
          </a:p>
        </p:txBody>
      </p:sp>
      <p:cxnSp>
        <p:nvCxnSpPr>
          <p:cNvPr id="663" name="Google Shape;663;p51"/>
          <p:cNvCxnSpPr/>
          <p:nvPr/>
        </p:nvCxnSpPr>
        <p:spPr>
          <a:xfrm>
            <a:off x="630953" y="3909060"/>
            <a:ext cx="2194619" cy="0"/>
          </a:xfrm>
          <a:prstGeom prst="straightConnector1">
            <a:avLst/>
          </a:prstGeom>
          <a:noFill/>
          <a:ln cap="flat" cmpd="sng" w="12700">
            <a:solidFill>
              <a:srgbClr val="2C3340"/>
            </a:solidFill>
            <a:prstDash val="solid"/>
            <a:round/>
            <a:headEnd len="sm" w="sm" type="none"/>
            <a:tailEnd len="sm" w="sm" type="none"/>
          </a:ln>
        </p:spPr>
      </p:cxnSp>
      <p:sp>
        <p:nvSpPr>
          <p:cNvPr id="664" name="Google Shape;664;p51"/>
          <p:cNvSpPr/>
          <p:nvPr/>
        </p:nvSpPr>
        <p:spPr>
          <a:xfrm>
            <a:off x="630953" y="4046220"/>
            <a:ext cx="7201092"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7382"/>
              </a:buClr>
              <a:buSzPts val="1100"/>
              <a:buFont typeface="Arial"/>
              <a:buNone/>
            </a:pPr>
            <a:r>
              <a:rPr b="0" i="0" lang="en" sz="1100" u="none" cap="none" strike="noStrike">
                <a:solidFill>
                  <a:srgbClr val="6B7382"/>
                </a:solidFill>
                <a:latin typeface="Arial"/>
                <a:ea typeface="Arial"/>
                <a:cs typeface="Arial"/>
                <a:sym typeface="Arial"/>
              </a:rPr>
              <a:t>Founding Engineer, Powerplay   ·   IIT Roorkee   ·   Happy to connect</a:t>
            </a:r>
            <a:endParaRPr b="0" i="0" sz="11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60"/>
                                        </p:tgtEl>
                                        <p:attrNameLst>
                                          <p:attrName>style.visibility</p:attrName>
                                        </p:attrNameLst>
                                      </p:cBhvr>
                                      <p:to>
                                        <p:strVal val="visible"/>
                                      </p:to>
                                    </p:set>
                                    <p:animEffect filter="fade" transition="in">
                                      <p:cBhvr>
                                        <p:cTn dur="500"/>
                                        <p:tgtEl>
                                          <p:spTgt spid="66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61"/>
                                        </p:tgtEl>
                                        <p:attrNameLst>
                                          <p:attrName>style.visibility</p:attrName>
                                        </p:attrNameLst>
                                      </p:cBhvr>
                                      <p:to>
                                        <p:strVal val="visible"/>
                                      </p:to>
                                    </p:set>
                                    <p:animEffect filter="fade" transition="in">
                                      <p:cBhvr>
                                        <p:cTn dur="500"/>
                                        <p:tgtEl>
                                          <p:spTgt spid="66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62"/>
                                        </p:tgtEl>
                                        <p:attrNameLst>
                                          <p:attrName>style.visibility</p:attrName>
                                        </p:attrNameLst>
                                      </p:cBhvr>
                                      <p:to>
                                        <p:strVal val="visible"/>
                                      </p:to>
                                    </p:set>
                                    <p:animEffect filter="fade" transition="in">
                                      <p:cBhvr>
                                        <p:cTn dur="500"/>
                                        <p:tgtEl>
                                          <p:spTgt spid="66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663"/>
                                        </p:tgtEl>
                                        <p:attrNameLst>
                                          <p:attrName>style.visibility</p:attrName>
                                        </p:attrNameLst>
                                      </p:cBhvr>
                                      <p:to>
                                        <p:strVal val="visible"/>
                                      </p:to>
                                    </p:set>
                                    <p:animEffect filter="fade" transition="in">
                                      <p:cBhvr>
                                        <p:cTn dur="500"/>
                                        <p:tgtEl>
                                          <p:spTgt spid="66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64"/>
                                        </p:tgtEl>
                                        <p:attrNameLst>
                                          <p:attrName>style.visibility</p:attrName>
                                        </p:attrNameLst>
                                      </p:cBhvr>
                                      <p:to>
                                        <p:strVal val="visible"/>
                                      </p:to>
                                    </p:set>
                                    <p:animEffect filter="fade" transition="in">
                                      <p:cBhvr>
                                        <p:cTn dur="500"/>
                                        <p:tgtEl>
                                          <p:spTgt spid="6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